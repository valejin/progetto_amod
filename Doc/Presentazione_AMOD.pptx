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6"/>
  </p:notesMasterIdLst>
  <p:sldIdLst>
    <p:sldId id="256" r:id="rId2"/>
    <p:sldId id="258" r:id="rId3"/>
    <p:sldId id="266" r:id="rId4"/>
    <p:sldId id="307" r:id="rId5"/>
    <p:sldId id="260" r:id="rId6"/>
    <p:sldId id="267" r:id="rId7"/>
    <p:sldId id="268" r:id="rId8"/>
    <p:sldId id="277" r:id="rId9"/>
    <p:sldId id="269" r:id="rId10"/>
    <p:sldId id="280" r:id="rId11"/>
    <p:sldId id="270" r:id="rId12"/>
    <p:sldId id="272" r:id="rId13"/>
    <p:sldId id="273" r:id="rId14"/>
    <p:sldId id="271" r:id="rId15"/>
    <p:sldId id="312" r:id="rId16"/>
    <p:sldId id="274" r:id="rId17"/>
    <p:sldId id="306" r:id="rId18"/>
    <p:sldId id="282" r:id="rId19"/>
    <p:sldId id="283" r:id="rId20"/>
    <p:sldId id="285" r:id="rId21"/>
    <p:sldId id="286" r:id="rId22"/>
    <p:sldId id="295" r:id="rId23"/>
    <p:sldId id="299" r:id="rId24"/>
    <p:sldId id="308" r:id="rId25"/>
    <p:sldId id="284" r:id="rId26"/>
    <p:sldId id="288" r:id="rId27"/>
    <p:sldId id="289" r:id="rId28"/>
    <p:sldId id="287" r:id="rId29"/>
    <p:sldId id="297" r:id="rId30"/>
    <p:sldId id="300" r:id="rId31"/>
    <p:sldId id="310" r:id="rId32"/>
    <p:sldId id="290" r:id="rId33"/>
    <p:sldId id="291" r:id="rId34"/>
    <p:sldId id="292" r:id="rId35"/>
    <p:sldId id="293" r:id="rId36"/>
    <p:sldId id="296" r:id="rId37"/>
    <p:sldId id="301" r:id="rId38"/>
    <p:sldId id="302" r:id="rId39"/>
    <p:sldId id="298" r:id="rId40"/>
    <p:sldId id="303" r:id="rId41"/>
    <p:sldId id="304" r:id="rId42"/>
    <p:sldId id="305" r:id="rId43"/>
    <p:sldId id="275" r:id="rId44"/>
    <p:sldId id="265" r:id="rId45"/>
  </p:sldIdLst>
  <p:sldSz cx="18288000" cy="10287000"/>
  <p:notesSz cx="6858000" cy="9144000"/>
  <p:embeddedFontLst>
    <p:embeddedFont>
      <p:font typeface="Cambria Math" panose="02040503050406030204" pitchFamily="18" charset="0"/>
      <p:regular r:id="rId47"/>
    </p:embeddedFont>
    <p:embeddedFont>
      <p:font typeface="TS Qamus Bold" panose="020B0604020202020204" charset="-78"/>
      <p:regular r:id="rId48"/>
    </p:embeddedFont>
    <p:embeddedFont>
      <p:font typeface="เอฟซี ซับเจค คอนเดนซ์​"/>
      <p:regular r:id="rId49"/>
    </p:embeddedFont>
    <p:embeddedFont>
      <p:font typeface="เอฟซี ซับเจค คอนเดนซ์​ Bold" panose="020B0604020202020204" charset="0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F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51E91C-03FE-4D48-AA54-934090EF9BE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456B444C-7F8E-4648-A1FA-40A600FCB282}">
      <dgm:prSet/>
      <dgm:spPr/>
      <dgm:t>
        <a:bodyPr/>
        <a:lstStyle/>
        <a:p>
          <a:r>
            <a:rPr lang="it-IT" dirty="0"/>
            <a:t>Metodologie Implementate</a:t>
          </a:r>
        </a:p>
      </dgm:t>
    </dgm:pt>
    <dgm:pt modelId="{E48F818A-D250-4959-B06E-BFDA31187597}" type="parTrans" cxnId="{C5F140AE-8FAD-49F5-BDFB-E4ABD1E97A48}">
      <dgm:prSet/>
      <dgm:spPr/>
      <dgm:t>
        <a:bodyPr/>
        <a:lstStyle/>
        <a:p>
          <a:endParaRPr lang="it-IT"/>
        </a:p>
      </dgm:t>
    </dgm:pt>
    <dgm:pt modelId="{324C6273-BC60-47DA-BB5A-3023B6EA89BE}" type="sibTrans" cxnId="{C5F140AE-8FAD-49F5-BDFB-E4ABD1E97A48}">
      <dgm:prSet/>
      <dgm:spPr/>
      <dgm:t>
        <a:bodyPr/>
        <a:lstStyle/>
        <a:p>
          <a:endParaRPr lang="it-IT"/>
        </a:p>
      </dgm:t>
    </dgm:pt>
    <dgm:pt modelId="{C382D29D-E725-43C1-97B9-99CAE53BA5C1}">
      <dgm:prSet/>
      <dgm:spPr/>
      <dgm:t>
        <a:bodyPr/>
        <a:lstStyle/>
        <a:p>
          <a:r>
            <a:rPr lang="it-IT"/>
            <a:t>Modelli di Programmazione Lineare Intera (PLI)</a:t>
          </a:r>
        </a:p>
      </dgm:t>
    </dgm:pt>
    <dgm:pt modelId="{4D66B16D-1D81-4B77-A52A-23F1F6F7B542}" type="parTrans" cxnId="{350E9C89-F0B5-4853-91AD-9221B2C2E0B8}">
      <dgm:prSet/>
      <dgm:spPr/>
      <dgm:t>
        <a:bodyPr/>
        <a:lstStyle/>
        <a:p>
          <a:endParaRPr lang="it-IT"/>
        </a:p>
      </dgm:t>
    </dgm:pt>
    <dgm:pt modelId="{DEEE923F-4E48-4A4A-96CA-3C9D909C47BB}" type="sibTrans" cxnId="{350E9C89-F0B5-4853-91AD-9221B2C2E0B8}">
      <dgm:prSet/>
      <dgm:spPr/>
      <dgm:t>
        <a:bodyPr/>
        <a:lstStyle/>
        <a:p>
          <a:endParaRPr lang="it-IT"/>
        </a:p>
      </dgm:t>
    </dgm:pt>
    <dgm:pt modelId="{86E32FD2-A8B9-4DCE-B1FB-4D4403D91FF6}">
      <dgm:prSet/>
      <dgm:spPr/>
      <dgm:t>
        <a:bodyPr/>
        <a:lstStyle/>
        <a:p>
          <a:r>
            <a:rPr lang="it-IT" dirty="0"/>
            <a:t>L'Algoritmo di Erlenkotter</a:t>
          </a:r>
        </a:p>
      </dgm:t>
    </dgm:pt>
    <dgm:pt modelId="{61A945B5-18EA-45AF-AD2C-E7E08B7B48AB}" type="parTrans" cxnId="{900483D7-8C5A-4B3C-9E59-F9B1A87BD7C9}">
      <dgm:prSet/>
      <dgm:spPr/>
      <dgm:t>
        <a:bodyPr/>
        <a:lstStyle/>
        <a:p>
          <a:endParaRPr lang="it-IT"/>
        </a:p>
      </dgm:t>
    </dgm:pt>
    <dgm:pt modelId="{A22E326D-F197-4F4B-B563-1CA44D8C7428}" type="sibTrans" cxnId="{900483D7-8C5A-4B3C-9E59-F9B1A87BD7C9}">
      <dgm:prSet/>
      <dgm:spPr/>
      <dgm:t>
        <a:bodyPr/>
        <a:lstStyle/>
        <a:p>
          <a:endParaRPr lang="it-IT"/>
        </a:p>
      </dgm:t>
    </dgm:pt>
    <dgm:pt modelId="{E68DA453-1632-47CF-9978-8163711279B7}">
      <dgm:prSet/>
      <dgm:spPr/>
      <dgm:t>
        <a:bodyPr/>
        <a:lstStyle/>
        <a:p>
          <a:r>
            <a:rPr lang="it-IT"/>
            <a:t>Un'Euristica Greedy Semplice</a:t>
          </a:r>
        </a:p>
      </dgm:t>
    </dgm:pt>
    <dgm:pt modelId="{93D8C201-8BF6-4269-B317-B0A73C0D6891}" type="parTrans" cxnId="{796BEE11-609A-471F-B599-5013FF2313FF}">
      <dgm:prSet/>
      <dgm:spPr/>
      <dgm:t>
        <a:bodyPr/>
        <a:lstStyle/>
        <a:p>
          <a:endParaRPr lang="it-IT"/>
        </a:p>
      </dgm:t>
    </dgm:pt>
    <dgm:pt modelId="{A1715BD2-9B50-4BCA-A5F4-62BEB6D4C84A}" type="sibTrans" cxnId="{796BEE11-609A-471F-B599-5013FF2313FF}">
      <dgm:prSet/>
      <dgm:spPr/>
      <dgm:t>
        <a:bodyPr/>
        <a:lstStyle/>
        <a:p>
          <a:endParaRPr lang="it-IT"/>
        </a:p>
      </dgm:t>
    </dgm:pt>
    <dgm:pt modelId="{5000FF0E-6F47-4123-8458-BAF0D76A685B}" type="pres">
      <dgm:prSet presAssocID="{2751E91C-03FE-4D48-AA54-934090EF9BE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3F3E640-166D-4381-8FC5-1B54B3B455FD}" type="pres">
      <dgm:prSet presAssocID="{456B444C-7F8E-4648-A1FA-40A600FCB282}" presName="hierRoot1" presStyleCnt="0">
        <dgm:presLayoutVars>
          <dgm:hierBranch val="init"/>
        </dgm:presLayoutVars>
      </dgm:prSet>
      <dgm:spPr/>
    </dgm:pt>
    <dgm:pt modelId="{B61A2FC8-5499-46BB-865E-FB927E0EE620}" type="pres">
      <dgm:prSet presAssocID="{456B444C-7F8E-4648-A1FA-40A600FCB282}" presName="rootComposite1" presStyleCnt="0"/>
      <dgm:spPr/>
    </dgm:pt>
    <dgm:pt modelId="{A02B0047-2E75-47C9-BBB1-112A2D631122}" type="pres">
      <dgm:prSet presAssocID="{456B444C-7F8E-4648-A1FA-40A600FCB282}" presName="rootText1" presStyleLbl="node0" presStyleIdx="0" presStyleCnt="1" custScaleX="84584" custScaleY="109754">
        <dgm:presLayoutVars>
          <dgm:chPref val="3"/>
        </dgm:presLayoutVars>
      </dgm:prSet>
      <dgm:spPr/>
    </dgm:pt>
    <dgm:pt modelId="{4B6454E4-B757-485D-8133-963478EC0102}" type="pres">
      <dgm:prSet presAssocID="{456B444C-7F8E-4648-A1FA-40A600FCB282}" presName="rootConnector1" presStyleLbl="node1" presStyleIdx="0" presStyleCnt="0"/>
      <dgm:spPr/>
    </dgm:pt>
    <dgm:pt modelId="{ACC280C7-2879-4B35-98E0-E127719598FA}" type="pres">
      <dgm:prSet presAssocID="{456B444C-7F8E-4648-A1FA-40A600FCB282}" presName="hierChild2" presStyleCnt="0"/>
      <dgm:spPr/>
    </dgm:pt>
    <dgm:pt modelId="{898A1C23-7583-4495-93CA-343FFB806B80}" type="pres">
      <dgm:prSet presAssocID="{4D66B16D-1D81-4B77-A52A-23F1F6F7B542}" presName="Name37" presStyleLbl="parChTrans1D2" presStyleIdx="0" presStyleCnt="3"/>
      <dgm:spPr/>
    </dgm:pt>
    <dgm:pt modelId="{919217B5-9FC9-4BBC-83FE-F7AF3A9B6CB0}" type="pres">
      <dgm:prSet presAssocID="{C382D29D-E725-43C1-97B9-99CAE53BA5C1}" presName="hierRoot2" presStyleCnt="0">
        <dgm:presLayoutVars>
          <dgm:hierBranch val="init"/>
        </dgm:presLayoutVars>
      </dgm:prSet>
      <dgm:spPr/>
    </dgm:pt>
    <dgm:pt modelId="{CE149FA0-BBDE-4DC9-A78D-6D00905C7FED}" type="pres">
      <dgm:prSet presAssocID="{C382D29D-E725-43C1-97B9-99CAE53BA5C1}" presName="rootComposite" presStyleCnt="0"/>
      <dgm:spPr/>
    </dgm:pt>
    <dgm:pt modelId="{868FF076-555A-4F98-8A20-A20EF8BEF767}" type="pres">
      <dgm:prSet presAssocID="{C382D29D-E725-43C1-97B9-99CAE53BA5C1}" presName="rootText" presStyleLbl="node2" presStyleIdx="0" presStyleCnt="3">
        <dgm:presLayoutVars>
          <dgm:chPref val="3"/>
        </dgm:presLayoutVars>
      </dgm:prSet>
      <dgm:spPr/>
    </dgm:pt>
    <dgm:pt modelId="{2DAD8783-DE5E-4862-9AA9-F647942509CA}" type="pres">
      <dgm:prSet presAssocID="{C382D29D-E725-43C1-97B9-99CAE53BA5C1}" presName="rootConnector" presStyleLbl="node2" presStyleIdx="0" presStyleCnt="3"/>
      <dgm:spPr/>
    </dgm:pt>
    <dgm:pt modelId="{AC39F8C0-D04C-4650-AA5B-DE2BD93C9B37}" type="pres">
      <dgm:prSet presAssocID="{C382D29D-E725-43C1-97B9-99CAE53BA5C1}" presName="hierChild4" presStyleCnt="0"/>
      <dgm:spPr/>
    </dgm:pt>
    <dgm:pt modelId="{F5419D57-899A-4945-AEE9-8F130D4437A2}" type="pres">
      <dgm:prSet presAssocID="{C382D29D-E725-43C1-97B9-99CAE53BA5C1}" presName="hierChild5" presStyleCnt="0"/>
      <dgm:spPr/>
    </dgm:pt>
    <dgm:pt modelId="{76073360-464E-4697-9A32-80F269F7E0A5}" type="pres">
      <dgm:prSet presAssocID="{61A945B5-18EA-45AF-AD2C-E7E08B7B48AB}" presName="Name37" presStyleLbl="parChTrans1D2" presStyleIdx="1" presStyleCnt="3"/>
      <dgm:spPr/>
    </dgm:pt>
    <dgm:pt modelId="{FB90C3C9-CA7C-41B6-82AC-F389BA890093}" type="pres">
      <dgm:prSet presAssocID="{86E32FD2-A8B9-4DCE-B1FB-4D4403D91FF6}" presName="hierRoot2" presStyleCnt="0">
        <dgm:presLayoutVars>
          <dgm:hierBranch val="init"/>
        </dgm:presLayoutVars>
      </dgm:prSet>
      <dgm:spPr/>
    </dgm:pt>
    <dgm:pt modelId="{7657750A-AD87-444A-833C-CC4917D1E14E}" type="pres">
      <dgm:prSet presAssocID="{86E32FD2-A8B9-4DCE-B1FB-4D4403D91FF6}" presName="rootComposite" presStyleCnt="0"/>
      <dgm:spPr/>
    </dgm:pt>
    <dgm:pt modelId="{2EF7D2B8-7B83-408E-AAB2-F7A77622377F}" type="pres">
      <dgm:prSet presAssocID="{86E32FD2-A8B9-4DCE-B1FB-4D4403D91FF6}" presName="rootText" presStyleLbl="node2" presStyleIdx="1" presStyleCnt="3">
        <dgm:presLayoutVars>
          <dgm:chPref val="3"/>
        </dgm:presLayoutVars>
      </dgm:prSet>
      <dgm:spPr/>
    </dgm:pt>
    <dgm:pt modelId="{6BD5FF62-9CD5-4B08-AFF1-E2471EC93100}" type="pres">
      <dgm:prSet presAssocID="{86E32FD2-A8B9-4DCE-B1FB-4D4403D91FF6}" presName="rootConnector" presStyleLbl="node2" presStyleIdx="1" presStyleCnt="3"/>
      <dgm:spPr/>
    </dgm:pt>
    <dgm:pt modelId="{C9C905FA-8A2E-446B-ABCA-3E16A34B63C5}" type="pres">
      <dgm:prSet presAssocID="{86E32FD2-A8B9-4DCE-B1FB-4D4403D91FF6}" presName="hierChild4" presStyleCnt="0"/>
      <dgm:spPr/>
    </dgm:pt>
    <dgm:pt modelId="{940C4AC0-B30C-4982-A323-7454A90A7C50}" type="pres">
      <dgm:prSet presAssocID="{86E32FD2-A8B9-4DCE-B1FB-4D4403D91FF6}" presName="hierChild5" presStyleCnt="0"/>
      <dgm:spPr/>
    </dgm:pt>
    <dgm:pt modelId="{1D220633-6897-4877-BAE8-A182E091E411}" type="pres">
      <dgm:prSet presAssocID="{93D8C201-8BF6-4269-B317-B0A73C0D6891}" presName="Name37" presStyleLbl="parChTrans1D2" presStyleIdx="2" presStyleCnt="3"/>
      <dgm:spPr/>
    </dgm:pt>
    <dgm:pt modelId="{067F5CFE-8486-4B04-A7F5-9EE6130E8B4F}" type="pres">
      <dgm:prSet presAssocID="{E68DA453-1632-47CF-9978-8163711279B7}" presName="hierRoot2" presStyleCnt="0">
        <dgm:presLayoutVars>
          <dgm:hierBranch val="init"/>
        </dgm:presLayoutVars>
      </dgm:prSet>
      <dgm:spPr/>
    </dgm:pt>
    <dgm:pt modelId="{43E15025-7011-4B95-9364-CB4A20144CD8}" type="pres">
      <dgm:prSet presAssocID="{E68DA453-1632-47CF-9978-8163711279B7}" presName="rootComposite" presStyleCnt="0"/>
      <dgm:spPr/>
    </dgm:pt>
    <dgm:pt modelId="{D054FF64-0146-4E50-A297-0A08894EAB5A}" type="pres">
      <dgm:prSet presAssocID="{E68DA453-1632-47CF-9978-8163711279B7}" presName="rootText" presStyleLbl="node2" presStyleIdx="2" presStyleCnt="3">
        <dgm:presLayoutVars>
          <dgm:chPref val="3"/>
        </dgm:presLayoutVars>
      </dgm:prSet>
      <dgm:spPr/>
    </dgm:pt>
    <dgm:pt modelId="{A7837DDD-D9CA-4A6E-960A-B5D68D6000B6}" type="pres">
      <dgm:prSet presAssocID="{E68DA453-1632-47CF-9978-8163711279B7}" presName="rootConnector" presStyleLbl="node2" presStyleIdx="2" presStyleCnt="3"/>
      <dgm:spPr/>
    </dgm:pt>
    <dgm:pt modelId="{1B5FBE46-CF64-417E-8006-E8380A190C4F}" type="pres">
      <dgm:prSet presAssocID="{E68DA453-1632-47CF-9978-8163711279B7}" presName="hierChild4" presStyleCnt="0"/>
      <dgm:spPr/>
    </dgm:pt>
    <dgm:pt modelId="{9993A65B-8E5B-4DFB-A1E5-F9E774B24721}" type="pres">
      <dgm:prSet presAssocID="{E68DA453-1632-47CF-9978-8163711279B7}" presName="hierChild5" presStyleCnt="0"/>
      <dgm:spPr/>
    </dgm:pt>
    <dgm:pt modelId="{AF40E7C5-FEF0-426E-A4C8-6583FE126A00}" type="pres">
      <dgm:prSet presAssocID="{456B444C-7F8E-4648-A1FA-40A600FCB282}" presName="hierChild3" presStyleCnt="0"/>
      <dgm:spPr/>
    </dgm:pt>
  </dgm:ptLst>
  <dgm:cxnLst>
    <dgm:cxn modelId="{796BEE11-609A-471F-B599-5013FF2313FF}" srcId="{456B444C-7F8E-4648-A1FA-40A600FCB282}" destId="{E68DA453-1632-47CF-9978-8163711279B7}" srcOrd="2" destOrd="0" parTransId="{93D8C201-8BF6-4269-B317-B0A73C0D6891}" sibTransId="{A1715BD2-9B50-4BCA-A5F4-62BEB6D4C84A}"/>
    <dgm:cxn modelId="{61F3306A-A05F-4BC7-B6BA-3B0E0AFB4F87}" type="presOf" srcId="{E68DA453-1632-47CF-9978-8163711279B7}" destId="{D054FF64-0146-4E50-A297-0A08894EAB5A}" srcOrd="0" destOrd="0" presId="urn:microsoft.com/office/officeart/2005/8/layout/orgChart1"/>
    <dgm:cxn modelId="{4089CC71-0DA3-4504-A70B-74FC7F9D5A57}" type="presOf" srcId="{E68DA453-1632-47CF-9978-8163711279B7}" destId="{A7837DDD-D9CA-4A6E-960A-B5D68D6000B6}" srcOrd="1" destOrd="0" presId="urn:microsoft.com/office/officeart/2005/8/layout/orgChart1"/>
    <dgm:cxn modelId="{830CAE72-8D8F-473D-8292-FC19E07A0522}" type="presOf" srcId="{2751E91C-03FE-4D48-AA54-934090EF9BEB}" destId="{5000FF0E-6F47-4123-8458-BAF0D76A685B}" srcOrd="0" destOrd="0" presId="urn:microsoft.com/office/officeart/2005/8/layout/orgChart1"/>
    <dgm:cxn modelId="{A3D42A55-0AE2-476B-9BD0-8D2F94556E3F}" type="presOf" srcId="{456B444C-7F8E-4648-A1FA-40A600FCB282}" destId="{4B6454E4-B757-485D-8133-963478EC0102}" srcOrd="1" destOrd="0" presId="urn:microsoft.com/office/officeart/2005/8/layout/orgChart1"/>
    <dgm:cxn modelId="{6E65D155-40F8-478D-8C85-8C888DE8B077}" type="presOf" srcId="{C382D29D-E725-43C1-97B9-99CAE53BA5C1}" destId="{868FF076-555A-4F98-8A20-A20EF8BEF767}" srcOrd="0" destOrd="0" presId="urn:microsoft.com/office/officeart/2005/8/layout/orgChart1"/>
    <dgm:cxn modelId="{9FBC0183-6D94-47DE-B132-A199F51B02C5}" type="presOf" srcId="{C382D29D-E725-43C1-97B9-99CAE53BA5C1}" destId="{2DAD8783-DE5E-4862-9AA9-F647942509CA}" srcOrd="1" destOrd="0" presId="urn:microsoft.com/office/officeart/2005/8/layout/orgChart1"/>
    <dgm:cxn modelId="{C1C82F86-B39B-4119-8013-ABF36399FDD0}" type="presOf" srcId="{61A945B5-18EA-45AF-AD2C-E7E08B7B48AB}" destId="{76073360-464E-4697-9A32-80F269F7E0A5}" srcOrd="0" destOrd="0" presId="urn:microsoft.com/office/officeart/2005/8/layout/orgChart1"/>
    <dgm:cxn modelId="{350E9C89-F0B5-4853-91AD-9221B2C2E0B8}" srcId="{456B444C-7F8E-4648-A1FA-40A600FCB282}" destId="{C382D29D-E725-43C1-97B9-99CAE53BA5C1}" srcOrd="0" destOrd="0" parTransId="{4D66B16D-1D81-4B77-A52A-23F1F6F7B542}" sibTransId="{DEEE923F-4E48-4A4A-96CA-3C9D909C47BB}"/>
    <dgm:cxn modelId="{8B5B888E-E34F-4074-B1BB-7B352FB4A780}" type="presOf" srcId="{93D8C201-8BF6-4269-B317-B0A73C0D6891}" destId="{1D220633-6897-4877-BAE8-A182E091E411}" srcOrd="0" destOrd="0" presId="urn:microsoft.com/office/officeart/2005/8/layout/orgChart1"/>
    <dgm:cxn modelId="{8890D098-F71E-42BC-9DC4-F78B14A4CB82}" type="presOf" srcId="{86E32FD2-A8B9-4DCE-B1FB-4D4403D91FF6}" destId="{6BD5FF62-9CD5-4B08-AFF1-E2471EC93100}" srcOrd="1" destOrd="0" presId="urn:microsoft.com/office/officeart/2005/8/layout/orgChart1"/>
    <dgm:cxn modelId="{3C6529A3-26C9-42F9-AA34-627490B1E406}" type="presOf" srcId="{86E32FD2-A8B9-4DCE-B1FB-4D4403D91FF6}" destId="{2EF7D2B8-7B83-408E-AAB2-F7A77622377F}" srcOrd="0" destOrd="0" presId="urn:microsoft.com/office/officeart/2005/8/layout/orgChart1"/>
    <dgm:cxn modelId="{477ABFA6-3520-40F1-9981-74F042C5780B}" type="presOf" srcId="{4D66B16D-1D81-4B77-A52A-23F1F6F7B542}" destId="{898A1C23-7583-4495-93CA-343FFB806B80}" srcOrd="0" destOrd="0" presId="urn:microsoft.com/office/officeart/2005/8/layout/orgChart1"/>
    <dgm:cxn modelId="{C5F140AE-8FAD-49F5-BDFB-E4ABD1E97A48}" srcId="{2751E91C-03FE-4D48-AA54-934090EF9BEB}" destId="{456B444C-7F8E-4648-A1FA-40A600FCB282}" srcOrd="0" destOrd="0" parTransId="{E48F818A-D250-4959-B06E-BFDA31187597}" sibTransId="{324C6273-BC60-47DA-BB5A-3023B6EA89BE}"/>
    <dgm:cxn modelId="{900483D7-8C5A-4B3C-9E59-F9B1A87BD7C9}" srcId="{456B444C-7F8E-4648-A1FA-40A600FCB282}" destId="{86E32FD2-A8B9-4DCE-B1FB-4D4403D91FF6}" srcOrd="1" destOrd="0" parTransId="{61A945B5-18EA-45AF-AD2C-E7E08B7B48AB}" sibTransId="{A22E326D-F197-4F4B-B563-1CA44D8C7428}"/>
    <dgm:cxn modelId="{29EA43EC-1911-4645-BA50-101B6C535B93}" type="presOf" srcId="{456B444C-7F8E-4648-A1FA-40A600FCB282}" destId="{A02B0047-2E75-47C9-BBB1-112A2D631122}" srcOrd="0" destOrd="0" presId="urn:microsoft.com/office/officeart/2005/8/layout/orgChart1"/>
    <dgm:cxn modelId="{6247740F-9340-417B-9360-067CCFCAD61E}" type="presParOf" srcId="{5000FF0E-6F47-4123-8458-BAF0D76A685B}" destId="{93F3E640-166D-4381-8FC5-1B54B3B455FD}" srcOrd="0" destOrd="0" presId="urn:microsoft.com/office/officeart/2005/8/layout/orgChart1"/>
    <dgm:cxn modelId="{8D81063A-6631-4AB5-9305-C229D1A8A167}" type="presParOf" srcId="{93F3E640-166D-4381-8FC5-1B54B3B455FD}" destId="{B61A2FC8-5499-46BB-865E-FB927E0EE620}" srcOrd="0" destOrd="0" presId="urn:microsoft.com/office/officeart/2005/8/layout/orgChart1"/>
    <dgm:cxn modelId="{98EC4992-35A0-452D-904D-FED004A4D138}" type="presParOf" srcId="{B61A2FC8-5499-46BB-865E-FB927E0EE620}" destId="{A02B0047-2E75-47C9-BBB1-112A2D631122}" srcOrd="0" destOrd="0" presId="urn:microsoft.com/office/officeart/2005/8/layout/orgChart1"/>
    <dgm:cxn modelId="{B03F96E3-5B42-48A4-8B75-8F3F57BD78AB}" type="presParOf" srcId="{B61A2FC8-5499-46BB-865E-FB927E0EE620}" destId="{4B6454E4-B757-485D-8133-963478EC0102}" srcOrd="1" destOrd="0" presId="urn:microsoft.com/office/officeart/2005/8/layout/orgChart1"/>
    <dgm:cxn modelId="{FF73253F-2E2B-47E8-B02E-4D5A390C08B2}" type="presParOf" srcId="{93F3E640-166D-4381-8FC5-1B54B3B455FD}" destId="{ACC280C7-2879-4B35-98E0-E127719598FA}" srcOrd="1" destOrd="0" presId="urn:microsoft.com/office/officeart/2005/8/layout/orgChart1"/>
    <dgm:cxn modelId="{1254EFFA-39A5-4EC2-BEBF-13975367A886}" type="presParOf" srcId="{ACC280C7-2879-4B35-98E0-E127719598FA}" destId="{898A1C23-7583-4495-93CA-343FFB806B80}" srcOrd="0" destOrd="0" presId="urn:microsoft.com/office/officeart/2005/8/layout/orgChart1"/>
    <dgm:cxn modelId="{D264A3AD-BDE4-44E5-993B-B5B9092F9487}" type="presParOf" srcId="{ACC280C7-2879-4B35-98E0-E127719598FA}" destId="{919217B5-9FC9-4BBC-83FE-F7AF3A9B6CB0}" srcOrd="1" destOrd="0" presId="urn:microsoft.com/office/officeart/2005/8/layout/orgChart1"/>
    <dgm:cxn modelId="{825D99C7-E6A9-4F42-AC03-592A7F9642B9}" type="presParOf" srcId="{919217B5-9FC9-4BBC-83FE-F7AF3A9B6CB0}" destId="{CE149FA0-BBDE-4DC9-A78D-6D00905C7FED}" srcOrd="0" destOrd="0" presId="urn:microsoft.com/office/officeart/2005/8/layout/orgChart1"/>
    <dgm:cxn modelId="{97DDF721-1394-4DED-AA94-112A1A3F702A}" type="presParOf" srcId="{CE149FA0-BBDE-4DC9-A78D-6D00905C7FED}" destId="{868FF076-555A-4F98-8A20-A20EF8BEF767}" srcOrd="0" destOrd="0" presId="urn:microsoft.com/office/officeart/2005/8/layout/orgChart1"/>
    <dgm:cxn modelId="{C5D3D2ED-427C-468F-9895-FC5A2E06DB03}" type="presParOf" srcId="{CE149FA0-BBDE-4DC9-A78D-6D00905C7FED}" destId="{2DAD8783-DE5E-4862-9AA9-F647942509CA}" srcOrd="1" destOrd="0" presId="urn:microsoft.com/office/officeart/2005/8/layout/orgChart1"/>
    <dgm:cxn modelId="{730BA3FD-8D52-4B11-9FE4-2C6DA2C1B4AC}" type="presParOf" srcId="{919217B5-9FC9-4BBC-83FE-F7AF3A9B6CB0}" destId="{AC39F8C0-D04C-4650-AA5B-DE2BD93C9B37}" srcOrd="1" destOrd="0" presId="urn:microsoft.com/office/officeart/2005/8/layout/orgChart1"/>
    <dgm:cxn modelId="{DC968D17-0429-4CB3-855B-34D1CF7322FD}" type="presParOf" srcId="{919217B5-9FC9-4BBC-83FE-F7AF3A9B6CB0}" destId="{F5419D57-899A-4945-AEE9-8F130D4437A2}" srcOrd="2" destOrd="0" presId="urn:microsoft.com/office/officeart/2005/8/layout/orgChart1"/>
    <dgm:cxn modelId="{B9BE1027-D521-49F8-A920-1CBCA99E834E}" type="presParOf" srcId="{ACC280C7-2879-4B35-98E0-E127719598FA}" destId="{76073360-464E-4697-9A32-80F269F7E0A5}" srcOrd="2" destOrd="0" presId="urn:microsoft.com/office/officeart/2005/8/layout/orgChart1"/>
    <dgm:cxn modelId="{5989D79E-B43A-4164-A4ED-50B9BB7FEA6A}" type="presParOf" srcId="{ACC280C7-2879-4B35-98E0-E127719598FA}" destId="{FB90C3C9-CA7C-41B6-82AC-F389BA890093}" srcOrd="3" destOrd="0" presId="urn:microsoft.com/office/officeart/2005/8/layout/orgChart1"/>
    <dgm:cxn modelId="{4FD84BFF-97B1-4443-BA20-84251F23D40B}" type="presParOf" srcId="{FB90C3C9-CA7C-41B6-82AC-F389BA890093}" destId="{7657750A-AD87-444A-833C-CC4917D1E14E}" srcOrd="0" destOrd="0" presId="urn:microsoft.com/office/officeart/2005/8/layout/orgChart1"/>
    <dgm:cxn modelId="{3A8C065C-DA29-4683-A361-75C0EE426743}" type="presParOf" srcId="{7657750A-AD87-444A-833C-CC4917D1E14E}" destId="{2EF7D2B8-7B83-408E-AAB2-F7A77622377F}" srcOrd="0" destOrd="0" presId="urn:microsoft.com/office/officeart/2005/8/layout/orgChart1"/>
    <dgm:cxn modelId="{43660B2C-A86F-40A1-BA77-3F230F988385}" type="presParOf" srcId="{7657750A-AD87-444A-833C-CC4917D1E14E}" destId="{6BD5FF62-9CD5-4B08-AFF1-E2471EC93100}" srcOrd="1" destOrd="0" presId="urn:microsoft.com/office/officeart/2005/8/layout/orgChart1"/>
    <dgm:cxn modelId="{07A904BA-2C17-44BC-A737-15AEEAD03618}" type="presParOf" srcId="{FB90C3C9-CA7C-41B6-82AC-F389BA890093}" destId="{C9C905FA-8A2E-446B-ABCA-3E16A34B63C5}" srcOrd="1" destOrd="0" presId="urn:microsoft.com/office/officeart/2005/8/layout/orgChart1"/>
    <dgm:cxn modelId="{337A2712-6A89-4D91-8B18-34AA01966856}" type="presParOf" srcId="{FB90C3C9-CA7C-41B6-82AC-F389BA890093}" destId="{940C4AC0-B30C-4982-A323-7454A90A7C50}" srcOrd="2" destOrd="0" presId="urn:microsoft.com/office/officeart/2005/8/layout/orgChart1"/>
    <dgm:cxn modelId="{A4EE3A12-ACB2-41FC-840B-F987C48958CB}" type="presParOf" srcId="{ACC280C7-2879-4B35-98E0-E127719598FA}" destId="{1D220633-6897-4877-BAE8-A182E091E411}" srcOrd="4" destOrd="0" presId="urn:microsoft.com/office/officeart/2005/8/layout/orgChart1"/>
    <dgm:cxn modelId="{4774A1D6-213A-426A-A1B6-05A05B352DD0}" type="presParOf" srcId="{ACC280C7-2879-4B35-98E0-E127719598FA}" destId="{067F5CFE-8486-4B04-A7F5-9EE6130E8B4F}" srcOrd="5" destOrd="0" presId="urn:microsoft.com/office/officeart/2005/8/layout/orgChart1"/>
    <dgm:cxn modelId="{8E5D16EE-4970-474C-81B3-FD2B58B41B39}" type="presParOf" srcId="{067F5CFE-8486-4B04-A7F5-9EE6130E8B4F}" destId="{43E15025-7011-4B95-9364-CB4A20144CD8}" srcOrd="0" destOrd="0" presId="urn:microsoft.com/office/officeart/2005/8/layout/orgChart1"/>
    <dgm:cxn modelId="{2D356743-626A-4727-958A-D6E45785CD8F}" type="presParOf" srcId="{43E15025-7011-4B95-9364-CB4A20144CD8}" destId="{D054FF64-0146-4E50-A297-0A08894EAB5A}" srcOrd="0" destOrd="0" presId="urn:microsoft.com/office/officeart/2005/8/layout/orgChart1"/>
    <dgm:cxn modelId="{969FFC5C-02E3-4410-B120-3CBD201F1237}" type="presParOf" srcId="{43E15025-7011-4B95-9364-CB4A20144CD8}" destId="{A7837DDD-D9CA-4A6E-960A-B5D68D6000B6}" srcOrd="1" destOrd="0" presId="urn:microsoft.com/office/officeart/2005/8/layout/orgChart1"/>
    <dgm:cxn modelId="{20216AC5-DA3E-4B69-9DFE-4D01D4D95B34}" type="presParOf" srcId="{067F5CFE-8486-4B04-A7F5-9EE6130E8B4F}" destId="{1B5FBE46-CF64-417E-8006-E8380A190C4F}" srcOrd="1" destOrd="0" presId="urn:microsoft.com/office/officeart/2005/8/layout/orgChart1"/>
    <dgm:cxn modelId="{9F3F25BC-8B25-432D-BE66-AEEDF9146AFD}" type="presParOf" srcId="{067F5CFE-8486-4B04-A7F5-9EE6130E8B4F}" destId="{9993A65B-8E5B-4DFB-A1E5-F9E774B24721}" srcOrd="2" destOrd="0" presId="urn:microsoft.com/office/officeart/2005/8/layout/orgChart1"/>
    <dgm:cxn modelId="{83F90AD7-CD8B-4FFE-BFDB-F67CC3B8DAF7}" type="presParOf" srcId="{93F3E640-166D-4381-8FC5-1B54B3B455FD}" destId="{AF40E7C5-FEF0-426E-A4C8-6583FE126A0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68AB6C-5D9D-43E0-808A-67FEB4B15577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C9218848-0041-4A3A-A010-EFBD954FA093}">
      <dgm:prSet/>
      <dgm:spPr/>
      <dgm:t>
        <a:bodyPr/>
        <a:lstStyle/>
        <a:p>
          <a:r>
            <a:rPr lang="it-IT" dirty="0"/>
            <a:t>Analisi dei Risultati</a:t>
          </a:r>
        </a:p>
      </dgm:t>
    </dgm:pt>
    <dgm:pt modelId="{6EBE3372-7BDA-41CB-B508-E22B40D9241D}" type="parTrans" cxnId="{0A98465E-1FF4-47CE-8C7C-D6B06D844FF6}">
      <dgm:prSet/>
      <dgm:spPr/>
      <dgm:t>
        <a:bodyPr/>
        <a:lstStyle/>
        <a:p>
          <a:endParaRPr lang="it-IT"/>
        </a:p>
      </dgm:t>
    </dgm:pt>
    <dgm:pt modelId="{686DC68C-C6B8-4FF7-84B6-CB8B7EEFB612}" type="sibTrans" cxnId="{0A98465E-1FF4-47CE-8C7C-D6B06D844FF6}">
      <dgm:prSet/>
      <dgm:spPr/>
      <dgm:t>
        <a:bodyPr/>
        <a:lstStyle/>
        <a:p>
          <a:endParaRPr lang="it-IT"/>
        </a:p>
      </dgm:t>
    </dgm:pt>
    <dgm:pt modelId="{998C76A8-B121-43BB-B6B8-A6A54EBB21CA}">
      <dgm:prSet/>
      <dgm:spPr/>
      <dgm:t>
        <a:bodyPr/>
        <a:lstStyle/>
        <a:p>
          <a:r>
            <a:rPr lang="it-IT" dirty="0"/>
            <a:t>Qualità della Soluzione</a:t>
          </a:r>
        </a:p>
      </dgm:t>
    </dgm:pt>
    <dgm:pt modelId="{22AAE16A-667A-4298-994F-31FC61C0BA36}" type="parTrans" cxnId="{D1C61961-A8D2-48C2-8373-4EAAEBEE3664}">
      <dgm:prSet/>
      <dgm:spPr/>
      <dgm:t>
        <a:bodyPr/>
        <a:lstStyle/>
        <a:p>
          <a:endParaRPr lang="it-IT"/>
        </a:p>
      </dgm:t>
    </dgm:pt>
    <dgm:pt modelId="{42D50D6E-3C7E-4C8D-A10A-737A6BDAA022}" type="sibTrans" cxnId="{D1C61961-A8D2-48C2-8373-4EAAEBEE3664}">
      <dgm:prSet/>
      <dgm:spPr/>
      <dgm:t>
        <a:bodyPr/>
        <a:lstStyle/>
        <a:p>
          <a:endParaRPr lang="it-IT"/>
        </a:p>
      </dgm:t>
    </dgm:pt>
    <dgm:pt modelId="{22C641C0-6439-4E82-A3B2-03AB36407C25}">
      <dgm:prSet/>
      <dgm:spPr/>
      <dgm:t>
        <a:bodyPr/>
        <a:lstStyle/>
        <a:p>
          <a:r>
            <a:rPr lang="it-IT" dirty="0"/>
            <a:t> Tempo Computazionale</a:t>
          </a:r>
        </a:p>
      </dgm:t>
    </dgm:pt>
    <dgm:pt modelId="{4A7EA10E-E2E9-4E7A-A9CB-6FC4B81D7414}" type="parTrans" cxnId="{6924CC0C-A500-4BE6-BC32-EE87691F976F}">
      <dgm:prSet/>
      <dgm:spPr/>
      <dgm:t>
        <a:bodyPr/>
        <a:lstStyle/>
        <a:p>
          <a:endParaRPr lang="it-IT"/>
        </a:p>
      </dgm:t>
    </dgm:pt>
    <dgm:pt modelId="{66F35334-8C72-4915-8BB1-A6C12948FE3D}" type="sibTrans" cxnId="{6924CC0C-A500-4BE6-BC32-EE87691F976F}">
      <dgm:prSet/>
      <dgm:spPr/>
      <dgm:t>
        <a:bodyPr/>
        <a:lstStyle/>
        <a:p>
          <a:endParaRPr lang="it-IT"/>
        </a:p>
      </dgm:t>
    </dgm:pt>
    <dgm:pt modelId="{0A359088-4F9D-433F-B8DE-F55C698A169C}">
      <dgm:prSet/>
      <dgm:spPr/>
      <dgm:t>
        <a:bodyPr/>
        <a:lstStyle/>
        <a:p>
          <a:r>
            <a:rPr lang="it-IT"/>
            <a:t>Scalabilità</a:t>
          </a:r>
          <a:endParaRPr lang="it-IT" dirty="0"/>
        </a:p>
      </dgm:t>
    </dgm:pt>
    <dgm:pt modelId="{7D55539A-41E9-4717-99EE-D4ECC909D82B}" type="parTrans" cxnId="{46F573F5-26F3-4646-A866-C5A37CE3AEE2}">
      <dgm:prSet/>
      <dgm:spPr/>
      <dgm:t>
        <a:bodyPr/>
        <a:lstStyle/>
        <a:p>
          <a:endParaRPr lang="it-IT"/>
        </a:p>
      </dgm:t>
    </dgm:pt>
    <dgm:pt modelId="{D991E89C-7622-4A5B-A0A1-1C0056BD38D7}" type="sibTrans" cxnId="{46F573F5-26F3-4646-A866-C5A37CE3AEE2}">
      <dgm:prSet/>
      <dgm:spPr/>
      <dgm:t>
        <a:bodyPr/>
        <a:lstStyle/>
        <a:p>
          <a:endParaRPr lang="it-IT"/>
        </a:p>
      </dgm:t>
    </dgm:pt>
    <dgm:pt modelId="{C57046A6-0678-4D06-BDB7-8DC898E56182}" type="pres">
      <dgm:prSet presAssocID="{5068AB6C-5D9D-43E0-808A-67FEB4B1557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E460DC4-982F-4235-BD76-265D724B0A9C}" type="pres">
      <dgm:prSet presAssocID="{C9218848-0041-4A3A-A010-EFBD954FA093}" presName="hierRoot1" presStyleCnt="0">
        <dgm:presLayoutVars>
          <dgm:hierBranch val="init"/>
        </dgm:presLayoutVars>
      </dgm:prSet>
      <dgm:spPr/>
    </dgm:pt>
    <dgm:pt modelId="{34D4736E-1F6D-4551-920A-5BF0F01F3143}" type="pres">
      <dgm:prSet presAssocID="{C9218848-0041-4A3A-A010-EFBD954FA093}" presName="rootComposite1" presStyleCnt="0"/>
      <dgm:spPr/>
    </dgm:pt>
    <dgm:pt modelId="{4AA57058-6369-47B1-895F-32A325FF88B2}" type="pres">
      <dgm:prSet presAssocID="{C9218848-0041-4A3A-A010-EFBD954FA093}" presName="rootText1" presStyleLbl="node0" presStyleIdx="0" presStyleCnt="1" custLinFactNeighborX="-695" custLinFactNeighborY="-70899">
        <dgm:presLayoutVars>
          <dgm:chPref val="3"/>
        </dgm:presLayoutVars>
      </dgm:prSet>
      <dgm:spPr/>
    </dgm:pt>
    <dgm:pt modelId="{0A4ED964-E75B-43F3-B674-6447387846C6}" type="pres">
      <dgm:prSet presAssocID="{C9218848-0041-4A3A-A010-EFBD954FA093}" presName="rootConnector1" presStyleLbl="node1" presStyleIdx="0" presStyleCnt="0"/>
      <dgm:spPr/>
    </dgm:pt>
    <dgm:pt modelId="{BF6AC1BE-88FF-42F3-9C81-E090BCAE5DDF}" type="pres">
      <dgm:prSet presAssocID="{C9218848-0041-4A3A-A010-EFBD954FA093}" presName="hierChild2" presStyleCnt="0"/>
      <dgm:spPr/>
    </dgm:pt>
    <dgm:pt modelId="{7EE238A5-1B4C-4A61-B2FB-86013D1CC5A8}" type="pres">
      <dgm:prSet presAssocID="{22AAE16A-667A-4298-994F-31FC61C0BA36}" presName="Name37" presStyleLbl="parChTrans1D2" presStyleIdx="0" presStyleCnt="3"/>
      <dgm:spPr/>
    </dgm:pt>
    <dgm:pt modelId="{CEFCEEB8-AFD1-4BDF-AB0B-EF5AD07906CF}" type="pres">
      <dgm:prSet presAssocID="{998C76A8-B121-43BB-B6B8-A6A54EBB21CA}" presName="hierRoot2" presStyleCnt="0">
        <dgm:presLayoutVars>
          <dgm:hierBranch val="init"/>
        </dgm:presLayoutVars>
      </dgm:prSet>
      <dgm:spPr/>
    </dgm:pt>
    <dgm:pt modelId="{8CE10958-E5CB-46F2-A9E0-CE6A64E596C6}" type="pres">
      <dgm:prSet presAssocID="{998C76A8-B121-43BB-B6B8-A6A54EBB21CA}" presName="rootComposite" presStyleCnt="0"/>
      <dgm:spPr/>
    </dgm:pt>
    <dgm:pt modelId="{2035600E-53BA-4DBE-AFFF-517B26BD38C2}" type="pres">
      <dgm:prSet presAssocID="{998C76A8-B121-43BB-B6B8-A6A54EBB21CA}" presName="rootText" presStyleLbl="node2" presStyleIdx="0" presStyleCnt="3" custLinFactNeighborX="2177" custLinFactNeighborY="68768">
        <dgm:presLayoutVars>
          <dgm:chPref val="3"/>
        </dgm:presLayoutVars>
      </dgm:prSet>
      <dgm:spPr/>
    </dgm:pt>
    <dgm:pt modelId="{36BA9CC5-B530-4E90-9AC6-B8284A6CEE9D}" type="pres">
      <dgm:prSet presAssocID="{998C76A8-B121-43BB-B6B8-A6A54EBB21CA}" presName="rootConnector" presStyleLbl="node2" presStyleIdx="0" presStyleCnt="3"/>
      <dgm:spPr/>
    </dgm:pt>
    <dgm:pt modelId="{F88FE9F5-D87A-4657-8D2C-E6FCB3997153}" type="pres">
      <dgm:prSet presAssocID="{998C76A8-B121-43BB-B6B8-A6A54EBB21CA}" presName="hierChild4" presStyleCnt="0"/>
      <dgm:spPr/>
    </dgm:pt>
    <dgm:pt modelId="{6C29A351-B5BE-4CD5-B8D9-60CBB367D11D}" type="pres">
      <dgm:prSet presAssocID="{998C76A8-B121-43BB-B6B8-A6A54EBB21CA}" presName="hierChild5" presStyleCnt="0"/>
      <dgm:spPr/>
    </dgm:pt>
    <dgm:pt modelId="{A1D4556C-36AB-4F5F-A99F-CB79C6072C75}" type="pres">
      <dgm:prSet presAssocID="{4A7EA10E-E2E9-4E7A-A9CB-6FC4B81D7414}" presName="Name37" presStyleLbl="parChTrans1D2" presStyleIdx="1" presStyleCnt="3"/>
      <dgm:spPr/>
    </dgm:pt>
    <dgm:pt modelId="{9C27DABC-AA63-4FDE-93EE-2C2CF0F2BEE3}" type="pres">
      <dgm:prSet presAssocID="{22C641C0-6439-4E82-A3B2-03AB36407C25}" presName="hierRoot2" presStyleCnt="0">
        <dgm:presLayoutVars>
          <dgm:hierBranch val="init"/>
        </dgm:presLayoutVars>
      </dgm:prSet>
      <dgm:spPr/>
    </dgm:pt>
    <dgm:pt modelId="{AEC9BBEA-A20B-467D-9C7F-95279E61BBF3}" type="pres">
      <dgm:prSet presAssocID="{22C641C0-6439-4E82-A3B2-03AB36407C25}" presName="rootComposite" presStyleCnt="0"/>
      <dgm:spPr/>
    </dgm:pt>
    <dgm:pt modelId="{57814DFC-D60F-4DF2-8A3E-C95FCB46A235}" type="pres">
      <dgm:prSet presAssocID="{22C641C0-6439-4E82-A3B2-03AB36407C25}" presName="rootText" presStyleLbl="node2" presStyleIdx="1" presStyleCnt="3" custLinFactNeighborX="-740" custLinFactNeighborY="69793">
        <dgm:presLayoutVars>
          <dgm:chPref val="3"/>
        </dgm:presLayoutVars>
      </dgm:prSet>
      <dgm:spPr/>
    </dgm:pt>
    <dgm:pt modelId="{260C19FB-4814-4F50-A007-E7B983F81CD5}" type="pres">
      <dgm:prSet presAssocID="{22C641C0-6439-4E82-A3B2-03AB36407C25}" presName="rootConnector" presStyleLbl="node2" presStyleIdx="1" presStyleCnt="3"/>
      <dgm:spPr/>
    </dgm:pt>
    <dgm:pt modelId="{1C1C16D7-96AF-40FD-8B42-0D8399257CEC}" type="pres">
      <dgm:prSet presAssocID="{22C641C0-6439-4E82-A3B2-03AB36407C25}" presName="hierChild4" presStyleCnt="0"/>
      <dgm:spPr/>
    </dgm:pt>
    <dgm:pt modelId="{EA1F13EB-E8E9-4553-9AB8-F0F79FD2A2D2}" type="pres">
      <dgm:prSet presAssocID="{22C641C0-6439-4E82-A3B2-03AB36407C25}" presName="hierChild5" presStyleCnt="0"/>
      <dgm:spPr/>
    </dgm:pt>
    <dgm:pt modelId="{2E7D6F9D-9814-4DB7-BF2D-2532C2693766}" type="pres">
      <dgm:prSet presAssocID="{7D55539A-41E9-4717-99EE-D4ECC909D82B}" presName="Name37" presStyleLbl="parChTrans1D2" presStyleIdx="2" presStyleCnt="3"/>
      <dgm:spPr/>
    </dgm:pt>
    <dgm:pt modelId="{244475DB-744F-4610-B503-4693E82A2BEE}" type="pres">
      <dgm:prSet presAssocID="{0A359088-4F9D-433F-B8DE-F55C698A169C}" presName="hierRoot2" presStyleCnt="0">
        <dgm:presLayoutVars>
          <dgm:hierBranch val="init"/>
        </dgm:presLayoutVars>
      </dgm:prSet>
      <dgm:spPr/>
    </dgm:pt>
    <dgm:pt modelId="{000D5A0F-30B1-416F-9C94-711DAB8059A2}" type="pres">
      <dgm:prSet presAssocID="{0A359088-4F9D-433F-B8DE-F55C698A169C}" presName="rootComposite" presStyleCnt="0"/>
      <dgm:spPr/>
    </dgm:pt>
    <dgm:pt modelId="{4C25DC94-6DB8-43A8-A364-07E623552340}" type="pres">
      <dgm:prSet presAssocID="{0A359088-4F9D-433F-B8DE-F55C698A169C}" presName="rootText" presStyleLbl="node2" presStyleIdx="2" presStyleCnt="3" custLinFactNeighborX="-3627" custLinFactNeighborY="69793">
        <dgm:presLayoutVars>
          <dgm:chPref val="3"/>
        </dgm:presLayoutVars>
      </dgm:prSet>
      <dgm:spPr/>
    </dgm:pt>
    <dgm:pt modelId="{50257E71-0FF6-408A-9B52-4BC7B470AB3F}" type="pres">
      <dgm:prSet presAssocID="{0A359088-4F9D-433F-B8DE-F55C698A169C}" presName="rootConnector" presStyleLbl="node2" presStyleIdx="2" presStyleCnt="3"/>
      <dgm:spPr/>
    </dgm:pt>
    <dgm:pt modelId="{9B454E3D-F7D4-482A-BC13-092B6E4FC646}" type="pres">
      <dgm:prSet presAssocID="{0A359088-4F9D-433F-B8DE-F55C698A169C}" presName="hierChild4" presStyleCnt="0"/>
      <dgm:spPr/>
    </dgm:pt>
    <dgm:pt modelId="{B20CC297-089E-40AD-B62F-7BEB4BFBCEA5}" type="pres">
      <dgm:prSet presAssocID="{0A359088-4F9D-433F-B8DE-F55C698A169C}" presName="hierChild5" presStyleCnt="0"/>
      <dgm:spPr/>
    </dgm:pt>
    <dgm:pt modelId="{F678D32E-F943-4DF3-982A-6163E7073E50}" type="pres">
      <dgm:prSet presAssocID="{C9218848-0041-4A3A-A010-EFBD954FA093}" presName="hierChild3" presStyleCnt="0"/>
      <dgm:spPr/>
    </dgm:pt>
  </dgm:ptLst>
  <dgm:cxnLst>
    <dgm:cxn modelId="{6924CC0C-A500-4BE6-BC32-EE87691F976F}" srcId="{C9218848-0041-4A3A-A010-EFBD954FA093}" destId="{22C641C0-6439-4E82-A3B2-03AB36407C25}" srcOrd="1" destOrd="0" parTransId="{4A7EA10E-E2E9-4E7A-A9CB-6FC4B81D7414}" sibTransId="{66F35334-8C72-4915-8BB1-A6C12948FE3D}"/>
    <dgm:cxn modelId="{A1173319-ACCE-4F9D-93EC-E3772945B752}" type="presOf" srcId="{22AAE16A-667A-4298-994F-31FC61C0BA36}" destId="{7EE238A5-1B4C-4A61-B2FB-86013D1CC5A8}" srcOrd="0" destOrd="0" presId="urn:microsoft.com/office/officeart/2005/8/layout/orgChart1"/>
    <dgm:cxn modelId="{42C38924-24E1-4A71-9D89-0AFB97B13D89}" type="presOf" srcId="{C9218848-0041-4A3A-A010-EFBD954FA093}" destId="{0A4ED964-E75B-43F3-B674-6447387846C6}" srcOrd="1" destOrd="0" presId="urn:microsoft.com/office/officeart/2005/8/layout/orgChart1"/>
    <dgm:cxn modelId="{CF3D9C26-A77F-46EE-9CBE-6838F8D0FEBE}" type="presOf" srcId="{998C76A8-B121-43BB-B6B8-A6A54EBB21CA}" destId="{2035600E-53BA-4DBE-AFFF-517B26BD38C2}" srcOrd="0" destOrd="0" presId="urn:microsoft.com/office/officeart/2005/8/layout/orgChart1"/>
    <dgm:cxn modelId="{C650A82A-6C43-408E-AC71-9D5D178DB7C0}" type="presOf" srcId="{4A7EA10E-E2E9-4E7A-A9CB-6FC4B81D7414}" destId="{A1D4556C-36AB-4F5F-A99F-CB79C6072C75}" srcOrd="0" destOrd="0" presId="urn:microsoft.com/office/officeart/2005/8/layout/orgChart1"/>
    <dgm:cxn modelId="{0A98465E-1FF4-47CE-8C7C-D6B06D844FF6}" srcId="{5068AB6C-5D9D-43E0-808A-67FEB4B15577}" destId="{C9218848-0041-4A3A-A010-EFBD954FA093}" srcOrd="0" destOrd="0" parTransId="{6EBE3372-7BDA-41CB-B508-E22B40D9241D}" sibTransId="{686DC68C-C6B8-4FF7-84B6-CB8B7EEFB612}"/>
    <dgm:cxn modelId="{D1C61961-A8D2-48C2-8373-4EAAEBEE3664}" srcId="{C9218848-0041-4A3A-A010-EFBD954FA093}" destId="{998C76A8-B121-43BB-B6B8-A6A54EBB21CA}" srcOrd="0" destOrd="0" parTransId="{22AAE16A-667A-4298-994F-31FC61C0BA36}" sibTransId="{42D50D6E-3C7E-4C8D-A10A-737A6BDAA022}"/>
    <dgm:cxn modelId="{381CE16B-2AA5-4398-8640-C7DC5A205D55}" type="presOf" srcId="{0A359088-4F9D-433F-B8DE-F55C698A169C}" destId="{4C25DC94-6DB8-43A8-A364-07E623552340}" srcOrd="0" destOrd="0" presId="urn:microsoft.com/office/officeart/2005/8/layout/orgChart1"/>
    <dgm:cxn modelId="{B120B672-BB55-4DFD-9030-4D412EFA6AED}" type="presOf" srcId="{22C641C0-6439-4E82-A3B2-03AB36407C25}" destId="{57814DFC-D60F-4DF2-8A3E-C95FCB46A235}" srcOrd="0" destOrd="0" presId="urn:microsoft.com/office/officeart/2005/8/layout/orgChart1"/>
    <dgm:cxn modelId="{76642859-D6DE-42D9-80F5-BAE120AACD9E}" type="presOf" srcId="{7D55539A-41E9-4717-99EE-D4ECC909D82B}" destId="{2E7D6F9D-9814-4DB7-BF2D-2532C2693766}" srcOrd="0" destOrd="0" presId="urn:microsoft.com/office/officeart/2005/8/layout/orgChart1"/>
    <dgm:cxn modelId="{067C589E-DB9B-4B7F-93A2-8BC0045A97B4}" type="presOf" srcId="{0A359088-4F9D-433F-B8DE-F55C698A169C}" destId="{50257E71-0FF6-408A-9B52-4BC7B470AB3F}" srcOrd="1" destOrd="0" presId="urn:microsoft.com/office/officeart/2005/8/layout/orgChart1"/>
    <dgm:cxn modelId="{ACEA49A6-BD67-4824-98DB-0DBF207A1C4A}" type="presOf" srcId="{998C76A8-B121-43BB-B6B8-A6A54EBB21CA}" destId="{36BA9CC5-B530-4E90-9AC6-B8284A6CEE9D}" srcOrd="1" destOrd="0" presId="urn:microsoft.com/office/officeart/2005/8/layout/orgChart1"/>
    <dgm:cxn modelId="{EDF3CFDA-AC5A-4B47-B949-D4980E72F4A9}" type="presOf" srcId="{C9218848-0041-4A3A-A010-EFBD954FA093}" destId="{4AA57058-6369-47B1-895F-32A325FF88B2}" srcOrd="0" destOrd="0" presId="urn:microsoft.com/office/officeart/2005/8/layout/orgChart1"/>
    <dgm:cxn modelId="{FFE285E7-B9A8-4EEC-BCC7-91CC3BE42887}" type="presOf" srcId="{22C641C0-6439-4E82-A3B2-03AB36407C25}" destId="{260C19FB-4814-4F50-A007-E7B983F81CD5}" srcOrd="1" destOrd="0" presId="urn:microsoft.com/office/officeart/2005/8/layout/orgChart1"/>
    <dgm:cxn modelId="{26AC9FEF-7DAC-4786-9F61-12454D236CBB}" type="presOf" srcId="{5068AB6C-5D9D-43E0-808A-67FEB4B15577}" destId="{C57046A6-0678-4D06-BDB7-8DC898E56182}" srcOrd="0" destOrd="0" presId="urn:microsoft.com/office/officeart/2005/8/layout/orgChart1"/>
    <dgm:cxn modelId="{46F573F5-26F3-4646-A866-C5A37CE3AEE2}" srcId="{C9218848-0041-4A3A-A010-EFBD954FA093}" destId="{0A359088-4F9D-433F-B8DE-F55C698A169C}" srcOrd="2" destOrd="0" parTransId="{7D55539A-41E9-4717-99EE-D4ECC909D82B}" sibTransId="{D991E89C-7622-4A5B-A0A1-1C0056BD38D7}"/>
    <dgm:cxn modelId="{9A0E4BE9-0E7B-4962-8CE9-299F39CD897C}" type="presParOf" srcId="{C57046A6-0678-4D06-BDB7-8DC898E56182}" destId="{6E460DC4-982F-4235-BD76-265D724B0A9C}" srcOrd="0" destOrd="0" presId="urn:microsoft.com/office/officeart/2005/8/layout/orgChart1"/>
    <dgm:cxn modelId="{B72E5205-D3DC-42C2-8FCB-3B7B9104AF9E}" type="presParOf" srcId="{6E460DC4-982F-4235-BD76-265D724B0A9C}" destId="{34D4736E-1F6D-4551-920A-5BF0F01F3143}" srcOrd="0" destOrd="0" presId="urn:microsoft.com/office/officeart/2005/8/layout/orgChart1"/>
    <dgm:cxn modelId="{EEBEBDD6-093F-442E-9F4F-A9B4054988F1}" type="presParOf" srcId="{34D4736E-1F6D-4551-920A-5BF0F01F3143}" destId="{4AA57058-6369-47B1-895F-32A325FF88B2}" srcOrd="0" destOrd="0" presId="urn:microsoft.com/office/officeart/2005/8/layout/orgChart1"/>
    <dgm:cxn modelId="{74BD47A1-356B-44C8-9D15-A0D878B4E151}" type="presParOf" srcId="{34D4736E-1F6D-4551-920A-5BF0F01F3143}" destId="{0A4ED964-E75B-43F3-B674-6447387846C6}" srcOrd="1" destOrd="0" presId="urn:microsoft.com/office/officeart/2005/8/layout/orgChart1"/>
    <dgm:cxn modelId="{03C8E80D-0382-43C1-A308-379F5B3AE6D8}" type="presParOf" srcId="{6E460DC4-982F-4235-BD76-265D724B0A9C}" destId="{BF6AC1BE-88FF-42F3-9C81-E090BCAE5DDF}" srcOrd="1" destOrd="0" presId="urn:microsoft.com/office/officeart/2005/8/layout/orgChart1"/>
    <dgm:cxn modelId="{F3A838C3-07F3-4ADE-B242-146159DC0AAB}" type="presParOf" srcId="{BF6AC1BE-88FF-42F3-9C81-E090BCAE5DDF}" destId="{7EE238A5-1B4C-4A61-B2FB-86013D1CC5A8}" srcOrd="0" destOrd="0" presId="urn:microsoft.com/office/officeart/2005/8/layout/orgChart1"/>
    <dgm:cxn modelId="{BBAE9EEB-52FE-436B-9BFD-DBA2C81A7BF7}" type="presParOf" srcId="{BF6AC1BE-88FF-42F3-9C81-E090BCAE5DDF}" destId="{CEFCEEB8-AFD1-4BDF-AB0B-EF5AD07906CF}" srcOrd="1" destOrd="0" presId="urn:microsoft.com/office/officeart/2005/8/layout/orgChart1"/>
    <dgm:cxn modelId="{B80715F2-8572-4894-8847-B88A6E133922}" type="presParOf" srcId="{CEFCEEB8-AFD1-4BDF-AB0B-EF5AD07906CF}" destId="{8CE10958-E5CB-46F2-A9E0-CE6A64E596C6}" srcOrd="0" destOrd="0" presId="urn:microsoft.com/office/officeart/2005/8/layout/orgChart1"/>
    <dgm:cxn modelId="{EF52464A-358E-484D-803B-B6CF1C7421F8}" type="presParOf" srcId="{8CE10958-E5CB-46F2-A9E0-CE6A64E596C6}" destId="{2035600E-53BA-4DBE-AFFF-517B26BD38C2}" srcOrd="0" destOrd="0" presId="urn:microsoft.com/office/officeart/2005/8/layout/orgChart1"/>
    <dgm:cxn modelId="{201364B1-C564-49E8-8FB8-4064B6B5883C}" type="presParOf" srcId="{8CE10958-E5CB-46F2-A9E0-CE6A64E596C6}" destId="{36BA9CC5-B530-4E90-9AC6-B8284A6CEE9D}" srcOrd="1" destOrd="0" presId="urn:microsoft.com/office/officeart/2005/8/layout/orgChart1"/>
    <dgm:cxn modelId="{7D79E48F-1628-4034-B72D-D53AE27E8A9D}" type="presParOf" srcId="{CEFCEEB8-AFD1-4BDF-AB0B-EF5AD07906CF}" destId="{F88FE9F5-D87A-4657-8D2C-E6FCB3997153}" srcOrd="1" destOrd="0" presId="urn:microsoft.com/office/officeart/2005/8/layout/orgChart1"/>
    <dgm:cxn modelId="{08DB32A8-70B7-46D1-A4B9-C4AB40AB7A54}" type="presParOf" srcId="{CEFCEEB8-AFD1-4BDF-AB0B-EF5AD07906CF}" destId="{6C29A351-B5BE-4CD5-B8D9-60CBB367D11D}" srcOrd="2" destOrd="0" presId="urn:microsoft.com/office/officeart/2005/8/layout/orgChart1"/>
    <dgm:cxn modelId="{7C5BB7CE-D14B-4B54-B8FF-86BD5D693E90}" type="presParOf" srcId="{BF6AC1BE-88FF-42F3-9C81-E090BCAE5DDF}" destId="{A1D4556C-36AB-4F5F-A99F-CB79C6072C75}" srcOrd="2" destOrd="0" presId="urn:microsoft.com/office/officeart/2005/8/layout/orgChart1"/>
    <dgm:cxn modelId="{EDAF56D1-DCA4-4228-BBA5-0AE60E064994}" type="presParOf" srcId="{BF6AC1BE-88FF-42F3-9C81-E090BCAE5DDF}" destId="{9C27DABC-AA63-4FDE-93EE-2C2CF0F2BEE3}" srcOrd="3" destOrd="0" presId="urn:microsoft.com/office/officeart/2005/8/layout/orgChart1"/>
    <dgm:cxn modelId="{7BA578AF-6812-4039-AE13-C311BC4BA1FE}" type="presParOf" srcId="{9C27DABC-AA63-4FDE-93EE-2C2CF0F2BEE3}" destId="{AEC9BBEA-A20B-467D-9C7F-95279E61BBF3}" srcOrd="0" destOrd="0" presId="urn:microsoft.com/office/officeart/2005/8/layout/orgChart1"/>
    <dgm:cxn modelId="{3E821ED9-3DC2-40E1-A504-82E64975E7C1}" type="presParOf" srcId="{AEC9BBEA-A20B-467D-9C7F-95279E61BBF3}" destId="{57814DFC-D60F-4DF2-8A3E-C95FCB46A235}" srcOrd="0" destOrd="0" presId="urn:microsoft.com/office/officeart/2005/8/layout/orgChart1"/>
    <dgm:cxn modelId="{51B1381E-7871-43E8-9189-CA309ED09A3C}" type="presParOf" srcId="{AEC9BBEA-A20B-467D-9C7F-95279E61BBF3}" destId="{260C19FB-4814-4F50-A007-E7B983F81CD5}" srcOrd="1" destOrd="0" presId="urn:microsoft.com/office/officeart/2005/8/layout/orgChart1"/>
    <dgm:cxn modelId="{3A3A590D-7B3F-45BD-96AB-6D96D736C6B1}" type="presParOf" srcId="{9C27DABC-AA63-4FDE-93EE-2C2CF0F2BEE3}" destId="{1C1C16D7-96AF-40FD-8B42-0D8399257CEC}" srcOrd="1" destOrd="0" presId="urn:microsoft.com/office/officeart/2005/8/layout/orgChart1"/>
    <dgm:cxn modelId="{75864266-E6AF-4C0D-ADA1-F02019740A9D}" type="presParOf" srcId="{9C27DABC-AA63-4FDE-93EE-2C2CF0F2BEE3}" destId="{EA1F13EB-E8E9-4553-9AB8-F0F79FD2A2D2}" srcOrd="2" destOrd="0" presId="urn:microsoft.com/office/officeart/2005/8/layout/orgChart1"/>
    <dgm:cxn modelId="{031969D4-BE3A-4371-9CAC-B4D191C93604}" type="presParOf" srcId="{BF6AC1BE-88FF-42F3-9C81-E090BCAE5DDF}" destId="{2E7D6F9D-9814-4DB7-BF2D-2532C2693766}" srcOrd="4" destOrd="0" presId="urn:microsoft.com/office/officeart/2005/8/layout/orgChart1"/>
    <dgm:cxn modelId="{6E6FAF5A-0CA0-450B-A93A-671A1C088B3B}" type="presParOf" srcId="{BF6AC1BE-88FF-42F3-9C81-E090BCAE5DDF}" destId="{244475DB-744F-4610-B503-4693E82A2BEE}" srcOrd="5" destOrd="0" presId="urn:microsoft.com/office/officeart/2005/8/layout/orgChart1"/>
    <dgm:cxn modelId="{5CF09A72-CEFB-4744-BBE1-AFB7DEAA0073}" type="presParOf" srcId="{244475DB-744F-4610-B503-4693E82A2BEE}" destId="{000D5A0F-30B1-416F-9C94-711DAB8059A2}" srcOrd="0" destOrd="0" presId="urn:microsoft.com/office/officeart/2005/8/layout/orgChart1"/>
    <dgm:cxn modelId="{984CD1B4-2C9C-4C68-A0D3-1524B659D2CD}" type="presParOf" srcId="{000D5A0F-30B1-416F-9C94-711DAB8059A2}" destId="{4C25DC94-6DB8-43A8-A364-07E623552340}" srcOrd="0" destOrd="0" presId="urn:microsoft.com/office/officeart/2005/8/layout/orgChart1"/>
    <dgm:cxn modelId="{92245F6C-2CBB-4C98-93C7-657A029C5E30}" type="presParOf" srcId="{000D5A0F-30B1-416F-9C94-711DAB8059A2}" destId="{50257E71-0FF6-408A-9B52-4BC7B470AB3F}" srcOrd="1" destOrd="0" presId="urn:microsoft.com/office/officeart/2005/8/layout/orgChart1"/>
    <dgm:cxn modelId="{02F3FBD5-5E85-4DDD-B2C7-DD8C11BE47EC}" type="presParOf" srcId="{244475DB-744F-4610-B503-4693E82A2BEE}" destId="{9B454E3D-F7D4-482A-BC13-092B6E4FC646}" srcOrd="1" destOrd="0" presId="urn:microsoft.com/office/officeart/2005/8/layout/orgChart1"/>
    <dgm:cxn modelId="{BBE95356-13BB-4F58-B2C3-B43AB5B7A1FD}" type="presParOf" srcId="{244475DB-744F-4610-B503-4693E82A2BEE}" destId="{B20CC297-089E-40AD-B62F-7BEB4BFBCEA5}" srcOrd="2" destOrd="0" presId="urn:microsoft.com/office/officeart/2005/8/layout/orgChart1"/>
    <dgm:cxn modelId="{9EBC75CF-74E2-46AF-BCE4-35E0AD41306B}" type="presParOf" srcId="{6E460DC4-982F-4235-BD76-265D724B0A9C}" destId="{F678D32E-F943-4DF3-982A-6163E7073E5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C247F54-DA68-4D4F-A2AA-0E53A6F033E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079A620A-1A23-465A-8A29-2BF88FF8B402}">
      <dgm:prSet/>
      <dgm:spPr>
        <a:solidFill>
          <a:srgbClr val="0F3FD4"/>
        </a:solidFill>
      </dgm:spPr>
      <dgm:t>
        <a:bodyPr/>
        <a:lstStyle/>
        <a:p>
          <a:r>
            <a:rPr lang="it-IT" b="1" dirty="0"/>
            <a:t>Problema di Localizzazione non Capacitato (UFL)</a:t>
          </a:r>
        </a:p>
      </dgm:t>
    </dgm:pt>
    <dgm:pt modelId="{20992757-26EF-4DDB-9222-C3CF0D58E1A6}" type="parTrans" cxnId="{8752FC29-BAF1-4FD2-A70D-1D8B8F77E355}">
      <dgm:prSet/>
      <dgm:spPr/>
      <dgm:t>
        <a:bodyPr/>
        <a:lstStyle/>
        <a:p>
          <a:endParaRPr lang="it-IT"/>
        </a:p>
      </dgm:t>
    </dgm:pt>
    <dgm:pt modelId="{83CF9076-E996-477E-9AB3-37E48AA3CFCB}" type="sibTrans" cxnId="{8752FC29-BAF1-4FD2-A70D-1D8B8F77E355}">
      <dgm:prSet/>
      <dgm:spPr/>
      <dgm:t>
        <a:bodyPr/>
        <a:lstStyle/>
        <a:p>
          <a:endParaRPr lang="it-IT"/>
        </a:p>
      </dgm:t>
    </dgm:pt>
    <dgm:pt modelId="{7CFECEDE-D35F-4375-882A-FB9EA6AA1C04}">
      <dgm:prSet/>
      <dgm:spPr>
        <a:solidFill>
          <a:srgbClr val="0F3FD4"/>
        </a:solidFill>
      </dgm:spPr>
      <dgm:t>
        <a:bodyPr/>
        <a:lstStyle/>
        <a:p>
          <a:r>
            <a:rPr lang="it-IT" b="1" dirty="0"/>
            <a:t>Obiettivi del Progetto</a:t>
          </a:r>
        </a:p>
      </dgm:t>
    </dgm:pt>
    <dgm:pt modelId="{6D174924-1457-4228-A373-A8150DB858E0}" type="parTrans" cxnId="{297FFD52-54FA-4D29-89DE-5370BBF3A84E}">
      <dgm:prSet/>
      <dgm:spPr/>
      <dgm:t>
        <a:bodyPr/>
        <a:lstStyle/>
        <a:p>
          <a:endParaRPr lang="it-IT"/>
        </a:p>
      </dgm:t>
    </dgm:pt>
    <dgm:pt modelId="{346B3AC0-1243-4589-BFCF-5096BD7DAD22}" type="sibTrans" cxnId="{297FFD52-54FA-4D29-89DE-5370BBF3A84E}">
      <dgm:prSet/>
      <dgm:spPr/>
      <dgm:t>
        <a:bodyPr/>
        <a:lstStyle/>
        <a:p>
          <a:endParaRPr lang="it-IT"/>
        </a:p>
      </dgm:t>
    </dgm:pt>
    <dgm:pt modelId="{397C42A3-0CD9-40BF-BA5C-815D9CE026AD}">
      <dgm:prSet/>
      <dgm:spPr>
        <a:solidFill>
          <a:srgbClr val="0F3FD4"/>
        </a:solidFill>
      </dgm:spPr>
      <dgm:t>
        <a:bodyPr/>
        <a:lstStyle/>
        <a:p>
          <a:r>
            <a:rPr lang="it-IT" b="1" dirty="0"/>
            <a:t>Metodologie Implementate</a:t>
          </a:r>
        </a:p>
      </dgm:t>
    </dgm:pt>
    <dgm:pt modelId="{137BFFC3-A59C-4C38-B08C-6DE553E3B600}" type="parTrans" cxnId="{E33EC0AE-46C8-42A8-8E67-35B75614348F}">
      <dgm:prSet/>
      <dgm:spPr/>
      <dgm:t>
        <a:bodyPr/>
        <a:lstStyle/>
        <a:p>
          <a:endParaRPr lang="it-IT"/>
        </a:p>
      </dgm:t>
    </dgm:pt>
    <dgm:pt modelId="{8048D48C-750C-4EB6-8940-6BD4EA76CF21}" type="sibTrans" cxnId="{E33EC0AE-46C8-42A8-8E67-35B75614348F}">
      <dgm:prSet/>
      <dgm:spPr/>
      <dgm:t>
        <a:bodyPr/>
        <a:lstStyle/>
        <a:p>
          <a:endParaRPr lang="it-IT"/>
        </a:p>
      </dgm:t>
    </dgm:pt>
    <dgm:pt modelId="{128B6F98-E5D8-4354-9139-183A9A430589}">
      <dgm:prSet/>
      <dgm:spPr>
        <a:solidFill>
          <a:srgbClr val="0F3FD4"/>
        </a:solidFill>
      </dgm:spPr>
      <dgm:t>
        <a:bodyPr/>
        <a:lstStyle/>
        <a:p>
          <a:r>
            <a:rPr lang="it-IT" b="1" dirty="0"/>
            <a:t>Setup Sperimentale</a:t>
          </a:r>
        </a:p>
      </dgm:t>
    </dgm:pt>
    <dgm:pt modelId="{7982F7D4-A33E-41E8-8046-EF71517F9FEA}" type="parTrans" cxnId="{11ED2C68-344A-4E0E-8662-A61EBDF75BE7}">
      <dgm:prSet/>
      <dgm:spPr/>
      <dgm:t>
        <a:bodyPr/>
        <a:lstStyle/>
        <a:p>
          <a:endParaRPr lang="it-IT"/>
        </a:p>
      </dgm:t>
    </dgm:pt>
    <dgm:pt modelId="{71BB33DE-5FF6-4F5D-820E-24C44134F398}" type="sibTrans" cxnId="{11ED2C68-344A-4E0E-8662-A61EBDF75BE7}">
      <dgm:prSet/>
      <dgm:spPr/>
      <dgm:t>
        <a:bodyPr/>
        <a:lstStyle/>
        <a:p>
          <a:endParaRPr lang="it-IT"/>
        </a:p>
      </dgm:t>
    </dgm:pt>
    <dgm:pt modelId="{0EC35F54-A8A0-4B13-8AAF-BA179CC370B3}">
      <dgm:prSet/>
      <dgm:spPr>
        <a:solidFill>
          <a:srgbClr val="0F3FD4"/>
        </a:solidFill>
      </dgm:spPr>
      <dgm:t>
        <a:bodyPr/>
        <a:lstStyle/>
        <a:p>
          <a:r>
            <a:rPr lang="it-IT" b="1" dirty="0"/>
            <a:t>Analisi dei Risultati</a:t>
          </a:r>
        </a:p>
      </dgm:t>
    </dgm:pt>
    <dgm:pt modelId="{FD00D0E4-8D0D-4FE5-842A-C777267506F7}" type="parTrans" cxnId="{9D31B953-BD59-4151-ADEA-7DA56320164E}">
      <dgm:prSet/>
      <dgm:spPr/>
      <dgm:t>
        <a:bodyPr/>
        <a:lstStyle/>
        <a:p>
          <a:endParaRPr lang="it-IT"/>
        </a:p>
      </dgm:t>
    </dgm:pt>
    <dgm:pt modelId="{2BF7FB90-5209-498A-9D0A-806EA6C24BD3}" type="sibTrans" cxnId="{9D31B953-BD59-4151-ADEA-7DA56320164E}">
      <dgm:prSet/>
      <dgm:spPr/>
      <dgm:t>
        <a:bodyPr/>
        <a:lstStyle/>
        <a:p>
          <a:endParaRPr lang="it-IT"/>
        </a:p>
      </dgm:t>
    </dgm:pt>
    <dgm:pt modelId="{6C924E1A-07F1-4BDE-B41E-C479E4811705}">
      <dgm:prSet/>
      <dgm:spPr>
        <a:solidFill>
          <a:srgbClr val="0F3FD4"/>
        </a:solidFill>
      </dgm:spPr>
      <dgm:t>
        <a:bodyPr/>
        <a:lstStyle/>
        <a:p>
          <a:r>
            <a:rPr lang="it-IT" b="1" dirty="0"/>
            <a:t>Conclusioni</a:t>
          </a:r>
        </a:p>
      </dgm:t>
    </dgm:pt>
    <dgm:pt modelId="{A83E1CA9-8DB0-4C4E-B3EF-14F4BCCAC43E}" type="parTrans" cxnId="{DC3B295B-0DFA-410F-8C03-829749846E97}">
      <dgm:prSet/>
      <dgm:spPr/>
      <dgm:t>
        <a:bodyPr/>
        <a:lstStyle/>
        <a:p>
          <a:endParaRPr lang="it-IT"/>
        </a:p>
      </dgm:t>
    </dgm:pt>
    <dgm:pt modelId="{9F57599A-3ACE-4CE5-9AC7-D1118D9794C6}" type="sibTrans" cxnId="{DC3B295B-0DFA-410F-8C03-829749846E97}">
      <dgm:prSet/>
      <dgm:spPr/>
      <dgm:t>
        <a:bodyPr/>
        <a:lstStyle/>
        <a:p>
          <a:endParaRPr lang="it-IT"/>
        </a:p>
      </dgm:t>
    </dgm:pt>
    <dgm:pt modelId="{3F9BEC21-EE1B-4BDA-9E7E-4DC79F02FB92}" type="pres">
      <dgm:prSet presAssocID="{3C247F54-DA68-4D4F-A2AA-0E53A6F033EB}" presName="Name0" presStyleCnt="0">
        <dgm:presLayoutVars>
          <dgm:dir/>
          <dgm:resizeHandles val="exact"/>
        </dgm:presLayoutVars>
      </dgm:prSet>
      <dgm:spPr/>
    </dgm:pt>
    <dgm:pt modelId="{9BE38D9A-F5A2-43DD-B68B-1A2B74E5E5A2}" type="pres">
      <dgm:prSet presAssocID="{079A620A-1A23-465A-8A29-2BF88FF8B402}" presName="node" presStyleLbl="node1" presStyleIdx="0" presStyleCnt="6">
        <dgm:presLayoutVars>
          <dgm:bulletEnabled val="1"/>
        </dgm:presLayoutVars>
      </dgm:prSet>
      <dgm:spPr/>
    </dgm:pt>
    <dgm:pt modelId="{F92FE481-4710-46EA-BCFB-06946E31FB26}" type="pres">
      <dgm:prSet presAssocID="{83CF9076-E996-477E-9AB3-37E48AA3CFCB}" presName="sibTrans" presStyleLbl="sibTrans2D1" presStyleIdx="0" presStyleCnt="5"/>
      <dgm:spPr/>
    </dgm:pt>
    <dgm:pt modelId="{11D7E44D-4D77-420B-AB96-5438135BC093}" type="pres">
      <dgm:prSet presAssocID="{83CF9076-E996-477E-9AB3-37E48AA3CFCB}" presName="connectorText" presStyleLbl="sibTrans2D1" presStyleIdx="0" presStyleCnt="5"/>
      <dgm:spPr/>
    </dgm:pt>
    <dgm:pt modelId="{8DD3F137-CDC5-4DE5-AB12-57669172FA86}" type="pres">
      <dgm:prSet presAssocID="{7CFECEDE-D35F-4375-882A-FB9EA6AA1C04}" presName="node" presStyleLbl="node1" presStyleIdx="1" presStyleCnt="6">
        <dgm:presLayoutVars>
          <dgm:bulletEnabled val="1"/>
        </dgm:presLayoutVars>
      </dgm:prSet>
      <dgm:spPr/>
    </dgm:pt>
    <dgm:pt modelId="{06756D93-5FF7-48E6-A8D9-1E9721B59661}" type="pres">
      <dgm:prSet presAssocID="{346B3AC0-1243-4589-BFCF-5096BD7DAD22}" presName="sibTrans" presStyleLbl="sibTrans2D1" presStyleIdx="1" presStyleCnt="5"/>
      <dgm:spPr/>
    </dgm:pt>
    <dgm:pt modelId="{CE69EC5A-488F-4582-938B-2E8A710A6F04}" type="pres">
      <dgm:prSet presAssocID="{346B3AC0-1243-4589-BFCF-5096BD7DAD22}" presName="connectorText" presStyleLbl="sibTrans2D1" presStyleIdx="1" presStyleCnt="5"/>
      <dgm:spPr/>
    </dgm:pt>
    <dgm:pt modelId="{99E9E456-DA5E-42E0-B564-EA45F7B7EC6C}" type="pres">
      <dgm:prSet presAssocID="{397C42A3-0CD9-40BF-BA5C-815D9CE026AD}" presName="node" presStyleLbl="node1" presStyleIdx="2" presStyleCnt="6">
        <dgm:presLayoutVars>
          <dgm:bulletEnabled val="1"/>
        </dgm:presLayoutVars>
      </dgm:prSet>
      <dgm:spPr/>
    </dgm:pt>
    <dgm:pt modelId="{C9D02BE0-C7E3-4C5B-991F-226F2AAAEDAC}" type="pres">
      <dgm:prSet presAssocID="{8048D48C-750C-4EB6-8940-6BD4EA76CF21}" presName="sibTrans" presStyleLbl="sibTrans2D1" presStyleIdx="2" presStyleCnt="5"/>
      <dgm:spPr/>
    </dgm:pt>
    <dgm:pt modelId="{B2A9CC66-7B26-4375-BECC-7C00377901E8}" type="pres">
      <dgm:prSet presAssocID="{8048D48C-750C-4EB6-8940-6BD4EA76CF21}" presName="connectorText" presStyleLbl="sibTrans2D1" presStyleIdx="2" presStyleCnt="5"/>
      <dgm:spPr/>
    </dgm:pt>
    <dgm:pt modelId="{C12396EB-B0EB-4EBC-8123-13D75FB93A2D}" type="pres">
      <dgm:prSet presAssocID="{128B6F98-E5D8-4354-9139-183A9A430589}" presName="node" presStyleLbl="node1" presStyleIdx="3" presStyleCnt="6">
        <dgm:presLayoutVars>
          <dgm:bulletEnabled val="1"/>
        </dgm:presLayoutVars>
      </dgm:prSet>
      <dgm:spPr/>
    </dgm:pt>
    <dgm:pt modelId="{B4F38525-45A0-4A90-8357-745E1ED475E3}" type="pres">
      <dgm:prSet presAssocID="{71BB33DE-5FF6-4F5D-820E-24C44134F398}" presName="sibTrans" presStyleLbl="sibTrans2D1" presStyleIdx="3" presStyleCnt="5"/>
      <dgm:spPr/>
    </dgm:pt>
    <dgm:pt modelId="{3E07A4C1-5B87-4440-A94B-B35D651DC509}" type="pres">
      <dgm:prSet presAssocID="{71BB33DE-5FF6-4F5D-820E-24C44134F398}" presName="connectorText" presStyleLbl="sibTrans2D1" presStyleIdx="3" presStyleCnt="5"/>
      <dgm:spPr/>
    </dgm:pt>
    <dgm:pt modelId="{E7079661-DEA5-4500-9CB6-F230B10B1A29}" type="pres">
      <dgm:prSet presAssocID="{0EC35F54-A8A0-4B13-8AAF-BA179CC370B3}" presName="node" presStyleLbl="node1" presStyleIdx="4" presStyleCnt="6">
        <dgm:presLayoutVars>
          <dgm:bulletEnabled val="1"/>
        </dgm:presLayoutVars>
      </dgm:prSet>
      <dgm:spPr/>
    </dgm:pt>
    <dgm:pt modelId="{16289932-4D5C-4D09-B997-129A135FFBCD}" type="pres">
      <dgm:prSet presAssocID="{2BF7FB90-5209-498A-9D0A-806EA6C24BD3}" presName="sibTrans" presStyleLbl="sibTrans2D1" presStyleIdx="4" presStyleCnt="5"/>
      <dgm:spPr/>
    </dgm:pt>
    <dgm:pt modelId="{A7D29895-BEC0-4C7F-9D29-52871A86A0E8}" type="pres">
      <dgm:prSet presAssocID="{2BF7FB90-5209-498A-9D0A-806EA6C24BD3}" presName="connectorText" presStyleLbl="sibTrans2D1" presStyleIdx="4" presStyleCnt="5"/>
      <dgm:spPr/>
    </dgm:pt>
    <dgm:pt modelId="{47EA94A4-A523-45B2-99B9-9F87A104D0FC}" type="pres">
      <dgm:prSet presAssocID="{6C924E1A-07F1-4BDE-B41E-C479E4811705}" presName="node" presStyleLbl="node1" presStyleIdx="5" presStyleCnt="6">
        <dgm:presLayoutVars>
          <dgm:bulletEnabled val="1"/>
        </dgm:presLayoutVars>
      </dgm:prSet>
      <dgm:spPr/>
    </dgm:pt>
  </dgm:ptLst>
  <dgm:cxnLst>
    <dgm:cxn modelId="{AD433F0E-4998-4150-A63D-852CB6CB385E}" type="presOf" srcId="{346B3AC0-1243-4589-BFCF-5096BD7DAD22}" destId="{CE69EC5A-488F-4582-938B-2E8A710A6F04}" srcOrd="1" destOrd="0" presId="urn:microsoft.com/office/officeart/2005/8/layout/process1"/>
    <dgm:cxn modelId="{CD6F241E-4066-43A9-9D8E-0C2587535CD7}" type="presOf" srcId="{8048D48C-750C-4EB6-8940-6BD4EA76CF21}" destId="{C9D02BE0-C7E3-4C5B-991F-226F2AAAEDAC}" srcOrd="0" destOrd="0" presId="urn:microsoft.com/office/officeart/2005/8/layout/process1"/>
    <dgm:cxn modelId="{8752FC29-BAF1-4FD2-A70D-1D8B8F77E355}" srcId="{3C247F54-DA68-4D4F-A2AA-0E53A6F033EB}" destId="{079A620A-1A23-465A-8A29-2BF88FF8B402}" srcOrd="0" destOrd="0" parTransId="{20992757-26EF-4DDB-9222-C3CF0D58E1A6}" sibTransId="{83CF9076-E996-477E-9AB3-37E48AA3CFCB}"/>
    <dgm:cxn modelId="{D6685E2C-3580-4673-AFF4-5A29B8E3875A}" type="presOf" srcId="{346B3AC0-1243-4589-BFCF-5096BD7DAD22}" destId="{06756D93-5FF7-48E6-A8D9-1E9721B59661}" srcOrd="0" destOrd="0" presId="urn:microsoft.com/office/officeart/2005/8/layout/process1"/>
    <dgm:cxn modelId="{C75C352E-8EF6-4540-8225-373EB1C816CA}" type="presOf" srcId="{83CF9076-E996-477E-9AB3-37E48AA3CFCB}" destId="{F92FE481-4710-46EA-BCFB-06946E31FB26}" srcOrd="0" destOrd="0" presId="urn:microsoft.com/office/officeart/2005/8/layout/process1"/>
    <dgm:cxn modelId="{DC3B295B-0DFA-410F-8C03-829749846E97}" srcId="{3C247F54-DA68-4D4F-A2AA-0E53A6F033EB}" destId="{6C924E1A-07F1-4BDE-B41E-C479E4811705}" srcOrd="5" destOrd="0" parTransId="{A83E1CA9-8DB0-4C4E-B3EF-14F4BCCAC43E}" sibTransId="{9F57599A-3ACE-4CE5-9AC7-D1118D9794C6}"/>
    <dgm:cxn modelId="{AB4AC742-2F67-4A1E-85B2-C7B0EACC2505}" type="presOf" srcId="{71BB33DE-5FF6-4F5D-820E-24C44134F398}" destId="{3E07A4C1-5B87-4440-A94B-B35D651DC509}" srcOrd="1" destOrd="0" presId="urn:microsoft.com/office/officeart/2005/8/layout/process1"/>
    <dgm:cxn modelId="{2ED86544-02E1-4B2A-A5F3-0C79213C6D6D}" type="presOf" srcId="{397C42A3-0CD9-40BF-BA5C-815D9CE026AD}" destId="{99E9E456-DA5E-42E0-B564-EA45F7B7EC6C}" srcOrd="0" destOrd="0" presId="urn:microsoft.com/office/officeart/2005/8/layout/process1"/>
    <dgm:cxn modelId="{8BF48366-D839-4876-9210-EEDF7A8D3ED6}" type="presOf" srcId="{3C247F54-DA68-4D4F-A2AA-0E53A6F033EB}" destId="{3F9BEC21-EE1B-4BDA-9E7E-4DC79F02FB92}" srcOrd="0" destOrd="0" presId="urn:microsoft.com/office/officeart/2005/8/layout/process1"/>
    <dgm:cxn modelId="{11ED2C68-344A-4E0E-8662-A61EBDF75BE7}" srcId="{3C247F54-DA68-4D4F-A2AA-0E53A6F033EB}" destId="{128B6F98-E5D8-4354-9139-183A9A430589}" srcOrd="3" destOrd="0" parTransId="{7982F7D4-A33E-41E8-8046-EF71517F9FEA}" sibTransId="{71BB33DE-5FF6-4F5D-820E-24C44134F398}"/>
    <dgm:cxn modelId="{297FFD52-54FA-4D29-89DE-5370BBF3A84E}" srcId="{3C247F54-DA68-4D4F-A2AA-0E53A6F033EB}" destId="{7CFECEDE-D35F-4375-882A-FB9EA6AA1C04}" srcOrd="1" destOrd="0" parTransId="{6D174924-1457-4228-A373-A8150DB858E0}" sibTransId="{346B3AC0-1243-4589-BFCF-5096BD7DAD22}"/>
    <dgm:cxn modelId="{9D31B953-BD59-4151-ADEA-7DA56320164E}" srcId="{3C247F54-DA68-4D4F-A2AA-0E53A6F033EB}" destId="{0EC35F54-A8A0-4B13-8AAF-BA179CC370B3}" srcOrd="4" destOrd="0" parTransId="{FD00D0E4-8D0D-4FE5-842A-C777267506F7}" sibTransId="{2BF7FB90-5209-498A-9D0A-806EA6C24BD3}"/>
    <dgm:cxn modelId="{7E3A1388-7E83-49DE-9A15-988BCBA133A3}" type="presOf" srcId="{128B6F98-E5D8-4354-9139-183A9A430589}" destId="{C12396EB-B0EB-4EBC-8123-13D75FB93A2D}" srcOrd="0" destOrd="0" presId="urn:microsoft.com/office/officeart/2005/8/layout/process1"/>
    <dgm:cxn modelId="{BD5CFA8E-254F-48C4-BA66-DA5A1A3CB1B0}" type="presOf" srcId="{83CF9076-E996-477E-9AB3-37E48AA3CFCB}" destId="{11D7E44D-4D77-420B-AB96-5438135BC093}" srcOrd="1" destOrd="0" presId="urn:microsoft.com/office/officeart/2005/8/layout/process1"/>
    <dgm:cxn modelId="{E33EC0AE-46C8-42A8-8E67-35B75614348F}" srcId="{3C247F54-DA68-4D4F-A2AA-0E53A6F033EB}" destId="{397C42A3-0CD9-40BF-BA5C-815D9CE026AD}" srcOrd="2" destOrd="0" parTransId="{137BFFC3-A59C-4C38-B08C-6DE553E3B600}" sibTransId="{8048D48C-750C-4EB6-8940-6BD4EA76CF21}"/>
    <dgm:cxn modelId="{D6DCD3B3-BE70-4EC7-A16D-7B9536859045}" type="presOf" srcId="{079A620A-1A23-465A-8A29-2BF88FF8B402}" destId="{9BE38D9A-F5A2-43DD-B68B-1A2B74E5E5A2}" srcOrd="0" destOrd="0" presId="urn:microsoft.com/office/officeart/2005/8/layout/process1"/>
    <dgm:cxn modelId="{4798E3B8-3A82-4DFE-824D-C5F541BE1BDB}" type="presOf" srcId="{8048D48C-750C-4EB6-8940-6BD4EA76CF21}" destId="{B2A9CC66-7B26-4375-BECC-7C00377901E8}" srcOrd="1" destOrd="0" presId="urn:microsoft.com/office/officeart/2005/8/layout/process1"/>
    <dgm:cxn modelId="{EEE71DC2-BC7D-42B3-9E1A-E58FB84ACD26}" type="presOf" srcId="{0EC35F54-A8A0-4B13-8AAF-BA179CC370B3}" destId="{E7079661-DEA5-4500-9CB6-F230B10B1A29}" srcOrd="0" destOrd="0" presId="urn:microsoft.com/office/officeart/2005/8/layout/process1"/>
    <dgm:cxn modelId="{22D235C6-02DB-491A-9CFF-3670429878EC}" type="presOf" srcId="{2BF7FB90-5209-498A-9D0A-806EA6C24BD3}" destId="{16289932-4D5C-4D09-B997-129A135FFBCD}" srcOrd="0" destOrd="0" presId="urn:microsoft.com/office/officeart/2005/8/layout/process1"/>
    <dgm:cxn modelId="{FD8487C8-F4E8-4952-83A2-6BCF64C295C7}" type="presOf" srcId="{2BF7FB90-5209-498A-9D0A-806EA6C24BD3}" destId="{A7D29895-BEC0-4C7F-9D29-52871A86A0E8}" srcOrd="1" destOrd="0" presId="urn:microsoft.com/office/officeart/2005/8/layout/process1"/>
    <dgm:cxn modelId="{7DDA94D5-AB97-4673-BF34-1C802941B3EA}" type="presOf" srcId="{6C924E1A-07F1-4BDE-B41E-C479E4811705}" destId="{47EA94A4-A523-45B2-99B9-9F87A104D0FC}" srcOrd="0" destOrd="0" presId="urn:microsoft.com/office/officeart/2005/8/layout/process1"/>
    <dgm:cxn modelId="{4EBE28E8-F7E2-476E-ADD2-56A6A2CE14CA}" type="presOf" srcId="{7CFECEDE-D35F-4375-882A-FB9EA6AA1C04}" destId="{8DD3F137-CDC5-4DE5-AB12-57669172FA86}" srcOrd="0" destOrd="0" presId="urn:microsoft.com/office/officeart/2005/8/layout/process1"/>
    <dgm:cxn modelId="{38B1B3FE-3EE4-48F0-B045-7732E3CEB4BE}" type="presOf" srcId="{71BB33DE-5FF6-4F5D-820E-24C44134F398}" destId="{B4F38525-45A0-4A90-8357-745E1ED475E3}" srcOrd="0" destOrd="0" presId="urn:microsoft.com/office/officeart/2005/8/layout/process1"/>
    <dgm:cxn modelId="{69783940-AA02-4787-8B2C-4A19D558BFA8}" type="presParOf" srcId="{3F9BEC21-EE1B-4BDA-9E7E-4DC79F02FB92}" destId="{9BE38D9A-F5A2-43DD-B68B-1A2B74E5E5A2}" srcOrd="0" destOrd="0" presId="urn:microsoft.com/office/officeart/2005/8/layout/process1"/>
    <dgm:cxn modelId="{67E39481-23F1-405B-9CA7-619314EC31F9}" type="presParOf" srcId="{3F9BEC21-EE1B-4BDA-9E7E-4DC79F02FB92}" destId="{F92FE481-4710-46EA-BCFB-06946E31FB26}" srcOrd="1" destOrd="0" presId="urn:microsoft.com/office/officeart/2005/8/layout/process1"/>
    <dgm:cxn modelId="{217C0FD3-49A0-4F0B-B828-AA14B0E5DA8C}" type="presParOf" srcId="{F92FE481-4710-46EA-BCFB-06946E31FB26}" destId="{11D7E44D-4D77-420B-AB96-5438135BC093}" srcOrd="0" destOrd="0" presId="urn:microsoft.com/office/officeart/2005/8/layout/process1"/>
    <dgm:cxn modelId="{840B436E-0253-41DC-A3FE-F1F7FA731BD5}" type="presParOf" srcId="{3F9BEC21-EE1B-4BDA-9E7E-4DC79F02FB92}" destId="{8DD3F137-CDC5-4DE5-AB12-57669172FA86}" srcOrd="2" destOrd="0" presId="urn:microsoft.com/office/officeart/2005/8/layout/process1"/>
    <dgm:cxn modelId="{CB1975B1-183F-4184-966F-DD57762FD401}" type="presParOf" srcId="{3F9BEC21-EE1B-4BDA-9E7E-4DC79F02FB92}" destId="{06756D93-5FF7-48E6-A8D9-1E9721B59661}" srcOrd="3" destOrd="0" presId="urn:microsoft.com/office/officeart/2005/8/layout/process1"/>
    <dgm:cxn modelId="{8C4AD64F-444B-4331-8703-D833773CE5F9}" type="presParOf" srcId="{06756D93-5FF7-48E6-A8D9-1E9721B59661}" destId="{CE69EC5A-488F-4582-938B-2E8A710A6F04}" srcOrd="0" destOrd="0" presId="urn:microsoft.com/office/officeart/2005/8/layout/process1"/>
    <dgm:cxn modelId="{3AC38599-B9A1-4063-8979-F2D37A5CBE56}" type="presParOf" srcId="{3F9BEC21-EE1B-4BDA-9E7E-4DC79F02FB92}" destId="{99E9E456-DA5E-42E0-B564-EA45F7B7EC6C}" srcOrd="4" destOrd="0" presId="urn:microsoft.com/office/officeart/2005/8/layout/process1"/>
    <dgm:cxn modelId="{0E3C410B-857D-40BD-9956-C041C3D4C3C8}" type="presParOf" srcId="{3F9BEC21-EE1B-4BDA-9E7E-4DC79F02FB92}" destId="{C9D02BE0-C7E3-4C5B-991F-226F2AAAEDAC}" srcOrd="5" destOrd="0" presId="urn:microsoft.com/office/officeart/2005/8/layout/process1"/>
    <dgm:cxn modelId="{06750DBA-DAA5-48BC-9F3F-570F84C9570D}" type="presParOf" srcId="{C9D02BE0-C7E3-4C5B-991F-226F2AAAEDAC}" destId="{B2A9CC66-7B26-4375-BECC-7C00377901E8}" srcOrd="0" destOrd="0" presId="urn:microsoft.com/office/officeart/2005/8/layout/process1"/>
    <dgm:cxn modelId="{628B6458-C83D-4801-93D5-F3825C2D4AC9}" type="presParOf" srcId="{3F9BEC21-EE1B-4BDA-9E7E-4DC79F02FB92}" destId="{C12396EB-B0EB-4EBC-8123-13D75FB93A2D}" srcOrd="6" destOrd="0" presId="urn:microsoft.com/office/officeart/2005/8/layout/process1"/>
    <dgm:cxn modelId="{5E0DE09A-11FC-4ACB-9D0B-A30BD8232BFB}" type="presParOf" srcId="{3F9BEC21-EE1B-4BDA-9E7E-4DC79F02FB92}" destId="{B4F38525-45A0-4A90-8357-745E1ED475E3}" srcOrd="7" destOrd="0" presId="urn:microsoft.com/office/officeart/2005/8/layout/process1"/>
    <dgm:cxn modelId="{20315543-2946-4E96-967F-AA365D7F40F3}" type="presParOf" srcId="{B4F38525-45A0-4A90-8357-745E1ED475E3}" destId="{3E07A4C1-5B87-4440-A94B-B35D651DC509}" srcOrd="0" destOrd="0" presId="urn:microsoft.com/office/officeart/2005/8/layout/process1"/>
    <dgm:cxn modelId="{4F6F735C-DE5F-4C26-951A-364BEB4F2568}" type="presParOf" srcId="{3F9BEC21-EE1B-4BDA-9E7E-4DC79F02FB92}" destId="{E7079661-DEA5-4500-9CB6-F230B10B1A29}" srcOrd="8" destOrd="0" presId="urn:microsoft.com/office/officeart/2005/8/layout/process1"/>
    <dgm:cxn modelId="{00252BE1-C899-41EE-954E-6CA71B13ABFE}" type="presParOf" srcId="{3F9BEC21-EE1B-4BDA-9E7E-4DC79F02FB92}" destId="{16289932-4D5C-4D09-B997-129A135FFBCD}" srcOrd="9" destOrd="0" presId="urn:microsoft.com/office/officeart/2005/8/layout/process1"/>
    <dgm:cxn modelId="{92AA36F1-FA20-4B97-9466-F1762F90744A}" type="presParOf" srcId="{16289932-4D5C-4D09-B997-129A135FFBCD}" destId="{A7D29895-BEC0-4C7F-9D29-52871A86A0E8}" srcOrd="0" destOrd="0" presId="urn:microsoft.com/office/officeart/2005/8/layout/process1"/>
    <dgm:cxn modelId="{CCEE3D3F-A368-4BD2-B39C-6CC250E3BF2A}" type="presParOf" srcId="{3F9BEC21-EE1B-4BDA-9E7E-4DC79F02FB92}" destId="{47EA94A4-A523-45B2-99B9-9F87A104D0F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0B8FDFF-9224-4D2F-91F3-900E390A506A}" type="doc">
      <dgm:prSet loTypeId="urn:microsoft.com/office/officeart/2005/8/layout/pyramid2" loCatId="pyramid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5996059A-045C-497C-9948-1CADC4C84D20}">
      <dgm:prSet phldrT="[Testo]" phldr="0"/>
      <dgm:spPr/>
      <dgm:t>
        <a:bodyPr/>
        <a:lstStyle/>
        <a:p>
          <a:r>
            <a:rPr lang="it-IT" dirty="0"/>
            <a:t>Strong </a:t>
          </a:r>
        </a:p>
      </dgm:t>
    </dgm:pt>
    <dgm:pt modelId="{B0BDB84D-1C15-4291-AE9A-94BF4F14812D}" type="parTrans" cxnId="{123492F5-3C61-4F3E-AA98-FED2B97B19C4}">
      <dgm:prSet/>
      <dgm:spPr/>
      <dgm:t>
        <a:bodyPr/>
        <a:lstStyle/>
        <a:p>
          <a:endParaRPr lang="it-IT"/>
        </a:p>
      </dgm:t>
    </dgm:pt>
    <dgm:pt modelId="{26B859B0-8239-49EC-B734-90980146B1B7}" type="sibTrans" cxnId="{123492F5-3C61-4F3E-AA98-FED2B97B19C4}">
      <dgm:prSet/>
      <dgm:spPr/>
      <dgm:t>
        <a:bodyPr/>
        <a:lstStyle/>
        <a:p>
          <a:endParaRPr lang="it-IT"/>
        </a:p>
      </dgm:t>
    </dgm:pt>
    <dgm:pt modelId="{150F2E57-515D-44D8-A8DF-BF28E2169923}">
      <dgm:prSet phldrT="[Testo]" phldr="0"/>
      <dgm:spPr/>
      <dgm:t>
        <a:bodyPr/>
        <a:lstStyle/>
        <a:p>
          <a:r>
            <a:rPr lang="it-IT" dirty="0"/>
            <a:t>Erlenkotter / Strong_rl / Greedy</a:t>
          </a:r>
        </a:p>
      </dgm:t>
    </dgm:pt>
    <dgm:pt modelId="{CE55B110-5BEB-4800-BC75-160DD466D7A3}" type="parTrans" cxnId="{B1A9CF62-CD36-4B36-B04E-AE58115FC829}">
      <dgm:prSet/>
      <dgm:spPr/>
      <dgm:t>
        <a:bodyPr/>
        <a:lstStyle/>
        <a:p>
          <a:endParaRPr lang="it-IT"/>
        </a:p>
      </dgm:t>
    </dgm:pt>
    <dgm:pt modelId="{F4C2A727-5839-42DB-A31B-45F35160E976}" type="sibTrans" cxnId="{B1A9CF62-CD36-4B36-B04E-AE58115FC829}">
      <dgm:prSet/>
      <dgm:spPr/>
      <dgm:t>
        <a:bodyPr/>
        <a:lstStyle/>
        <a:p>
          <a:endParaRPr lang="it-IT"/>
        </a:p>
      </dgm:t>
    </dgm:pt>
    <dgm:pt modelId="{7297D31D-C044-4A09-A7D7-B04AF7D4DB2F}">
      <dgm:prSet phldrT="[Testo]" phldr="0"/>
      <dgm:spPr/>
      <dgm:t>
        <a:bodyPr/>
        <a:lstStyle/>
        <a:p>
          <a:r>
            <a:rPr lang="it-IT" dirty="0" err="1"/>
            <a:t>Weak_rl</a:t>
          </a:r>
          <a:endParaRPr lang="it-IT" dirty="0"/>
        </a:p>
      </dgm:t>
    </dgm:pt>
    <dgm:pt modelId="{4A239DB9-295B-48CF-99B4-9CA4726C52D1}" type="parTrans" cxnId="{5222B28D-D579-458D-90FA-0169996FCF8A}">
      <dgm:prSet/>
      <dgm:spPr/>
      <dgm:t>
        <a:bodyPr/>
        <a:lstStyle/>
        <a:p>
          <a:endParaRPr lang="it-IT"/>
        </a:p>
      </dgm:t>
    </dgm:pt>
    <dgm:pt modelId="{35B6B68E-D04D-40D1-9F83-43F2D4B3D13B}" type="sibTrans" cxnId="{5222B28D-D579-458D-90FA-0169996FCF8A}">
      <dgm:prSet/>
      <dgm:spPr/>
      <dgm:t>
        <a:bodyPr/>
        <a:lstStyle/>
        <a:p>
          <a:endParaRPr lang="it-IT"/>
        </a:p>
      </dgm:t>
    </dgm:pt>
    <dgm:pt modelId="{926C0934-1B5C-4493-AD64-0A014B414D0E}" type="pres">
      <dgm:prSet presAssocID="{D0B8FDFF-9224-4D2F-91F3-900E390A506A}" presName="compositeShape" presStyleCnt="0">
        <dgm:presLayoutVars>
          <dgm:dir/>
          <dgm:resizeHandles/>
        </dgm:presLayoutVars>
      </dgm:prSet>
      <dgm:spPr/>
    </dgm:pt>
    <dgm:pt modelId="{DC09B6A2-C4AA-4C7D-B825-8AA3D7EBD218}" type="pres">
      <dgm:prSet presAssocID="{D0B8FDFF-9224-4D2F-91F3-900E390A506A}" presName="pyramid" presStyleLbl="node1" presStyleIdx="0" presStyleCnt="1" custLinFactX="121645" custLinFactY="62479" custLinFactNeighborX="200000" custLinFactNeighborY="100000"/>
      <dgm:spPr/>
    </dgm:pt>
    <dgm:pt modelId="{7E487E64-8ED4-409B-93EA-378AF5906ADB}" type="pres">
      <dgm:prSet presAssocID="{D0B8FDFF-9224-4D2F-91F3-900E390A506A}" presName="theList" presStyleCnt="0"/>
      <dgm:spPr/>
    </dgm:pt>
    <dgm:pt modelId="{F7A38F8D-BEC1-45CB-9475-F582EFAF923A}" type="pres">
      <dgm:prSet presAssocID="{5996059A-045C-497C-9948-1CADC4C84D20}" presName="aNode" presStyleLbl="fgAcc1" presStyleIdx="0" presStyleCnt="3">
        <dgm:presLayoutVars>
          <dgm:bulletEnabled val="1"/>
        </dgm:presLayoutVars>
      </dgm:prSet>
      <dgm:spPr/>
    </dgm:pt>
    <dgm:pt modelId="{E3D6E56D-9A01-4412-9DA1-E12BA1138511}" type="pres">
      <dgm:prSet presAssocID="{5996059A-045C-497C-9948-1CADC4C84D20}" presName="aSpace" presStyleCnt="0"/>
      <dgm:spPr/>
    </dgm:pt>
    <dgm:pt modelId="{D3F524E0-57E9-4598-95BB-A69CCF1F1BBE}" type="pres">
      <dgm:prSet presAssocID="{150F2E57-515D-44D8-A8DF-BF28E2169923}" presName="aNode" presStyleLbl="fgAcc1" presStyleIdx="1" presStyleCnt="3">
        <dgm:presLayoutVars>
          <dgm:bulletEnabled val="1"/>
        </dgm:presLayoutVars>
      </dgm:prSet>
      <dgm:spPr/>
    </dgm:pt>
    <dgm:pt modelId="{F90922C7-BA4F-4D05-AA62-72D25086334A}" type="pres">
      <dgm:prSet presAssocID="{150F2E57-515D-44D8-A8DF-BF28E2169923}" presName="aSpace" presStyleCnt="0"/>
      <dgm:spPr/>
    </dgm:pt>
    <dgm:pt modelId="{9BE6090A-0121-420E-9FF0-D3B423F95307}" type="pres">
      <dgm:prSet presAssocID="{7297D31D-C044-4A09-A7D7-B04AF7D4DB2F}" presName="aNode" presStyleLbl="fgAcc1" presStyleIdx="2" presStyleCnt="3">
        <dgm:presLayoutVars>
          <dgm:bulletEnabled val="1"/>
        </dgm:presLayoutVars>
      </dgm:prSet>
      <dgm:spPr/>
    </dgm:pt>
    <dgm:pt modelId="{6B342E77-9528-4D7D-B780-A72024BEF236}" type="pres">
      <dgm:prSet presAssocID="{7297D31D-C044-4A09-A7D7-B04AF7D4DB2F}" presName="aSpace" presStyleCnt="0"/>
      <dgm:spPr/>
    </dgm:pt>
  </dgm:ptLst>
  <dgm:cxnLst>
    <dgm:cxn modelId="{B1A9CF62-CD36-4B36-B04E-AE58115FC829}" srcId="{D0B8FDFF-9224-4D2F-91F3-900E390A506A}" destId="{150F2E57-515D-44D8-A8DF-BF28E2169923}" srcOrd="1" destOrd="0" parTransId="{CE55B110-5BEB-4800-BC75-160DD466D7A3}" sibTransId="{F4C2A727-5839-42DB-A31B-45F35160E976}"/>
    <dgm:cxn modelId="{32221469-D4A9-48CC-8AA0-F10EE22DC66A}" type="presOf" srcId="{7297D31D-C044-4A09-A7D7-B04AF7D4DB2F}" destId="{9BE6090A-0121-420E-9FF0-D3B423F95307}" srcOrd="0" destOrd="0" presId="urn:microsoft.com/office/officeart/2005/8/layout/pyramid2"/>
    <dgm:cxn modelId="{8EB86E76-F5E3-4DBE-A4FF-E79AB07C6F46}" type="presOf" srcId="{D0B8FDFF-9224-4D2F-91F3-900E390A506A}" destId="{926C0934-1B5C-4493-AD64-0A014B414D0E}" srcOrd="0" destOrd="0" presId="urn:microsoft.com/office/officeart/2005/8/layout/pyramid2"/>
    <dgm:cxn modelId="{5222B28D-D579-458D-90FA-0169996FCF8A}" srcId="{D0B8FDFF-9224-4D2F-91F3-900E390A506A}" destId="{7297D31D-C044-4A09-A7D7-B04AF7D4DB2F}" srcOrd="2" destOrd="0" parTransId="{4A239DB9-295B-48CF-99B4-9CA4726C52D1}" sibTransId="{35B6B68E-D04D-40D1-9F83-43F2D4B3D13B}"/>
    <dgm:cxn modelId="{386A76F1-CB37-4D16-8B69-B923B07C857B}" type="presOf" srcId="{5996059A-045C-497C-9948-1CADC4C84D20}" destId="{F7A38F8D-BEC1-45CB-9475-F582EFAF923A}" srcOrd="0" destOrd="0" presId="urn:microsoft.com/office/officeart/2005/8/layout/pyramid2"/>
    <dgm:cxn modelId="{964E97F4-56D6-48E1-9576-3672E0F682AA}" type="presOf" srcId="{150F2E57-515D-44D8-A8DF-BF28E2169923}" destId="{D3F524E0-57E9-4598-95BB-A69CCF1F1BBE}" srcOrd="0" destOrd="0" presId="urn:microsoft.com/office/officeart/2005/8/layout/pyramid2"/>
    <dgm:cxn modelId="{123492F5-3C61-4F3E-AA98-FED2B97B19C4}" srcId="{D0B8FDFF-9224-4D2F-91F3-900E390A506A}" destId="{5996059A-045C-497C-9948-1CADC4C84D20}" srcOrd="0" destOrd="0" parTransId="{B0BDB84D-1C15-4291-AE9A-94BF4F14812D}" sibTransId="{26B859B0-8239-49EC-B734-90980146B1B7}"/>
    <dgm:cxn modelId="{A2645D5D-43C9-4012-8477-FD4AF249E191}" type="presParOf" srcId="{926C0934-1B5C-4493-AD64-0A014B414D0E}" destId="{DC09B6A2-C4AA-4C7D-B825-8AA3D7EBD218}" srcOrd="0" destOrd="0" presId="urn:microsoft.com/office/officeart/2005/8/layout/pyramid2"/>
    <dgm:cxn modelId="{16F9E5AC-130B-48E4-8F5B-A9DBB71011DD}" type="presParOf" srcId="{926C0934-1B5C-4493-AD64-0A014B414D0E}" destId="{7E487E64-8ED4-409B-93EA-378AF5906ADB}" srcOrd="1" destOrd="0" presId="urn:microsoft.com/office/officeart/2005/8/layout/pyramid2"/>
    <dgm:cxn modelId="{35FD640A-739C-4A83-AC84-2DE09F231053}" type="presParOf" srcId="{7E487E64-8ED4-409B-93EA-378AF5906ADB}" destId="{F7A38F8D-BEC1-45CB-9475-F582EFAF923A}" srcOrd="0" destOrd="0" presId="urn:microsoft.com/office/officeart/2005/8/layout/pyramid2"/>
    <dgm:cxn modelId="{4E369BB9-9E38-49CB-94DF-32DC8653A6AF}" type="presParOf" srcId="{7E487E64-8ED4-409B-93EA-378AF5906ADB}" destId="{E3D6E56D-9A01-4412-9DA1-E12BA1138511}" srcOrd="1" destOrd="0" presId="urn:microsoft.com/office/officeart/2005/8/layout/pyramid2"/>
    <dgm:cxn modelId="{66F502E3-C953-414A-8D11-69EF296DF1F9}" type="presParOf" srcId="{7E487E64-8ED4-409B-93EA-378AF5906ADB}" destId="{D3F524E0-57E9-4598-95BB-A69CCF1F1BBE}" srcOrd="2" destOrd="0" presId="urn:microsoft.com/office/officeart/2005/8/layout/pyramid2"/>
    <dgm:cxn modelId="{F8A91BFC-6B90-4CE5-B05F-31FBC45FD408}" type="presParOf" srcId="{7E487E64-8ED4-409B-93EA-378AF5906ADB}" destId="{F90922C7-BA4F-4D05-AA62-72D25086334A}" srcOrd="3" destOrd="0" presId="urn:microsoft.com/office/officeart/2005/8/layout/pyramid2"/>
    <dgm:cxn modelId="{DF5AF369-51B0-4D40-9BDC-F177E31C82CE}" type="presParOf" srcId="{7E487E64-8ED4-409B-93EA-378AF5906ADB}" destId="{9BE6090A-0121-420E-9FF0-D3B423F95307}" srcOrd="4" destOrd="0" presId="urn:microsoft.com/office/officeart/2005/8/layout/pyramid2"/>
    <dgm:cxn modelId="{B534A4B2-E197-46C5-9523-DCC4816DB307}" type="presParOf" srcId="{7E487E64-8ED4-409B-93EA-378AF5906ADB}" destId="{6B342E77-9528-4D7D-B780-A72024BEF236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0B8FDFF-9224-4D2F-91F3-900E390A506A}" type="doc">
      <dgm:prSet loTypeId="urn:microsoft.com/office/officeart/2005/8/layout/pyramid2" loCatId="pyramid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5996059A-045C-497C-9948-1CADC4C84D20}">
      <dgm:prSet phldrT="[Testo]" phldr="0"/>
      <dgm:spPr/>
      <dgm:t>
        <a:bodyPr/>
        <a:lstStyle/>
        <a:p>
          <a:r>
            <a:rPr lang="it-IT" dirty="0"/>
            <a:t>Strong </a:t>
          </a:r>
        </a:p>
      </dgm:t>
    </dgm:pt>
    <dgm:pt modelId="{B0BDB84D-1C15-4291-AE9A-94BF4F14812D}" type="parTrans" cxnId="{123492F5-3C61-4F3E-AA98-FED2B97B19C4}">
      <dgm:prSet/>
      <dgm:spPr/>
      <dgm:t>
        <a:bodyPr/>
        <a:lstStyle/>
        <a:p>
          <a:endParaRPr lang="it-IT"/>
        </a:p>
      </dgm:t>
    </dgm:pt>
    <dgm:pt modelId="{26B859B0-8239-49EC-B734-90980146B1B7}" type="sibTrans" cxnId="{123492F5-3C61-4F3E-AA98-FED2B97B19C4}">
      <dgm:prSet/>
      <dgm:spPr/>
      <dgm:t>
        <a:bodyPr/>
        <a:lstStyle/>
        <a:p>
          <a:endParaRPr lang="it-IT"/>
        </a:p>
      </dgm:t>
    </dgm:pt>
    <dgm:pt modelId="{150F2E57-515D-44D8-A8DF-BF28E2169923}">
      <dgm:prSet phldrT="[Testo]" phldr="0"/>
      <dgm:spPr/>
      <dgm:t>
        <a:bodyPr/>
        <a:lstStyle/>
        <a:p>
          <a:r>
            <a:rPr lang="it-IT" dirty="0"/>
            <a:t>Erlenkotter / </a:t>
          </a:r>
          <a:r>
            <a:rPr lang="it-IT" dirty="0" err="1"/>
            <a:t>Strong_rl</a:t>
          </a:r>
          <a:endParaRPr lang="it-IT" dirty="0"/>
        </a:p>
      </dgm:t>
    </dgm:pt>
    <dgm:pt modelId="{CE55B110-5BEB-4800-BC75-160DD466D7A3}" type="parTrans" cxnId="{B1A9CF62-CD36-4B36-B04E-AE58115FC829}">
      <dgm:prSet/>
      <dgm:spPr/>
      <dgm:t>
        <a:bodyPr/>
        <a:lstStyle/>
        <a:p>
          <a:endParaRPr lang="it-IT"/>
        </a:p>
      </dgm:t>
    </dgm:pt>
    <dgm:pt modelId="{F4C2A727-5839-42DB-A31B-45F35160E976}" type="sibTrans" cxnId="{B1A9CF62-CD36-4B36-B04E-AE58115FC829}">
      <dgm:prSet/>
      <dgm:spPr/>
      <dgm:t>
        <a:bodyPr/>
        <a:lstStyle/>
        <a:p>
          <a:endParaRPr lang="it-IT"/>
        </a:p>
      </dgm:t>
    </dgm:pt>
    <dgm:pt modelId="{7297D31D-C044-4A09-A7D7-B04AF7D4DB2F}">
      <dgm:prSet phldrT="[Testo]" phldr="0"/>
      <dgm:spPr/>
      <dgm:t>
        <a:bodyPr/>
        <a:lstStyle/>
        <a:p>
          <a:r>
            <a:rPr lang="it-IT" dirty="0" err="1"/>
            <a:t>Weak_rl</a:t>
          </a:r>
          <a:endParaRPr lang="it-IT" dirty="0"/>
        </a:p>
      </dgm:t>
    </dgm:pt>
    <dgm:pt modelId="{4A239DB9-295B-48CF-99B4-9CA4726C52D1}" type="parTrans" cxnId="{5222B28D-D579-458D-90FA-0169996FCF8A}">
      <dgm:prSet/>
      <dgm:spPr/>
      <dgm:t>
        <a:bodyPr/>
        <a:lstStyle/>
        <a:p>
          <a:endParaRPr lang="it-IT"/>
        </a:p>
      </dgm:t>
    </dgm:pt>
    <dgm:pt modelId="{35B6B68E-D04D-40D1-9F83-43F2D4B3D13B}" type="sibTrans" cxnId="{5222B28D-D579-458D-90FA-0169996FCF8A}">
      <dgm:prSet/>
      <dgm:spPr/>
      <dgm:t>
        <a:bodyPr/>
        <a:lstStyle/>
        <a:p>
          <a:endParaRPr lang="it-IT"/>
        </a:p>
      </dgm:t>
    </dgm:pt>
    <dgm:pt modelId="{E5D4E847-68FF-4C4C-A962-E03947E27284}">
      <dgm:prSet phldrT="[Testo]" phldr="0"/>
      <dgm:spPr/>
      <dgm:t>
        <a:bodyPr/>
        <a:lstStyle/>
        <a:p>
          <a:r>
            <a:rPr lang="it-IT"/>
            <a:t>Greedy</a:t>
          </a:r>
          <a:endParaRPr lang="it-IT" dirty="0"/>
        </a:p>
      </dgm:t>
    </dgm:pt>
    <dgm:pt modelId="{1407E86D-12B0-4844-9B46-2938859275C2}" type="parTrans" cxnId="{06144C13-8EB8-48FB-A667-14FC8A8124B6}">
      <dgm:prSet/>
      <dgm:spPr/>
      <dgm:t>
        <a:bodyPr/>
        <a:lstStyle/>
        <a:p>
          <a:endParaRPr lang="it-IT"/>
        </a:p>
      </dgm:t>
    </dgm:pt>
    <dgm:pt modelId="{74CA71C7-1ADF-429D-8D6B-35EC6C4C2E25}" type="sibTrans" cxnId="{06144C13-8EB8-48FB-A667-14FC8A8124B6}">
      <dgm:prSet/>
      <dgm:spPr/>
      <dgm:t>
        <a:bodyPr/>
        <a:lstStyle/>
        <a:p>
          <a:endParaRPr lang="it-IT"/>
        </a:p>
      </dgm:t>
    </dgm:pt>
    <dgm:pt modelId="{926C0934-1B5C-4493-AD64-0A014B414D0E}" type="pres">
      <dgm:prSet presAssocID="{D0B8FDFF-9224-4D2F-91F3-900E390A506A}" presName="compositeShape" presStyleCnt="0">
        <dgm:presLayoutVars>
          <dgm:dir/>
          <dgm:resizeHandles/>
        </dgm:presLayoutVars>
      </dgm:prSet>
      <dgm:spPr/>
    </dgm:pt>
    <dgm:pt modelId="{DC09B6A2-C4AA-4C7D-B825-8AA3D7EBD218}" type="pres">
      <dgm:prSet presAssocID="{D0B8FDFF-9224-4D2F-91F3-900E390A506A}" presName="pyramid" presStyleLbl="node1" presStyleIdx="0" presStyleCnt="1" custLinFactX="121645" custLinFactY="62479" custLinFactNeighborX="200000" custLinFactNeighborY="100000"/>
      <dgm:spPr/>
    </dgm:pt>
    <dgm:pt modelId="{7E487E64-8ED4-409B-93EA-378AF5906ADB}" type="pres">
      <dgm:prSet presAssocID="{D0B8FDFF-9224-4D2F-91F3-900E390A506A}" presName="theList" presStyleCnt="0"/>
      <dgm:spPr/>
    </dgm:pt>
    <dgm:pt modelId="{F7A38F8D-BEC1-45CB-9475-F582EFAF923A}" type="pres">
      <dgm:prSet presAssocID="{5996059A-045C-497C-9948-1CADC4C84D20}" presName="aNode" presStyleLbl="fgAcc1" presStyleIdx="0" presStyleCnt="4">
        <dgm:presLayoutVars>
          <dgm:bulletEnabled val="1"/>
        </dgm:presLayoutVars>
      </dgm:prSet>
      <dgm:spPr/>
    </dgm:pt>
    <dgm:pt modelId="{E3D6E56D-9A01-4412-9DA1-E12BA1138511}" type="pres">
      <dgm:prSet presAssocID="{5996059A-045C-497C-9948-1CADC4C84D20}" presName="aSpace" presStyleCnt="0"/>
      <dgm:spPr/>
    </dgm:pt>
    <dgm:pt modelId="{D3F524E0-57E9-4598-95BB-A69CCF1F1BBE}" type="pres">
      <dgm:prSet presAssocID="{150F2E57-515D-44D8-A8DF-BF28E2169923}" presName="aNode" presStyleLbl="fgAcc1" presStyleIdx="1" presStyleCnt="4">
        <dgm:presLayoutVars>
          <dgm:bulletEnabled val="1"/>
        </dgm:presLayoutVars>
      </dgm:prSet>
      <dgm:spPr/>
    </dgm:pt>
    <dgm:pt modelId="{F90922C7-BA4F-4D05-AA62-72D25086334A}" type="pres">
      <dgm:prSet presAssocID="{150F2E57-515D-44D8-A8DF-BF28E2169923}" presName="aSpace" presStyleCnt="0"/>
      <dgm:spPr/>
    </dgm:pt>
    <dgm:pt modelId="{48F1BA66-5600-4A13-A812-C00D783FD231}" type="pres">
      <dgm:prSet presAssocID="{E5D4E847-68FF-4C4C-A962-E03947E27284}" presName="aNode" presStyleLbl="fgAcc1" presStyleIdx="2" presStyleCnt="4">
        <dgm:presLayoutVars>
          <dgm:bulletEnabled val="1"/>
        </dgm:presLayoutVars>
      </dgm:prSet>
      <dgm:spPr/>
    </dgm:pt>
    <dgm:pt modelId="{599E2FBF-9AC8-42C1-997D-F44A7B216C4C}" type="pres">
      <dgm:prSet presAssocID="{E5D4E847-68FF-4C4C-A962-E03947E27284}" presName="aSpace" presStyleCnt="0"/>
      <dgm:spPr/>
    </dgm:pt>
    <dgm:pt modelId="{9BE6090A-0121-420E-9FF0-D3B423F95307}" type="pres">
      <dgm:prSet presAssocID="{7297D31D-C044-4A09-A7D7-B04AF7D4DB2F}" presName="aNode" presStyleLbl="fgAcc1" presStyleIdx="3" presStyleCnt="4">
        <dgm:presLayoutVars>
          <dgm:bulletEnabled val="1"/>
        </dgm:presLayoutVars>
      </dgm:prSet>
      <dgm:spPr/>
    </dgm:pt>
    <dgm:pt modelId="{6B342E77-9528-4D7D-B780-A72024BEF236}" type="pres">
      <dgm:prSet presAssocID="{7297D31D-C044-4A09-A7D7-B04AF7D4DB2F}" presName="aSpace" presStyleCnt="0"/>
      <dgm:spPr/>
    </dgm:pt>
  </dgm:ptLst>
  <dgm:cxnLst>
    <dgm:cxn modelId="{06144C13-8EB8-48FB-A667-14FC8A8124B6}" srcId="{D0B8FDFF-9224-4D2F-91F3-900E390A506A}" destId="{E5D4E847-68FF-4C4C-A962-E03947E27284}" srcOrd="2" destOrd="0" parTransId="{1407E86D-12B0-4844-9B46-2938859275C2}" sibTransId="{74CA71C7-1ADF-429D-8D6B-35EC6C4C2E25}"/>
    <dgm:cxn modelId="{B1A9CF62-CD36-4B36-B04E-AE58115FC829}" srcId="{D0B8FDFF-9224-4D2F-91F3-900E390A506A}" destId="{150F2E57-515D-44D8-A8DF-BF28E2169923}" srcOrd="1" destOrd="0" parTransId="{CE55B110-5BEB-4800-BC75-160DD466D7A3}" sibTransId="{F4C2A727-5839-42DB-A31B-45F35160E976}"/>
    <dgm:cxn modelId="{32221469-D4A9-48CC-8AA0-F10EE22DC66A}" type="presOf" srcId="{7297D31D-C044-4A09-A7D7-B04AF7D4DB2F}" destId="{9BE6090A-0121-420E-9FF0-D3B423F95307}" srcOrd="0" destOrd="0" presId="urn:microsoft.com/office/officeart/2005/8/layout/pyramid2"/>
    <dgm:cxn modelId="{1A27AF75-EDCC-42FA-ABC4-C272F4EAD36F}" type="presOf" srcId="{E5D4E847-68FF-4C4C-A962-E03947E27284}" destId="{48F1BA66-5600-4A13-A812-C00D783FD231}" srcOrd="0" destOrd="0" presId="urn:microsoft.com/office/officeart/2005/8/layout/pyramid2"/>
    <dgm:cxn modelId="{8EB86E76-F5E3-4DBE-A4FF-E79AB07C6F46}" type="presOf" srcId="{D0B8FDFF-9224-4D2F-91F3-900E390A506A}" destId="{926C0934-1B5C-4493-AD64-0A014B414D0E}" srcOrd="0" destOrd="0" presId="urn:microsoft.com/office/officeart/2005/8/layout/pyramid2"/>
    <dgm:cxn modelId="{5222B28D-D579-458D-90FA-0169996FCF8A}" srcId="{D0B8FDFF-9224-4D2F-91F3-900E390A506A}" destId="{7297D31D-C044-4A09-A7D7-B04AF7D4DB2F}" srcOrd="3" destOrd="0" parTransId="{4A239DB9-295B-48CF-99B4-9CA4726C52D1}" sibTransId="{35B6B68E-D04D-40D1-9F83-43F2D4B3D13B}"/>
    <dgm:cxn modelId="{386A76F1-CB37-4D16-8B69-B923B07C857B}" type="presOf" srcId="{5996059A-045C-497C-9948-1CADC4C84D20}" destId="{F7A38F8D-BEC1-45CB-9475-F582EFAF923A}" srcOrd="0" destOrd="0" presId="urn:microsoft.com/office/officeart/2005/8/layout/pyramid2"/>
    <dgm:cxn modelId="{964E97F4-56D6-48E1-9576-3672E0F682AA}" type="presOf" srcId="{150F2E57-515D-44D8-A8DF-BF28E2169923}" destId="{D3F524E0-57E9-4598-95BB-A69CCF1F1BBE}" srcOrd="0" destOrd="0" presId="urn:microsoft.com/office/officeart/2005/8/layout/pyramid2"/>
    <dgm:cxn modelId="{123492F5-3C61-4F3E-AA98-FED2B97B19C4}" srcId="{D0B8FDFF-9224-4D2F-91F3-900E390A506A}" destId="{5996059A-045C-497C-9948-1CADC4C84D20}" srcOrd="0" destOrd="0" parTransId="{B0BDB84D-1C15-4291-AE9A-94BF4F14812D}" sibTransId="{26B859B0-8239-49EC-B734-90980146B1B7}"/>
    <dgm:cxn modelId="{A2645D5D-43C9-4012-8477-FD4AF249E191}" type="presParOf" srcId="{926C0934-1B5C-4493-AD64-0A014B414D0E}" destId="{DC09B6A2-C4AA-4C7D-B825-8AA3D7EBD218}" srcOrd="0" destOrd="0" presId="urn:microsoft.com/office/officeart/2005/8/layout/pyramid2"/>
    <dgm:cxn modelId="{16F9E5AC-130B-48E4-8F5B-A9DBB71011DD}" type="presParOf" srcId="{926C0934-1B5C-4493-AD64-0A014B414D0E}" destId="{7E487E64-8ED4-409B-93EA-378AF5906ADB}" srcOrd="1" destOrd="0" presId="urn:microsoft.com/office/officeart/2005/8/layout/pyramid2"/>
    <dgm:cxn modelId="{35FD640A-739C-4A83-AC84-2DE09F231053}" type="presParOf" srcId="{7E487E64-8ED4-409B-93EA-378AF5906ADB}" destId="{F7A38F8D-BEC1-45CB-9475-F582EFAF923A}" srcOrd="0" destOrd="0" presId="urn:microsoft.com/office/officeart/2005/8/layout/pyramid2"/>
    <dgm:cxn modelId="{4E369BB9-9E38-49CB-94DF-32DC8653A6AF}" type="presParOf" srcId="{7E487E64-8ED4-409B-93EA-378AF5906ADB}" destId="{E3D6E56D-9A01-4412-9DA1-E12BA1138511}" srcOrd="1" destOrd="0" presId="urn:microsoft.com/office/officeart/2005/8/layout/pyramid2"/>
    <dgm:cxn modelId="{66F502E3-C953-414A-8D11-69EF296DF1F9}" type="presParOf" srcId="{7E487E64-8ED4-409B-93EA-378AF5906ADB}" destId="{D3F524E0-57E9-4598-95BB-A69CCF1F1BBE}" srcOrd="2" destOrd="0" presId="urn:microsoft.com/office/officeart/2005/8/layout/pyramid2"/>
    <dgm:cxn modelId="{F8A91BFC-6B90-4CE5-B05F-31FBC45FD408}" type="presParOf" srcId="{7E487E64-8ED4-409B-93EA-378AF5906ADB}" destId="{F90922C7-BA4F-4D05-AA62-72D25086334A}" srcOrd="3" destOrd="0" presId="urn:microsoft.com/office/officeart/2005/8/layout/pyramid2"/>
    <dgm:cxn modelId="{0CBD5B42-D697-462A-8B77-DA36B12C9716}" type="presParOf" srcId="{7E487E64-8ED4-409B-93EA-378AF5906ADB}" destId="{48F1BA66-5600-4A13-A812-C00D783FD231}" srcOrd="4" destOrd="0" presId="urn:microsoft.com/office/officeart/2005/8/layout/pyramid2"/>
    <dgm:cxn modelId="{CA92A1B6-B533-4FAD-9BE1-DE9D203833E3}" type="presParOf" srcId="{7E487E64-8ED4-409B-93EA-378AF5906ADB}" destId="{599E2FBF-9AC8-42C1-997D-F44A7B216C4C}" srcOrd="5" destOrd="0" presId="urn:microsoft.com/office/officeart/2005/8/layout/pyramid2"/>
    <dgm:cxn modelId="{DF5AF369-51B0-4D40-9BDC-F177E31C82CE}" type="presParOf" srcId="{7E487E64-8ED4-409B-93EA-378AF5906ADB}" destId="{9BE6090A-0121-420E-9FF0-D3B423F95307}" srcOrd="6" destOrd="0" presId="urn:microsoft.com/office/officeart/2005/8/layout/pyramid2"/>
    <dgm:cxn modelId="{B534A4B2-E197-46C5-9523-DCC4816DB307}" type="presParOf" srcId="{7E487E64-8ED4-409B-93EA-378AF5906ADB}" destId="{6B342E77-9528-4D7D-B780-A72024BEF236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0B8FDFF-9224-4D2F-91F3-900E390A506A}" type="doc">
      <dgm:prSet loTypeId="urn:microsoft.com/office/officeart/2005/8/layout/pyramid2" loCatId="pyramid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5996059A-045C-497C-9948-1CADC4C84D20}">
      <dgm:prSet phldrT="[Testo]" phldr="0"/>
      <dgm:spPr/>
      <dgm:t>
        <a:bodyPr/>
        <a:lstStyle/>
        <a:p>
          <a:r>
            <a:rPr lang="it-IT" dirty="0"/>
            <a:t>Strong </a:t>
          </a:r>
        </a:p>
      </dgm:t>
    </dgm:pt>
    <dgm:pt modelId="{B0BDB84D-1C15-4291-AE9A-94BF4F14812D}" type="parTrans" cxnId="{123492F5-3C61-4F3E-AA98-FED2B97B19C4}">
      <dgm:prSet/>
      <dgm:spPr/>
      <dgm:t>
        <a:bodyPr/>
        <a:lstStyle/>
        <a:p>
          <a:endParaRPr lang="it-IT"/>
        </a:p>
      </dgm:t>
    </dgm:pt>
    <dgm:pt modelId="{26B859B0-8239-49EC-B734-90980146B1B7}" type="sibTrans" cxnId="{123492F5-3C61-4F3E-AA98-FED2B97B19C4}">
      <dgm:prSet/>
      <dgm:spPr/>
      <dgm:t>
        <a:bodyPr/>
        <a:lstStyle/>
        <a:p>
          <a:endParaRPr lang="it-IT"/>
        </a:p>
      </dgm:t>
    </dgm:pt>
    <dgm:pt modelId="{150F2E57-515D-44D8-A8DF-BF28E2169923}">
      <dgm:prSet phldrT="[Testo]" phldr="0"/>
      <dgm:spPr/>
      <dgm:t>
        <a:bodyPr/>
        <a:lstStyle/>
        <a:p>
          <a:r>
            <a:rPr lang="it-IT" dirty="0"/>
            <a:t>Erlenkotter / </a:t>
          </a:r>
          <a:r>
            <a:rPr lang="it-IT" dirty="0" err="1"/>
            <a:t>Strong_rl</a:t>
          </a:r>
          <a:endParaRPr lang="it-IT" dirty="0"/>
        </a:p>
      </dgm:t>
    </dgm:pt>
    <dgm:pt modelId="{CE55B110-5BEB-4800-BC75-160DD466D7A3}" type="parTrans" cxnId="{B1A9CF62-CD36-4B36-B04E-AE58115FC829}">
      <dgm:prSet/>
      <dgm:spPr/>
      <dgm:t>
        <a:bodyPr/>
        <a:lstStyle/>
        <a:p>
          <a:endParaRPr lang="it-IT"/>
        </a:p>
      </dgm:t>
    </dgm:pt>
    <dgm:pt modelId="{F4C2A727-5839-42DB-A31B-45F35160E976}" type="sibTrans" cxnId="{B1A9CF62-CD36-4B36-B04E-AE58115FC829}">
      <dgm:prSet/>
      <dgm:spPr/>
      <dgm:t>
        <a:bodyPr/>
        <a:lstStyle/>
        <a:p>
          <a:endParaRPr lang="it-IT"/>
        </a:p>
      </dgm:t>
    </dgm:pt>
    <dgm:pt modelId="{7297D31D-C044-4A09-A7D7-B04AF7D4DB2F}">
      <dgm:prSet phldrT="[Testo]" phldr="0"/>
      <dgm:spPr/>
      <dgm:t>
        <a:bodyPr/>
        <a:lstStyle/>
        <a:p>
          <a:r>
            <a:rPr lang="it-IT" dirty="0" err="1"/>
            <a:t>Weak_rl</a:t>
          </a:r>
          <a:endParaRPr lang="it-IT" dirty="0"/>
        </a:p>
      </dgm:t>
    </dgm:pt>
    <dgm:pt modelId="{4A239DB9-295B-48CF-99B4-9CA4726C52D1}" type="parTrans" cxnId="{5222B28D-D579-458D-90FA-0169996FCF8A}">
      <dgm:prSet/>
      <dgm:spPr/>
      <dgm:t>
        <a:bodyPr/>
        <a:lstStyle/>
        <a:p>
          <a:endParaRPr lang="it-IT"/>
        </a:p>
      </dgm:t>
    </dgm:pt>
    <dgm:pt modelId="{35B6B68E-D04D-40D1-9F83-43F2D4B3D13B}" type="sibTrans" cxnId="{5222B28D-D579-458D-90FA-0169996FCF8A}">
      <dgm:prSet/>
      <dgm:spPr/>
      <dgm:t>
        <a:bodyPr/>
        <a:lstStyle/>
        <a:p>
          <a:endParaRPr lang="it-IT"/>
        </a:p>
      </dgm:t>
    </dgm:pt>
    <dgm:pt modelId="{1F4B1591-3162-4B96-B89F-B25CD155BC88}">
      <dgm:prSet phldrT="[Testo]" phldr="0"/>
      <dgm:spPr/>
      <dgm:t>
        <a:bodyPr/>
        <a:lstStyle/>
        <a:p>
          <a:r>
            <a:rPr lang="it-IT"/>
            <a:t>Greedy</a:t>
          </a:r>
          <a:endParaRPr lang="it-IT" dirty="0"/>
        </a:p>
      </dgm:t>
    </dgm:pt>
    <dgm:pt modelId="{77DBD9EE-8197-4A6C-9F5F-E083EE278632}" type="parTrans" cxnId="{B2DEA769-B48B-48E5-9BE0-D1E20CCE8442}">
      <dgm:prSet/>
      <dgm:spPr/>
      <dgm:t>
        <a:bodyPr/>
        <a:lstStyle/>
        <a:p>
          <a:endParaRPr lang="it-IT"/>
        </a:p>
      </dgm:t>
    </dgm:pt>
    <dgm:pt modelId="{62F72869-C853-4F64-BACC-CC327F06232E}" type="sibTrans" cxnId="{B2DEA769-B48B-48E5-9BE0-D1E20CCE8442}">
      <dgm:prSet/>
      <dgm:spPr/>
      <dgm:t>
        <a:bodyPr/>
        <a:lstStyle/>
        <a:p>
          <a:endParaRPr lang="it-IT"/>
        </a:p>
      </dgm:t>
    </dgm:pt>
    <dgm:pt modelId="{926C0934-1B5C-4493-AD64-0A014B414D0E}" type="pres">
      <dgm:prSet presAssocID="{D0B8FDFF-9224-4D2F-91F3-900E390A506A}" presName="compositeShape" presStyleCnt="0">
        <dgm:presLayoutVars>
          <dgm:dir/>
          <dgm:resizeHandles/>
        </dgm:presLayoutVars>
      </dgm:prSet>
      <dgm:spPr/>
    </dgm:pt>
    <dgm:pt modelId="{DC09B6A2-C4AA-4C7D-B825-8AA3D7EBD218}" type="pres">
      <dgm:prSet presAssocID="{D0B8FDFF-9224-4D2F-91F3-900E390A506A}" presName="pyramid" presStyleLbl="node1" presStyleIdx="0" presStyleCnt="1" custLinFactX="121645" custLinFactY="62479" custLinFactNeighborX="200000" custLinFactNeighborY="100000"/>
      <dgm:spPr/>
    </dgm:pt>
    <dgm:pt modelId="{7E487E64-8ED4-409B-93EA-378AF5906ADB}" type="pres">
      <dgm:prSet presAssocID="{D0B8FDFF-9224-4D2F-91F3-900E390A506A}" presName="theList" presStyleCnt="0"/>
      <dgm:spPr/>
    </dgm:pt>
    <dgm:pt modelId="{F7A38F8D-BEC1-45CB-9475-F582EFAF923A}" type="pres">
      <dgm:prSet presAssocID="{5996059A-045C-497C-9948-1CADC4C84D20}" presName="aNode" presStyleLbl="fgAcc1" presStyleIdx="0" presStyleCnt="4">
        <dgm:presLayoutVars>
          <dgm:bulletEnabled val="1"/>
        </dgm:presLayoutVars>
      </dgm:prSet>
      <dgm:spPr/>
    </dgm:pt>
    <dgm:pt modelId="{E3D6E56D-9A01-4412-9DA1-E12BA1138511}" type="pres">
      <dgm:prSet presAssocID="{5996059A-045C-497C-9948-1CADC4C84D20}" presName="aSpace" presStyleCnt="0"/>
      <dgm:spPr/>
    </dgm:pt>
    <dgm:pt modelId="{D3F524E0-57E9-4598-95BB-A69CCF1F1BBE}" type="pres">
      <dgm:prSet presAssocID="{150F2E57-515D-44D8-A8DF-BF28E2169923}" presName="aNode" presStyleLbl="fgAcc1" presStyleIdx="1" presStyleCnt="4">
        <dgm:presLayoutVars>
          <dgm:bulletEnabled val="1"/>
        </dgm:presLayoutVars>
      </dgm:prSet>
      <dgm:spPr/>
    </dgm:pt>
    <dgm:pt modelId="{F90922C7-BA4F-4D05-AA62-72D25086334A}" type="pres">
      <dgm:prSet presAssocID="{150F2E57-515D-44D8-A8DF-BF28E2169923}" presName="aSpace" presStyleCnt="0"/>
      <dgm:spPr/>
    </dgm:pt>
    <dgm:pt modelId="{10F1AD69-D610-4E1D-85F9-0F737533F5FC}" type="pres">
      <dgm:prSet presAssocID="{1F4B1591-3162-4B96-B89F-B25CD155BC88}" presName="aNode" presStyleLbl="fgAcc1" presStyleIdx="2" presStyleCnt="4">
        <dgm:presLayoutVars>
          <dgm:bulletEnabled val="1"/>
        </dgm:presLayoutVars>
      </dgm:prSet>
      <dgm:spPr/>
    </dgm:pt>
    <dgm:pt modelId="{F1B16555-55EA-427D-88CE-8CD9410F2C97}" type="pres">
      <dgm:prSet presAssocID="{1F4B1591-3162-4B96-B89F-B25CD155BC88}" presName="aSpace" presStyleCnt="0"/>
      <dgm:spPr/>
    </dgm:pt>
    <dgm:pt modelId="{9BE6090A-0121-420E-9FF0-D3B423F95307}" type="pres">
      <dgm:prSet presAssocID="{7297D31D-C044-4A09-A7D7-B04AF7D4DB2F}" presName="aNode" presStyleLbl="fgAcc1" presStyleIdx="3" presStyleCnt="4">
        <dgm:presLayoutVars>
          <dgm:bulletEnabled val="1"/>
        </dgm:presLayoutVars>
      </dgm:prSet>
      <dgm:spPr/>
    </dgm:pt>
    <dgm:pt modelId="{6B342E77-9528-4D7D-B780-A72024BEF236}" type="pres">
      <dgm:prSet presAssocID="{7297D31D-C044-4A09-A7D7-B04AF7D4DB2F}" presName="aSpace" presStyleCnt="0"/>
      <dgm:spPr/>
    </dgm:pt>
  </dgm:ptLst>
  <dgm:cxnLst>
    <dgm:cxn modelId="{99EB862B-EE02-4178-A12C-8D1592DE353D}" type="presOf" srcId="{1F4B1591-3162-4B96-B89F-B25CD155BC88}" destId="{10F1AD69-D610-4E1D-85F9-0F737533F5FC}" srcOrd="0" destOrd="0" presId="urn:microsoft.com/office/officeart/2005/8/layout/pyramid2"/>
    <dgm:cxn modelId="{B1A9CF62-CD36-4B36-B04E-AE58115FC829}" srcId="{D0B8FDFF-9224-4D2F-91F3-900E390A506A}" destId="{150F2E57-515D-44D8-A8DF-BF28E2169923}" srcOrd="1" destOrd="0" parTransId="{CE55B110-5BEB-4800-BC75-160DD466D7A3}" sibTransId="{F4C2A727-5839-42DB-A31B-45F35160E976}"/>
    <dgm:cxn modelId="{32221469-D4A9-48CC-8AA0-F10EE22DC66A}" type="presOf" srcId="{7297D31D-C044-4A09-A7D7-B04AF7D4DB2F}" destId="{9BE6090A-0121-420E-9FF0-D3B423F95307}" srcOrd="0" destOrd="0" presId="urn:microsoft.com/office/officeart/2005/8/layout/pyramid2"/>
    <dgm:cxn modelId="{B2DEA769-B48B-48E5-9BE0-D1E20CCE8442}" srcId="{D0B8FDFF-9224-4D2F-91F3-900E390A506A}" destId="{1F4B1591-3162-4B96-B89F-B25CD155BC88}" srcOrd="2" destOrd="0" parTransId="{77DBD9EE-8197-4A6C-9F5F-E083EE278632}" sibTransId="{62F72869-C853-4F64-BACC-CC327F06232E}"/>
    <dgm:cxn modelId="{8EB86E76-F5E3-4DBE-A4FF-E79AB07C6F46}" type="presOf" srcId="{D0B8FDFF-9224-4D2F-91F3-900E390A506A}" destId="{926C0934-1B5C-4493-AD64-0A014B414D0E}" srcOrd="0" destOrd="0" presId="urn:microsoft.com/office/officeart/2005/8/layout/pyramid2"/>
    <dgm:cxn modelId="{5222B28D-D579-458D-90FA-0169996FCF8A}" srcId="{D0B8FDFF-9224-4D2F-91F3-900E390A506A}" destId="{7297D31D-C044-4A09-A7D7-B04AF7D4DB2F}" srcOrd="3" destOrd="0" parTransId="{4A239DB9-295B-48CF-99B4-9CA4726C52D1}" sibTransId="{35B6B68E-D04D-40D1-9F83-43F2D4B3D13B}"/>
    <dgm:cxn modelId="{386A76F1-CB37-4D16-8B69-B923B07C857B}" type="presOf" srcId="{5996059A-045C-497C-9948-1CADC4C84D20}" destId="{F7A38F8D-BEC1-45CB-9475-F582EFAF923A}" srcOrd="0" destOrd="0" presId="urn:microsoft.com/office/officeart/2005/8/layout/pyramid2"/>
    <dgm:cxn modelId="{964E97F4-56D6-48E1-9576-3672E0F682AA}" type="presOf" srcId="{150F2E57-515D-44D8-A8DF-BF28E2169923}" destId="{D3F524E0-57E9-4598-95BB-A69CCF1F1BBE}" srcOrd="0" destOrd="0" presId="urn:microsoft.com/office/officeart/2005/8/layout/pyramid2"/>
    <dgm:cxn modelId="{123492F5-3C61-4F3E-AA98-FED2B97B19C4}" srcId="{D0B8FDFF-9224-4D2F-91F3-900E390A506A}" destId="{5996059A-045C-497C-9948-1CADC4C84D20}" srcOrd="0" destOrd="0" parTransId="{B0BDB84D-1C15-4291-AE9A-94BF4F14812D}" sibTransId="{26B859B0-8239-49EC-B734-90980146B1B7}"/>
    <dgm:cxn modelId="{A2645D5D-43C9-4012-8477-FD4AF249E191}" type="presParOf" srcId="{926C0934-1B5C-4493-AD64-0A014B414D0E}" destId="{DC09B6A2-C4AA-4C7D-B825-8AA3D7EBD218}" srcOrd="0" destOrd="0" presId="urn:microsoft.com/office/officeart/2005/8/layout/pyramid2"/>
    <dgm:cxn modelId="{16F9E5AC-130B-48E4-8F5B-A9DBB71011DD}" type="presParOf" srcId="{926C0934-1B5C-4493-AD64-0A014B414D0E}" destId="{7E487E64-8ED4-409B-93EA-378AF5906ADB}" srcOrd="1" destOrd="0" presId="urn:microsoft.com/office/officeart/2005/8/layout/pyramid2"/>
    <dgm:cxn modelId="{35FD640A-739C-4A83-AC84-2DE09F231053}" type="presParOf" srcId="{7E487E64-8ED4-409B-93EA-378AF5906ADB}" destId="{F7A38F8D-BEC1-45CB-9475-F582EFAF923A}" srcOrd="0" destOrd="0" presId="urn:microsoft.com/office/officeart/2005/8/layout/pyramid2"/>
    <dgm:cxn modelId="{4E369BB9-9E38-49CB-94DF-32DC8653A6AF}" type="presParOf" srcId="{7E487E64-8ED4-409B-93EA-378AF5906ADB}" destId="{E3D6E56D-9A01-4412-9DA1-E12BA1138511}" srcOrd="1" destOrd="0" presId="urn:microsoft.com/office/officeart/2005/8/layout/pyramid2"/>
    <dgm:cxn modelId="{66F502E3-C953-414A-8D11-69EF296DF1F9}" type="presParOf" srcId="{7E487E64-8ED4-409B-93EA-378AF5906ADB}" destId="{D3F524E0-57E9-4598-95BB-A69CCF1F1BBE}" srcOrd="2" destOrd="0" presId="urn:microsoft.com/office/officeart/2005/8/layout/pyramid2"/>
    <dgm:cxn modelId="{F8A91BFC-6B90-4CE5-B05F-31FBC45FD408}" type="presParOf" srcId="{7E487E64-8ED4-409B-93EA-378AF5906ADB}" destId="{F90922C7-BA4F-4D05-AA62-72D25086334A}" srcOrd="3" destOrd="0" presId="urn:microsoft.com/office/officeart/2005/8/layout/pyramid2"/>
    <dgm:cxn modelId="{18658411-5419-44DB-848D-5A95A2721D62}" type="presParOf" srcId="{7E487E64-8ED4-409B-93EA-378AF5906ADB}" destId="{10F1AD69-D610-4E1D-85F9-0F737533F5FC}" srcOrd="4" destOrd="0" presId="urn:microsoft.com/office/officeart/2005/8/layout/pyramid2"/>
    <dgm:cxn modelId="{816D16C4-2537-40AE-94CA-29F61F15615A}" type="presParOf" srcId="{7E487E64-8ED4-409B-93EA-378AF5906ADB}" destId="{F1B16555-55EA-427D-88CE-8CD9410F2C97}" srcOrd="5" destOrd="0" presId="urn:microsoft.com/office/officeart/2005/8/layout/pyramid2"/>
    <dgm:cxn modelId="{DF5AF369-51B0-4D40-9BDC-F177E31C82CE}" type="presParOf" srcId="{7E487E64-8ED4-409B-93EA-378AF5906ADB}" destId="{9BE6090A-0121-420E-9FF0-D3B423F95307}" srcOrd="6" destOrd="0" presId="urn:microsoft.com/office/officeart/2005/8/layout/pyramid2"/>
    <dgm:cxn modelId="{B534A4B2-E197-46C5-9523-DCC4816DB307}" type="presParOf" srcId="{7E487E64-8ED4-409B-93EA-378AF5906ADB}" destId="{6B342E77-9528-4D7D-B780-A72024BEF236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220633-6897-4877-BAE8-A182E091E411}">
      <dsp:nvSpPr>
        <dsp:cNvPr id="0" name=""/>
        <dsp:cNvSpPr/>
      </dsp:nvSpPr>
      <dsp:spPr>
        <a:xfrm>
          <a:off x="3105664" y="1027285"/>
          <a:ext cx="2197280" cy="3813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673"/>
              </a:lnTo>
              <a:lnTo>
                <a:pt x="2197280" y="190673"/>
              </a:lnTo>
              <a:lnTo>
                <a:pt x="2197280" y="3813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073360-464E-4697-9A32-80F269F7E0A5}">
      <dsp:nvSpPr>
        <dsp:cNvPr id="0" name=""/>
        <dsp:cNvSpPr/>
      </dsp:nvSpPr>
      <dsp:spPr>
        <a:xfrm>
          <a:off x="3059944" y="1027285"/>
          <a:ext cx="91440" cy="38134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13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8A1C23-7583-4495-93CA-343FFB806B80}">
      <dsp:nvSpPr>
        <dsp:cNvPr id="0" name=""/>
        <dsp:cNvSpPr/>
      </dsp:nvSpPr>
      <dsp:spPr>
        <a:xfrm>
          <a:off x="908383" y="1027285"/>
          <a:ext cx="2197280" cy="381346"/>
        </a:xfrm>
        <a:custGeom>
          <a:avLst/>
          <a:gdLst/>
          <a:ahLst/>
          <a:cxnLst/>
          <a:rect l="0" t="0" r="0" b="0"/>
          <a:pathLst>
            <a:path>
              <a:moveTo>
                <a:pt x="2197280" y="0"/>
              </a:moveTo>
              <a:lnTo>
                <a:pt x="2197280" y="190673"/>
              </a:lnTo>
              <a:lnTo>
                <a:pt x="0" y="190673"/>
              </a:lnTo>
              <a:lnTo>
                <a:pt x="0" y="3813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2B0047-2E75-47C9-BBB1-112A2D631122}">
      <dsp:nvSpPr>
        <dsp:cNvPr id="0" name=""/>
        <dsp:cNvSpPr/>
      </dsp:nvSpPr>
      <dsp:spPr>
        <a:xfrm>
          <a:off x="2337669" y="30755"/>
          <a:ext cx="1535989" cy="9965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Metodologie Implementate</a:t>
          </a:r>
        </a:p>
      </dsp:txBody>
      <dsp:txXfrm>
        <a:off x="2337669" y="30755"/>
        <a:ext cx="1535989" cy="996530"/>
      </dsp:txXfrm>
    </dsp:sp>
    <dsp:sp modelId="{868FF076-555A-4F98-8A20-A20EF8BEF767}">
      <dsp:nvSpPr>
        <dsp:cNvPr id="0" name=""/>
        <dsp:cNvSpPr/>
      </dsp:nvSpPr>
      <dsp:spPr>
        <a:xfrm>
          <a:off x="417" y="1408631"/>
          <a:ext cx="1815933" cy="9079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Modelli di Programmazione Lineare Intera (PLI)</a:t>
          </a:r>
        </a:p>
      </dsp:txBody>
      <dsp:txXfrm>
        <a:off x="417" y="1408631"/>
        <a:ext cx="1815933" cy="907966"/>
      </dsp:txXfrm>
    </dsp:sp>
    <dsp:sp modelId="{2EF7D2B8-7B83-408E-AAB2-F7A77622377F}">
      <dsp:nvSpPr>
        <dsp:cNvPr id="0" name=""/>
        <dsp:cNvSpPr/>
      </dsp:nvSpPr>
      <dsp:spPr>
        <a:xfrm>
          <a:off x="2197697" y="1408631"/>
          <a:ext cx="1815933" cy="9079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L'Algoritmo di Erlenkotter</a:t>
          </a:r>
        </a:p>
      </dsp:txBody>
      <dsp:txXfrm>
        <a:off x="2197697" y="1408631"/>
        <a:ext cx="1815933" cy="907966"/>
      </dsp:txXfrm>
    </dsp:sp>
    <dsp:sp modelId="{D054FF64-0146-4E50-A297-0A08894EAB5A}">
      <dsp:nvSpPr>
        <dsp:cNvPr id="0" name=""/>
        <dsp:cNvSpPr/>
      </dsp:nvSpPr>
      <dsp:spPr>
        <a:xfrm>
          <a:off x="4394977" y="1408631"/>
          <a:ext cx="1815933" cy="9079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Un'Euristica Greedy Semplice</a:t>
          </a:r>
        </a:p>
      </dsp:txBody>
      <dsp:txXfrm>
        <a:off x="4394977" y="1408631"/>
        <a:ext cx="1815933" cy="9079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7D6F9D-9814-4DB7-BF2D-2532C2693766}">
      <dsp:nvSpPr>
        <dsp:cNvPr id="0" name=""/>
        <dsp:cNvSpPr/>
      </dsp:nvSpPr>
      <dsp:spPr>
        <a:xfrm>
          <a:off x="2504381" y="1115091"/>
          <a:ext cx="1735987" cy="1343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8702"/>
              </a:lnTo>
              <a:lnTo>
                <a:pt x="1735987" y="1188702"/>
              </a:lnTo>
              <a:lnTo>
                <a:pt x="1735987" y="134308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D4556C-36AB-4F5F-A99F-CB79C6072C75}">
      <dsp:nvSpPr>
        <dsp:cNvPr id="0" name=""/>
        <dsp:cNvSpPr/>
      </dsp:nvSpPr>
      <dsp:spPr>
        <a:xfrm>
          <a:off x="2457999" y="1115091"/>
          <a:ext cx="91440" cy="1343086"/>
        </a:xfrm>
        <a:custGeom>
          <a:avLst/>
          <a:gdLst/>
          <a:ahLst/>
          <a:cxnLst/>
          <a:rect l="0" t="0" r="0" b="0"/>
          <a:pathLst>
            <a:path>
              <a:moveTo>
                <a:pt x="46381" y="0"/>
              </a:moveTo>
              <a:lnTo>
                <a:pt x="46381" y="1188702"/>
              </a:lnTo>
              <a:lnTo>
                <a:pt x="45720" y="1188702"/>
              </a:lnTo>
              <a:lnTo>
                <a:pt x="45720" y="134308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E238A5-1B4C-4A61-B2FB-86013D1CC5A8}">
      <dsp:nvSpPr>
        <dsp:cNvPr id="0" name=""/>
        <dsp:cNvSpPr/>
      </dsp:nvSpPr>
      <dsp:spPr>
        <a:xfrm>
          <a:off x="767511" y="1115091"/>
          <a:ext cx="1736870" cy="1335551"/>
        </a:xfrm>
        <a:custGeom>
          <a:avLst/>
          <a:gdLst/>
          <a:ahLst/>
          <a:cxnLst/>
          <a:rect l="0" t="0" r="0" b="0"/>
          <a:pathLst>
            <a:path>
              <a:moveTo>
                <a:pt x="1736870" y="0"/>
              </a:moveTo>
              <a:lnTo>
                <a:pt x="1736870" y="1181166"/>
              </a:lnTo>
              <a:lnTo>
                <a:pt x="0" y="1181166"/>
              </a:lnTo>
              <a:lnTo>
                <a:pt x="0" y="13355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A57058-6369-47B1-895F-32A325FF88B2}">
      <dsp:nvSpPr>
        <dsp:cNvPr id="0" name=""/>
        <dsp:cNvSpPr/>
      </dsp:nvSpPr>
      <dsp:spPr>
        <a:xfrm>
          <a:off x="1769216" y="379926"/>
          <a:ext cx="1470328" cy="7351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Analisi dei Risultati</a:t>
          </a:r>
        </a:p>
      </dsp:txBody>
      <dsp:txXfrm>
        <a:off x="1769216" y="379926"/>
        <a:ext cx="1470328" cy="735164"/>
      </dsp:txXfrm>
    </dsp:sp>
    <dsp:sp modelId="{2035600E-53BA-4DBE-AFFF-517B26BD38C2}">
      <dsp:nvSpPr>
        <dsp:cNvPr id="0" name=""/>
        <dsp:cNvSpPr/>
      </dsp:nvSpPr>
      <dsp:spPr>
        <a:xfrm>
          <a:off x="32346" y="2450642"/>
          <a:ext cx="1470328" cy="7351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Qualità della Soluzione</a:t>
          </a:r>
        </a:p>
      </dsp:txBody>
      <dsp:txXfrm>
        <a:off x="32346" y="2450642"/>
        <a:ext cx="1470328" cy="735164"/>
      </dsp:txXfrm>
    </dsp:sp>
    <dsp:sp modelId="{57814DFC-D60F-4DF2-8A3E-C95FCB46A235}">
      <dsp:nvSpPr>
        <dsp:cNvPr id="0" name=""/>
        <dsp:cNvSpPr/>
      </dsp:nvSpPr>
      <dsp:spPr>
        <a:xfrm>
          <a:off x="1768555" y="2458177"/>
          <a:ext cx="1470328" cy="7351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 Tempo Computazionale</a:t>
          </a:r>
        </a:p>
      </dsp:txBody>
      <dsp:txXfrm>
        <a:off x="1768555" y="2458177"/>
        <a:ext cx="1470328" cy="735164"/>
      </dsp:txXfrm>
    </dsp:sp>
    <dsp:sp modelId="{4C25DC94-6DB8-43A8-A364-07E623552340}">
      <dsp:nvSpPr>
        <dsp:cNvPr id="0" name=""/>
        <dsp:cNvSpPr/>
      </dsp:nvSpPr>
      <dsp:spPr>
        <a:xfrm>
          <a:off x="3505204" y="2458177"/>
          <a:ext cx="1470328" cy="7351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Scalabilità</a:t>
          </a:r>
          <a:endParaRPr lang="it-IT" sz="1700" kern="1200" dirty="0"/>
        </a:p>
      </dsp:txBody>
      <dsp:txXfrm>
        <a:off x="3505204" y="2458177"/>
        <a:ext cx="1470328" cy="7351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E38D9A-F5A2-43DD-B68B-1A2B74E5E5A2}">
      <dsp:nvSpPr>
        <dsp:cNvPr id="0" name=""/>
        <dsp:cNvSpPr/>
      </dsp:nvSpPr>
      <dsp:spPr>
        <a:xfrm>
          <a:off x="0" y="1446847"/>
          <a:ext cx="2076449" cy="1245870"/>
        </a:xfrm>
        <a:prstGeom prst="roundRect">
          <a:avLst>
            <a:gd name="adj" fmla="val 10000"/>
          </a:avLst>
        </a:prstGeom>
        <a:solidFill>
          <a:srgbClr val="0F3FD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dirty="0"/>
            <a:t>Problema di Localizzazione non Capacitato (UFL)</a:t>
          </a:r>
        </a:p>
      </dsp:txBody>
      <dsp:txXfrm>
        <a:off x="36490" y="1483337"/>
        <a:ext cx="2003469" cy="1172890"/>
      </dsp:txXfrm>
    </dsp:sp>
    <dsp:sp modelId="{F92FE481-4710-46EA-BCFB-06946E31FB26}">
      <dsp:nvSpPr>
        <dsp:cNvPr id="0" name=""/>
        <dsp:cNvSpPr/>
      </dsp:nvSpPr>
      <dsp:spPr>
        <a:xfrm>
          <a:off x="2284095" y="1812302"/>
          <a:ext cx="440207" cy="5149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600" kern="1200"/>
        </a:p>
      </dsp:txBody>
      <dsp:txXfrm>
        <a:off x="2284095" y="1915294"/>
        <a:ext cx="308145" cy="308975"/>
      </dsp:txXfrm>
    </dsp:sp>
    <dsp:sp modelId="{8DD3F137-CDC5-4DE5-AB12-57669172FA86}">
      <dsp:nvSpPr>
        <dsp:cNvPr id="0" name=""/>
        <dsp:cNvSpPr/>
      </dsp:nvSpPr>
      <dsp:spPr>
        <a:xfrm>
          <a:off x="2907030" y="1446847"/>
          <a:ext cx="2076449" cy="1245870"/>
        </a:xfrm>
        <a:prstGeom prst="roundRect">
          <a:avLst>
            <a:gd name="adj" fmla="val 10000"/>
          </a:avLst>
        </a:prstGeom>
        <a:solidFill>
          <a:srgbClr val="0F3FD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dirty="0"/>
            <a:t>Obiettivi del Progetto</a:t>
          </a:r>
        </a:p>
      </dsp:txBody>
      <dsp:txXfrm>
        <a:off x="2943520" y="1483337"/>
        <a:ext cx="2003469" cy="1172890"/>
      </dsp:txXfrm>
    </dsp:sp>
    <dsp:sp modelId="{06756D93-5FF7-48E6-A8D9-1E9721B59661}">
      <dsp:nvSpPr>
        <dsp:cNvPr id="0" name=""/>
        <dsp:cNvSpPr/>
      </dsp:nvSpPr>
      <dsp:spPr>
        <a:xfrm>
          <a:off x="5191125" y="1812302"/>
          <a:ext cx="440207" cy="5149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600" kern="1200"/>
        </a:p>
      </dsp:txBody>
      <dsp:txXfrm>
        <a:off x="5191125" y="1915294"/>
        <a:ext cx="308145" cy="308975"/>
      </dsp:txXfrm>
    </dsp:sp>
    <dsp:sp modelId="{99E9E456-DA5E-42E0-B564-EA45F7B7EC6C}">
      <dsp:nvSpPr>
        <dsp:cNvPr id="0" name=""/>
        <dsp:cNvSpPr/>
      </dsp:nvSpPr>
      <dsp:spPr>
        <a:xfrm>
          <a:off x="5814060" y="1446847"/>
          <a:ext cx="2076449" cy="1245870"/>
        </a:xfrm>
        <a:prstGeom prst="roundRect">
          <a:avLst>
            <a:gd name="adj" fmla="val 10000"/>
          </a:avLst>
        </a:prstGeom>
        <a:solidFill>
          <a:srgbClr val="0F3FD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dirty="0"/>
            <a:t>Metodologie Implementate</a:t>
          </a:r>
        </a:p>
      </dsp:txBody>
      <dsp:txXfrm>
        <a:off x="5850550" y="1483337"/>
        <a:ext cx="2003469" cy="1172890"/>
      </dsp:txXfrm>
    </dsp:sp>
    <dsp:sp modelId="{C9D02BE0-C7E3-4C5B-991F-226F2AAAEDAC}">
      <dsp:nvSpPr>
        <dsp:cNvPr id="0" name=""/>
        <dsp:cNvSpPr/>
      </dsp:nvSpPr>
      <dsp:spPr>
        <a:xfrm>
          <a:off x="8098155" y="1812302"/>
          <a:ext cx="440207" cy="5149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600" kern="1200"/>
        </a:p>
      </dsp:txBody>
      <dsp:txXfrm>
        <a:off x="8098155" y="1915294"/>
        <a:ext cx="308145" cy="308975"/>
      </dsp:txXfrm>
    </dsp:sp>
    <dsp:sp modelId="{C12396EB-B0EB-4EBC-8123-13D75FB93A2D}">
      <dsp:nvSpPr>
        <dsp:cNvPr id="0" name=""/>
        <dsp:cNvSpPr/>
      </dsp:nvSpPr>
      <dsp:spPr>
        <a:xfrm>
          <a:off x="8721090" y="1446847"/>
          <a:ext cx="2076449" cy="1245870"/>
        </a:xfrm>
        <a:prstGeom prst="roundRect">
          <a:avLst>
            <a:gd name="adj" fmla="val 10000"/>
          </a:avLst>
        </a:prstGeom>
        <a:solidFill>
          <a:srgbClr val="0F3FD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dirty="0"/>
            <a:t>Setup Sperimentale</a:t>
          </a:r>
        </a:p>
      </dsp:txBody>
      <dsp:txXfrm>
        <a:off x="8757580" y="1483337"/>
        <a:ext cx="2003469" cy="1172890"/>
      </dsp:txXfrm>
    </dsp:sp>
    <dsp:sp modelId="{B4F38525-45A0-4A90-8357-745E1ED475E3}">
      <dsp:nvSpPr>
        <dsp:cNvPr id="0" name=""/>
        <dsp:cNvSpPr/>
      </dsp:nvSpPr>
      <dsp:spPr>
        <a:xfrm>
          <a:off x="11005184" y="1812302"/>
          <a:ext cx="440207" cy="5149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600" kern="1200"/>
        </a:p>
      </dsp:txBody>
      <dsp:txXfrm>
        <a:off x="11005184" y="1915294"/>
        <a:ext cx="308145" cy="308975"/>
      </dsp:txXfrm>
    </dsp:sp>
    <dsp:sp modelId="{E7079661-DEA5-4500-9CB6-F230B10B1A29}">
      <dsp:nvSpPr>
        <dsp:cNvPr id="0" name=""/>
        <dsp:cNvSpPr/>
      </dsp:nvSpPr>
      <dsp:spPr>
        <a:xfrm>
          <a:off x="11628120" y="1446847"/>
          <a:ext cx="2076449" cy="1245870"/>
        </a:xfrm>
        <a:prstGeom prst="roundRect">
          <a:avLst>
            <a:gd name="adj" fmla="val 10000"/>
          </a:avLst>
        </a:prstGeom>
        <a:solidFill>
          <a:srgbClr val="0F3FD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dirty="0"/>
            <a:t>Analisi dei Risultati</a:t>
          </a:r>
        </a:p>
      </dsp:txBody>
      <dsp:txXfrm>
        <a:off x="11664610" y="1483337"/>
        <a:ext cx="2003469" cy="1172890"/>
      </dsp:txXfrm>
    </dsp:sp>
    <dsp:sp modelId="{16289932-4D5C-4D09-B997-129A135FFBCD}">
      <dsp:nvSpPr>
        <dsp:cNvPr id="0" name=""/>
        <dsp:cNvSpPr/>
      </dsp:nvSpPr>
      <dsp:spPr>
        <a:xfrm>
          <a:off x="13912215" y="1812302"/>
          <a:ext cx="440207" cy="5149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600" kern="1200"/>
        </a:p>
      </dsp:txBody>
      <dsp:txXfrm>
        <a:off x="13912215" y="1915294"/>
        <a:ext cx="308145" cy="308975"/>
      </dsp:txXfrm>
    </dsp:sp>
    <dsp:sp modelId="{47EA94A4-A523-45B2-99B9-9F87A104D0FC}">
      <dsp:nvSpPr>
        <dsp:cNvPr id="0" name=""/>
        <dsp:cNvSpPr/>
      </dsp:nvSpPr>
      <dsp:spPr>
        <a:xfrm>
          <a:off x="14535150" y="1446847"/>
          <a:ext cx="2076449" cy="1245870"/>
        </a:xfrm>
        <a:prstGeom prst="roundRect">
          <a:avLst>
            <a:gd name="adj" fmla="val 10000"/>
          </a:avLst>
        </a:prstGeom>
        <a:solidFill>
          <a:srgbClr val="0F3FD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dirty="0"/>
            <a:t>Conclusioni</a:t>
          </a:r>
        </a:p>
      </dsp:txBody>
      <dsp:txXfrm>
        <a:off x="14571640" y="1483337"/>
        <a:ext cx="2003469" cy="11728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9B6A2-C4AA-4C7D-B825-8AA3D7EBD218}">
      <dsp:nvSpPr>
        <dsp:cNvPr id="0" name=""/>
        <dsp:cNvSpPr/>
      </dsp:nvSpPr>
      <dsp:spPr>
        <a:xfrm>
          <a:off x="1118233" y="0"/>
          <a:ext cx="4139565" cy="4139565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38F8D-BEC1-45CB-9475-F582EFAF923A}">
      <dsp:nvSpPr>
        <dsp:cNvPr id="0" name=""/>
        <dsp:cNvSpPr/>
      </dsp:nvSpPr>
      <dsp:spPr>
        <a:xfrm>
          <a:off x="2318432" y="416179"/>
          <a:ext cx="2690717" cy="97991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Strong </a:t>
          </a:r>
        </a:p>
      </dsp:txBody>
      <dsp:txXfrm>
        <a:off x="2366267" y="464014"/>
        <a:ext cx="2595047" cy="884242"/>
      </dsp:txXfrm>
    </dsp:sp>
    <dsp:sp modelId="{D3F524E0-57E9-4598-95BB-A69CCF1F1BBE}">
      <dsp:nvSpPr>
        <dsp:cNvPr id="0" name=""/>
        <dsp:cNvSpPr/>
      </dsp:nvSpPr>
      <dsp:spPr>
        <a:xfrm>
          <a:off x="2318432" y="1518581"/>
          <a:ext cx="2690717" cy="97991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Erlenkotter / Strong_rl / Greedy</a:t>
          </a:r>
        </a:p>
      </dsp:txBody>
      <dsp:txXfrm>
        <a:off x="2366267" y="1566416"/>
        <a:ext cx="2595047" cy="884242"/>
      </dsp:txXfrm>
    </dsp:sp>
    <dsp:sp modelId="{9BE6090A-0121-420E-9FF0-D3B423F95307}">
      <dsp:nvSpPr>
        <dsp:cNvPr id="0" name=""/>
        <dsp:cNvSpPr/>
      </dsp:nvSpPr>
      <dsp:spPr>
        <a:xfrm>
          <a:off x="2318432" y="2620983"/>
          <a:ext cx="2690717" cy="97991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 err="1"/>
            <a:t>Weak_rl</a:t>
          </a:r>
          <a:endParaRPr lang="it-IT" sz="2400" kern="1200" dirty="0"/>
        </a:p>
      </dsp:txBody>
      <dsp:txXfrm>
        <a:off x="2366267" y="2668818"/>
        <a:ext cx="2595047" cy="88424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9B6A2-C4AA-4C7D-B825-8AA3D7EBD218}">
      <dsp:nvSpPr>
        <dsp:cNvPr id="0" name=""/>
        <dsp:cNvSpPr/>
      </dsp:nvSpPr>
      <dsp:spPr>
        <a:xfrm>
          <a:off x="1118233" y="0"/>
          <a:ext cx="4139565" cy="4139565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38F8D-BEC1-45CB-9475-F582EFAF923A}">
      <dsp:nvSpPr>
        <dsp:cNvPr id="0" name=""/>
        <dsp:cNvSpPr/>
      </dsp:nvSpPr>
      <dsp:spPr>
        <a:xfrm>
          <a:off x="2318432" y="414360"/>
          <a:ext cx="2690717" cy="7357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dirty="0"/>
            <a:t>Strong </a:t>
          </a:r>
        </a:p>
      </dsp:txBody>
      <dsp:txXfrm>
        <a:off x="2354348" y="450276"/>
        <a:ext cx="2618885" cy="663910"/>
      </dsp:txXfrm>
    </dsp:sp>
    <dsp:sp modelId="{D3F524E0-57E9-4598-95BB-A69CCF1F1BBE}">
      <dsp:nvSpPr>
        <dsp:cNvPr id="0" name=""/>
        <dsp:cNvSpPr/>
      </dsp:nvSpPr>
      <dsp:spPr>
        <a:xfrm>
          <a:off x="2318432" y="1242071"/>
          <a:ext cx="2690717" cy="7357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dirty="0"/>
            <a:t>Erlenkotter / </a:t>
          </a:r>
          <a:r>
            <a:rPr lang="it-IT" sz="2100" kern="1200" dirty="0" err="1"/>
            <a:t>Strong_rl</a:t>
          </a:r>
          <a:endParaRPr lang="it-IT" sz="2100" kern="1200" dirty="0"/>
        </a:p>
      </dsp:txBody>
      <dsp:txXfrm>
        <a:off x="2354348" y="1277987"/>
        <a:ext cx="2618885" cy="663910"/>
      </dsp:txXfrm>
    </dsp:sp>
    <dsp:sp modelId="{48F1BA66-5600-4A13-A812-C00D783FD231}">
      <dsp:nvSpPr>
        <dsp:cNvPr id="0" name=""/>
        <dsp:cNvSpPr/>
      </dsp:nvSpPr>
      <dsp:spPr>
        <a:xfrm>
          <a:off x="2318432" y="2069782"/>
          <a:ext cx="2690717" cy="7357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/>
            <a:t>Greedy</a:t>
          </a:r>
          <a:endParaRPr lang="it-IT" sz="2100" kern="1200" dirty="0"/>
        </a:p>
      </dsp:txBody>
      <dsp:txXfrm>
        <a:off x="2354348" y="2105698"/>
        <a:ext cx="2618885" cy="663910"/>
      </dsp:txXfrm>
    </dsp:sp>
    <dsp:sp modelId="{9BE6090A-0121-420E-9FF0-D3B423F95307}">
      <dsp:nvSpPr>
        <dsp:cNvPr id="0" name=""/>
        <dsp:cNvSpPr/>
      </dsp:nvSpPr>
      <dsp:spPr>
        <a:xfrm>
          <a:off x="2318432" y="2897493"/>
          <a:ext cx="2690717" cy="7357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dirty="0" err="1"/>
            <a:t>Weak_rl</a:t>
          </a:r>
          <a:endParaRPr lang="it-IT" sz="2100" kern="1200" dirty="0"/>
        </a:p>
      </dsp:txBody>
      <dsp:txXfrm>
        <a:off x="2354348" y="2933409"/>
        <a:ext cx="2618885" cy="6639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9B6A2-C4AA-4C7D-B825-8AA3D7EBD218}">
      <dsp:nvSpPr>
        <dsp:cNvPr id="0" name=""/>
        <dsp:cNvSpPr/>
      </dsp:nvSpPr>
      <dsp:spPr>
        <a:xfrm>
          <a:off x="1118233" y="0"/>
          <a:ext cx="4139565" cy="4139565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38F8D-BEC1-45CB-9475-F582EFAF923A}">
      <dsp:nvSpPr>
        <dsp:cNvPr id="0" name=""/>
        <dsp:cNvSpPr/>
      </dsp:nvSpPr>
      <dsp:spPr>
        <a:xfrm>
          <a:off x="2318432" y="414360"/>
          <a:ext cx="2690717" cy="7357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dirty="0"/>
            <a:t>Strong </a:t>
          </a:r>
        </a:p>
      </dsp:txBody>
      <dsp:txXfrm>
        <a:off x="2354348" y="450276"/>
        <a:ext cx="2618885" cy="663910"/>
      </dsp:txXfrm>
    </dsp:sp>
    <dsp:sp modelId="{D3F524E0-57E9-4598-95BB-A69CCF1F1BBE}">
      <dsp:nvSpPr>
        <dsp:cNvPr id="0" name=""/>
        <dsp:cNvSpPr/>
      </dsp:nvSpPr>
      <dsp:spPr>
        <a:xfrm>
          <a:off x="2318432" y="1242071"/>
          <a:ext cx="2690717" cy="7357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dirty="0"/>
            <a:t>Erlenkotter / </a:t>
          </a:r>
          <a:r>
            <a:rPr lang="it-IT" sz="2100" kern="1200" dirty="0" err="1"/>
            <a:t>Strong_rl</a:t>
          </a:r>
          <a:endParaRPr lang="it-IT" sz="2100" kern="1200" dirty="0"/>
        </a:p>
      </dsp:txBody>
      <dsp:txXfrm>
        <a:off x="2354348" y="1277987"/>
        <a:ext cx="2618885" cy="663910"/>
      </dsp:txXfrm>
    </dsp:sp>
    <dsp:sp modelId="{10F1AD69-D610-4E1D-85F9-0F737533F5FC}">
      <dsp:nvSpPr>
        <dsp:cNvPr id="0" name=""/>
        <dsp:cNvSpPr/>
      </dsp:nvSpPr>
      <dsp:spPr>
        <a:xfrm>
          <a:off x="2318432" y="2069782"/>
          <a:ext cx="2690717" cy="7357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/>
            <a:t>Greedy</a:t>
          </a:r>
          <a:endParaRPr lang="it-IT" sz="2100" kern="1200" dirty="0"/>
        </a:p>
      </dsp:txBody>
      <dsp:txXfrm>
        <a:off x="2354348" y="2105698"/>
        <a:ext cx="2618885" cy="663910"/>
      </dsp:txXfrm>
    </dsp:sp>
    <dsp:sp modelId="{9BE6090A-0121-420E-9FF0-D3B423F95307}">
      <dsp:nvSpPr>
        <dsp:cNvPr id="0" name=""/>
        <dsp:cNvSpPr/>
      </dsp:nvSpPr>
      <dsp:spPr>
        <a:xfrm>
          <a:off x="2318432" y="2897493"/>
          <a:ext cx="2690717" cy="7357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dirty="0" err="1"/>
            <a:t>Weak_rl</a:t>
          </a:r>
          <a:endParaRPr lang="it-IT" sz="2100" kern="1200" dirty="0"/>
        </a:p>
      </dsp:txBody>
      <dsp:txXfrm>
        <a:off x="2354348" y="2933409"/>
        <a:ext cx="2618885" cy="6639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F6E96B-BBE3-488C-8B53-5A4075C888D5}" type="datetimeFigureOut">
              <a:rPr lang="it-IT" smtClean="0"/>
              <a:t>17/11/2025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0D1C3-0DDE-4419-A1D4-79D4FF9ADA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2157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85C6D-8A4E-4DBB-BE72-057A3D222BAE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D87E-8595-4B3B-AFA0-1BC72A694F95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0B42-2F2E-46D8-9BE5-ED6FC5D284CE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D826D-C4F0-4495-A9F8-921AA99D542C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1962-DBC5-47FC-9AD9-D06FB32DDE00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5CD78-C58F-4C23-AF2E-5D7299BE6A81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88F8E-4D64-4082-95FC-4D1B8CD9196E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81B9-B24C-4CBB-A838-E340A952DCA4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1D9F-ED1C-4F00-B756-BC192253CDE2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CE94-2537-42B6-A4E2-27DACD04CDCA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6F377-FB80-470B-8882-F2101310FFF1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BC525-3FFB-4BE8-84B6-229A6432A6C1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image" Target="../media/image1.png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7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36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45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lejin/Progetto_AMO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14611" y="2057400"/>
            <a:ext cx="13773389" cy="8229600"/>
          </a:xfrm>
          <a:custGeom>
            <a:avLst/>
            <a:gdLst/>
            <a:ahLst/>
            <a:cxnLst/>
            <a:rect l="l" t="t" r="r" b="b"/>
            <a:pathLst>
              <a:path w="13773389" h="8229600">
                <a:moveTo>
                  <a:pt x="0" y="0"/>
                </a:moveTo>
                <a:lnTo>
                  <a:pt x="13773389" y="0"/>
                </a:lnTo>
                <a:lnTo>
                  <a:pt x="1377338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600200" y="2672120"/>
            <a:ext cx="14065778" cy="4985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it-IT" sz="72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TS Qamus Bold"/>
                <a:cs typeface="TS Qamus Bold"/>
                <a:sym typeface="TS Qamus Bold"/>
              </a:rPr>
              <a:t>Risoluzione del Problema Uncapacitated Facility Location (UFL)</a:t>
            </a:r>
          </a:p>
          <a:p>
            <a:pPr algn="l"/>
            <a:endParaRPr lang="it-IT" sz="3600" b="1" dirty="0">
              <a:solidFill>
                <a:srgbClr val="0F3FD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TS Qamus Bold"/>
              <a:cs typeface="TS Qamus Bold"/>
              <a:sym typeface="TS Qamus Bold"/>
            </a:endParaRPr>
          </a:p>
          <a:p>
            <a:pPr algn="l"/>
            <a:r>
              <a:rPr lang="it-IT" sz="36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TS Qamus Bold"/>
                <a:cs typeface="TS Qamus Bold"/>
                <a:sym typeface="TS Qamus Bold"/>
              </a:rPr>
              <a:t>Analisi Comparativa di Modelli Esatti ed Euristiche</a:t>
            </a:r>
          </a:p>
          <a:p>
            <a:pPr algn="l"/>
            <a:endParaRPr lang="it-IT" sz="3600" b="1" dirty="0">
              <a:solidFill>
                <a:srgbClr val="0F3FD4"/>
              </a:solidFill>
              <a:latin typeface="+mj-lt"/>
              <a:ea typeface="TS Qamus Bold"/>
              <a:cs typeface="TS Qamus Bold"/>
              <a:sym typeface="TS Qamus Bold"/>
            </a:endParaRPr>
          </a:p>
          <a:p>
            <a:pPr algn="l"/>
            <a:endParaRPr lang="it-IT" sz="7200" b="1" dirty="0">
              <a:solidFill>
                <a:srgbClr val="0F3FD4"/>
              </a:solidFill>
              <a:latin typeface="+mj-lt"/>
              <a:ea typeface="TS Qamus Bold"/>
              <a:cs typeface="TS Qamus Bold"/>
              <a:sym typeface="TS Qamus Bol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8440C35B-D87B-5CEC-D788-1EDB27AE3486}"/>
              </a:ext>
            </a:extLst>
          </p:cNvPr>
          <p:cNvSpPr txBox="1"/>
          <p:nvPr/>
        </p:nvSpPr>
        <p:spPr>
          <a:xfrm>
            <a:off x="15828899" y="342900"/>
            <a:ext cx="2306701" cy="859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55"/>
              </a:lnSpc>
            </a:pPr>
            <a:r>
              <a:rPr lang="it-IT" sz="3500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Università Tor Vergata</a:t>
            </a:r>
          </a:p>
        </p:txBody>
      </p:sp>
      <p:pic>
        <p:nvPicPr>
          <p:cNvPr id="8" name="Elemento grafico 7" descr="Libro aperto contorno">
            <a:extLst>
              <a:ext uri="{FF2B5EF4-FFF2-40B4-BE49-F238E27FC236}">
                <a16:creationId xmlns:a16="http://schemas.microsoft.com/office/drawing/2014/main" id="{638C35BD-9DC8-7901-454A-8193FDC2CC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30400" y="114300"/>
            <a:ext cx="1219200" cy="1219200"/>
          </a:xfrm>
          <a:prstGeom prst="rect">
            <a:avLst/>
          </a:prstGeom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E158A573-BB26-0A5F-04DF-45391495A20C}"/>
              </a:ext>
            </a:extLst>
          </p:cNvPr>
          <p:cNvSpPr txBox="1"/>
          <p:nvPr/>
        </p:nvSpPr>
        <p:spPr>
          <a:xfrm>
            <a:off x="1608161" y="6748659"/>
            <a:ext cx="10500491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it-IT" sz="2800" noProof="0" dirty="0">
                <a:solidFill>
                  <a:srgbClr val="0F3FD4"/>
                </a:solidFill>
                <a:ea typeface="เอฟซี ซับเจค คอนเดนซ์​"/>
                <a:cs typeface="Times New Roman" panose="02020603050405020304" pitchFamily="18" charset="0"/>
                <a:sym typeface="เอฟซี ซับเจค คอนเดนซ์​"/>
              </a:rPr>
              <a:t>Valentina Jin </a:t>
            </a:r>
          </a:p>
          <a:p>
            <a:r>
              <a:rPr lang="it-IT" sz="2800" noProof="0" dirty="0">
                <a:solidFill>
                  <a:srgbClr val="0F3FD4"/>
                </a:solidFill>
                <a:ea typeface="เอฟซี ซับเจค คอนเดนซ์​"/>
                <a:cs typeface="Times New Roman" panose="02020603050405020304" pitchFamily="18" charset="0"/>
                <a:sym typeface="เอฟซี ซับเจค คอนเดนซ์​"/>
              </a:rPr>
              <a:t>0365400</a:t>
            </a:r>
          </a:p>
          <a:p>
            <a:r>
              <a:rPr lang="it-IT" sz="2800" noProof="0" dirty="0">
                <a:solidFill>
                  <a:srgbClr val="0F3FD4"/>
                </a:solidFill>
                <a:ea typeface="เอฟซี ซับเจค คอนเดนซ์​"/>
                <a:cs typeface="Times New Roman" panose="02020603050405020304" pitchFamily="18" charset="0"/>
                <a:sym typeface="เอฟซี ซับเจค คอนเดนซ์​"/>
              </a:rPr>
              <a:t>A.A.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/>
          <p:cNvSpPr txBox="1"/>
          <p:nvPr/>
        </p:nvSpPr>
        <p:spPr>
          <a:xfrm>
            <a:off x="3581400" y="1099254"/>
            <a:ext cx="11329558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72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TS Qamus Bold"/>
                <a:cs typeface="TS Qamus Bold"/>
                <a:sym typeface="TS Qamus Bold"/>
              </a:rPr>
              <a:t>AGENDA</a:t>
            </a:r>
          </a:p>
        </p:txBody>
      </p:sp>
      <p:sp>
        <p:nvSpPr>
          <p:cNvPr id="4" name="Freeform 4"/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aphicFrame>
        <p:nvGraphicFramePr>
          <p:cNvPr id="13" name="Diagramma 12">
            <a:extLst>
              <a:ext uri="{FF2B5EF4-FFF2-40B4-BE49-F238E27FC236}">
                <a16:creationId xmlns:a16="http://schemas.microsoft.com/office/drawing/2014/main" id="{1125DD2C-A292-9708-384A-CBFE9D8A16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9834377"/>
              </p:ext>
            </p:extLst>
          </p:nvPr>
        </p:nvGraphicFramePr>
        <p:xfrm>
          <a:off x="4685272" y="4678771"/>
          <a:ext cx="6211328" cy="2347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4" name="Diagramma 13">
            <a:extLst>
              <a:ext uri="{FF2B5EF4-FFF2-40B4-BE49-F238E27FC236}">
                <a16:creationId xmlns:a16="http://schemas.microsoft.com/office/drawing/2014/main" id="{4778C4FF-41C7-4E98-BB3C-58C2CBD083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1577660"/>
              </p:ext>
            </p:extLst>
          </p:nvPr>
        </p:nvGraphicFramePr>
        <p:xfrm>
          <a:off x="11201400" y="4374445"/>
          <a:ext cx="5029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5" name="Diagramma 14">
            <a:extLst>
              <a:ext uri="{FF2B5EF4-FFF2-40B4-BE49-F238E27FC236}">
                <a16:creationId xmlns:a16="http://schemas.microsoft.com/office/drawing/2014/main" id="{360F0671-404C-48F4-6894-A5F447CD0F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9877461"/>
              </p:ext>
            </p:extLst>
          </p:nvPr>
        </p:nvGraphicFramePr>
        <p:xfrm>
          <a:off x="990600" y="3009900"/>
          <a:ext cx="16611600" cy="41395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17" name="Segnaposto numero diapositiva 9">
            <a:extLst>
              <a:ext uri="{FF2B5EF4-FFF2-40B4-BE49-F238E27FC236}">
                <a16:creationId xmlns:a16="http://schemas.microsoft.com/office/drawing/2014/main" id="{BEBE87AB-6B95-270E-F909-12922AE1FBA9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2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B82A5-D5AE-7BEB-A4DC-129096F6C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F296E5CB-08C8-9706-1411-943CAB1A69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FA45EC6-1338-9DCC-9C41-53A20B13E0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67153DF-A0E4-6671-5BC6-E337BC1C154E}"/>
              </a:ext>
            </a:extLst>
          </p:cNvPr>
          <p:cNvSpPr txBox="1"/>
          <p:nvPr/>
        </p:nvSpPr>
        <p:spPr>
          <a:xfrm>
            <a:off x="3810000" y="1119114"/>
            <a:ext cx="11329558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72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TS Qamus Bold"/>
                <a:cs typeface="TS Qamus Bold"/>
                <a:sym typeface="TS Qamus Bold"/>
              </a:rPr>
              <a:t>Problema UFL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3">
                <a:extLst>
                  <a:ext uri="{FF2B5EF4-FFF2-40B4-BE49-F238E27FC236}">
                    <a16:creationId xmlns:a16="http://schemas.microsoft.com/office/drawing/2014/main" id="{10B8C399-2364-C7DE-BEA4-7CBBCAA2CEE4}"/>
                  </a:ext>
                </a:extLst>
              </p:cNvPr>
              <p:cNvSpPr txBox="1"/>
              <p:nvPr/>
            </p:nvSpPr>
            <p:spPr>
              <a:xfrm>
                <a:off x="1042558" y="3016466"/>
                <a:ext cx="9372600" cy="553997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it-IT" sz="2400" b="1" u="sng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Domanda chiave</a:t>
                </a:r>
                <a:r>
                  <a:rPr lang="it-IT" sz="2400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: "Dato un insieme di clienti e un insieme di possibili sedi per dei magazzini, dove conviene aprire i magazzini per servire tutti i clienti al costo più basso possibile?</a:t>
                </a:r>
                <a:r>
                  <a:rPr lang="it-IT" sz="2400" dirty="0">
                    <a:solidFill>
                      <a:srgbClr val="0F3FD4"/>
                    </a:solidFill>
                  </a:rPr>
                  <a:t> </a:t>
                </a:r>
                <a:r>
                  <a:rPr lang="it-IT" sz="2400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"</a:t>
                </a:r>
              </a:p>
              <a:p>
                <a:endParaRPr lang="it-IT" sz="2400" dirty="0">
                  <a:solidFill>
                    <a:srgbClr val="0F3FD4"/>
                  </a:solidFill>
                  <a:ea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it-IT" sz="2400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Costi Fissi (di Apertura): Un costo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ea typeface="เอฟซี ซับเจค คอนเดนซ์​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</m:ctrlPr>
                      </m:sSubPr>
                      <m:e>
                        <m:r>
                          <a:rPr lang="it-IT" sz="2400" i="1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ea typeface="เอฟซี ซับเจค คอนเดนซ์​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𝑓</m:t>
                        </m:r>
                      </m:e>
                      <m:sub>
                        <m:r>
                          <a:rPr lang="it-IT" sz="2400" i="1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ea typeface="เอฟซี ซับเจค คอนเดนซ์​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it-IT" sz="2400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 da pagare se si decide di aprire il magazzino </a:t>
                </a:r>
                <a14:m>
                  <m:oMath xmlns:m="http://schemas.openxmlformats.org/officeDocument/2006/math">
                    <m:r>
                      <a:rPr lang="it-IT" sz="2400" i="1">
                        <a:solidFill>
                          <a:srgbClr val="0F3FD4"/>
                        </a:solidFill>
                        <a:latin typeface="Cambria Math" panose="02040503050406030204" pitchFamily="18" charset="0"/>
                        <a:ea typeface="เอฟซี ซับเจค คอนเดนซ์​"/>
                        <a:cs typeface="เอฟซี ซับเจค คอนเดนซ์​"/>
                        <a:sym typeface="เอฟซี ซับเจค คอนเดนซ์​"/>
                      </a:rPr>
                      <m:t>𝑢</m:t>
                    </m:r>
                  </m:oMath>
                </a14:m>
                <a:r>
                  <a:rPr lang="it-IT" sz="2400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it-IT" sz="2400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Costi Variabili (di Assegnazione): Un costo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ea typeface="เอฟซี ซับเจค คอนเดนซ์​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</m:ctrlPr>
                      </m:sSubPr>
                      <m:e>
                        <m:r>
                          <a:rPr lang="it-IT" sz="2400" i="1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ea typeface="เอฟซี ซับเจค คอนเดนซ์​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𝑐</m:t>
                        </m:r>
                      </m:e>
                      <m:sub>
                        <m:r>
                          <a:rPr lang="it-IT" sz="2400" i="1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ea typeface="เอฟซี ซับเจค คอนเดนซ์​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𝑢𝑣</m:t>
                        </m:r>
                      </m:sub>
                    </m:sSub>
                  </m:oMath>
                </a14:m>
                <a:r>
                  <a:rPr lang="it-IT" sz="2400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 da pagare per servire il cliente </a:t>
                </a:r>
                <a14:m>
                  <m:oMath xmlns:m="http://schemas.openxmlformats.org/officeDocument/2006/math">
                    <m:r>
                      <a:rPr lang="it-IT" sz="2400" i="1">
                        <a:solidFill>
                          <a:srgbClr val="0F3FD4"/>
                        </a:solidFill>
                        <a:latin typeface="Cambria Math" panose="02040503050406030204" pitchFamily="18" charset="0"/>
                        <a:ea typeface="เอฟซี ซับเจค คอนเดนซ์​"/>
                        <a:cs typeface="เอฟซี ซับเจค คอนเดนซ์​"/>
                        <a:sym typeface="เอฟซี ซับเจค คอนเดนซ์​"/>
                      </a:rPr>
                      <m:t>𝑣</m:t>
                    </m:r>
                  </m:oMath>
                </a14:m>
                <a:r>
                  <a:rPr lang="it-IT" sz="2400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 dal magazzino </a:t>
                </a:r>
                <a14:m>
                  <m:oMath xmlns:m="http://schemas.openxmlformats.org/officeDocument/2006/math">
                    <m:r>
                      <a:rPr lang="it-IT" sz="2400" i="1">
                        <a:solidFill>
                          <a:srgbClr val="0F3FD4"/>
                        </a:solidFill>
                        <a:latin typeface="Cambria Math" panose="02040503050406030204" pitchFamily="18" charset="0"/>
                        <a:ea typeface="เอฟซี ซับเจค คอนเดนซ์​"/>
                        <a:cs typeface="เอฟซี ซับเจค คอนเดนซ์​"/>
                        <a:sym typeface="เอฟซี ซับเจค คอนเดนซ์​"/>
                      </a:rPr>
                      <m:t>𝑢</m:t>
                    </m:r>
                  </m:oMath>
                </a14:m>
                <a:r>
                  <a:rPr lang="it-IT" sz="2400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.</a:t>
                </a:r>
              </a:p>
              <a:p>
                <a:endParaRPr lang="it-IT" sz="2400" dirty="0">
                  <a:solidFill>
                    <a:srgbClr val="0F3FD4"/>
                  </a:solidFill>
                  <a:ea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r>
                  <a:rPr lang="it-IT" sz="2400" b="1" u="sng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Obiettivo</a:t>
                </a:r>
                <a:r>
                  <a:rPr lang="it-IT" sz="2400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: Minimizzare la somma dei costi fissi totali e dei costi di assegnazioni totali.</a:t>
                </a:r>
              </a:p>
              <a:p>
                <a:endParaRPr lang="it-IT" sz="2400" dirty="0">
                  <a:solidFill>
                    <a:srgbClr val="0F3FD4"/>
                  </a:solidFill>
                  <a:ea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r>
                  <a:rPr lang="it-IT" sz="2400" b="1" u="sng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Vincoli</a:t>
                </a:r>
                <a:r>
                  <a:rPr lang="it-IT" sz="2400" b="1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it-IT" sz="2400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Ogni cliente deve essere servito da esattamente un magazzino.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it-IT" sz="2400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Un cliente può essere servito solo da un magazzino aperto.</a:t>
                </a:r>
              </a:p>
            </p:txBody>
          </p:sp>
        </mc:Choice>
        <mc:Fallback xmlns="">
          <p:sp>
            <p:nvSpPr>
              <p:cNvPr id="3" name="TextBox 3">
                <a:extLst>
                  <a:ext uri="{FF2B5EF4-FFF2-40B4-BE49-F238E27FC236}">
                    <a16:creationId xmlns:a16="http://schemas.microsoft.com/office/drawing/2014/main" id="{10B8C399-2364-C7DE-BEA4-7CBBCAA2C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558" y="3016466"/>
                <a:ext cx="9372600" cy="5539978"/>
              </a:xfrm>
              <a:prstGeom prst="rect">
                <a:avLst/>
              </a:prstGeom>
              <a:blipFill>
                <a:blip r:embed="rId3"/>
                <a:stretch>
                  <a:fillRect l="-1951" t="-1760" r="-1560" b="-23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A6D53328-15BC-1FF7-2F33-163D6BF574CA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3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543C0446-586F-DCBA-9639-EE897126B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3026" y="3456996"/>
            <a:ext cx="6216569" cy="4545198"/>
          </a:xfrm>
          <a:prstGeom prst="rect">
            <a:avLst/>
          </a:prstGeom>
          <a:solidFill>
            <a:srgbClr val="0F3FD4"/>
          </a:solidFill>
          <a:ln>
            <a:solidFill>
              <a:srgbClr val="0F3FD4"/>
            </a:solidFill>
          </a:ln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8C9ADA15-9991-F3F3-F662-609F31CC12CE}"/>
              </a:ext>
            </a:extLst>
          </p:cNvPr>
          <p:cNvSpPr txBox="1"/>
          <p:nvPr/>
        </p:nvSpPr>
        <p:spPr>
          <a:xfrm>
            <a:off x="11734800" y="2995329"/>
            <a:ext cx="1222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rgbClr val="0F3FD4"/>
                </a:solidFill>
                <a:highlight>
                  <a:srgbClr val="FFFF00"/>
                </a:highlight>
                <a:cs typeface="เอฟซี ซับเจค คอนเดนซ์​"/>
              </a:rPr>
              <a:t>Facility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2D2DC3C-BE75-45CF-E7AF-E0E798032EFF}"/>
              </a:ext>
            </a:extLst>
          </p:cNvPr>
          <p:cNvSpPr txBox="1"/>
          <p:nvPr/>
        </p:nvSpPr>
        <p:spPr>
          <a:xfrm>
            <a:off x="15698256" y="2995330"/>
            <a:ext cx="1572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rgbClr val="0F3FD4"/>
                </a:solidFill>
                <a:highlight>
                  <a:srgbClr val="FFFF00"/>
                </a:highlight>
                <a:cs typeface="เอฟซี ซับเจค คอนเดนซ์​"/>
              </a:rPr>
              <a:t>Domande</a:t>
            </a:r>
          </a:p>
        </p:txBody>
      </p:sp>
    </p:spTree>
    <p:extLst>
      <p:ext uri="{BB962C8B-B14F-4D97-AF65-F5344CB8AC3E}">
        <p14:creationId xmlns:p14="http://schemas.microsoft.com/office/powerpoint/2010/main" val="84139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D849F-12C6-A42A-50EB-6A6B964B9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36AAD0A-8D53-C599-420B-F8B1B3164B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EB47D7A-0DDD-30BE-E77D-4A9B98F07A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40635D65-AE88-D33D-FA14-47186F8B1CEB}"/>
              </a:ext>
            </a:extLst>
          </p:cNvPr>
          <p:cNvSpPr txBox="1"/>
          <p:nvPr/>
        </p:nvSpPr>
        <p:spPr>
          <a:xfrm>
            <a:off x="3810000" y="1119114"/>
            <a:ext cx="11329558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72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TS Qamus Bold"/>
                <a:cs typeface="TS Qamus Bold"/>
                <a:sym typeface="TS Qamus Bold"/>
              </a:rPr>
              <a:t>Problema UFL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A9487B3-0055-80CC-B5E9-4A475A0F0B8E}"/>
              </a:ext>
            </a:extLst>
          </p:cNvPr>
          <p:cNvSpPr txBox="1"/>
          <p:nvPr/>
        </p:nvSpPr>
        <p:spPr>
          <a:xfrm>
            <a:off x="1143000" y="4139565"/>
            <a:ext cx="3180682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it-IT" sz="2400" b="1" u="sng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INPUT: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Facility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Client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Costi fissi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Costi di assegnazione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dirty="0">
              <a:solidFill>
                <a:srgbClr val="0F3FD4"/>
              </a:solidFill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dirty="0">
              <a:solidFill>
                <a:srgbClr val="0F3FD4"/>
              </a:solidFill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0C9C3B87-0DF8-4D66-A533-9D6F5C87BE02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4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283398B-2CDA-4434-3C32-DB9A8A102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3026" y="3456996"/>
            <a:ext cx="6216569" cy="4545198"/>
          </a:xfrm>
          <a:prstGeom prst="rect">
            <a:avLst/>
          </a:prstGeom>
          <a:solidFill>
            <a:srgbClr val="0F3FD4"/>
          </a:solidFill>
          <a:ln>
            <a:solidFill>
              <a:srgbClr val="0F3FD4"/>
            </a:solidFill>
          </a:ln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B61430FF-908E-B406-F3EF-4FE5FCC943C0}"/>
              </a:ext>
            </a:extLst>
          </p:cNvPr>
          <p:cNvSpPr txBox="1"/>
          <p:nvPr/>
        </p:nvSpPr>
        <p:spPr>
          <a:xfrm>
            <a:off x="11734800" y="2995329"/>
            <a:ext cx="1222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rgbClr val="0F3FD4"/>
                </a:solidFill>
                <a:highlight>
                  <a:srgbClr val="FFFF00"/>
                </a:highlight>
                <a:cs typeface="เอฟซี ซับเจค คอนเดนซ์​"/>
              </a:rPr>
              <a:t>Facility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CBD197B-C107-BC6F-9639-F0A93234D5FB}"/>
              </a:ext>
            </a:extLst>
          </p:cNvPr>
          <p:cNvSpPr txBox="1"/>
          <p:nvPr/>
        </p:nvSpPr>
        <p:spPr>
          <a:xfrm>
            <a:off x="15698256" y="2995330"/>
            <a:ext cx="1572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rgbClr val="0F3FD4"/>
                </a:solidFill>
                <a:highlight>
                  <a:srgbClr val="FFFF00"/>
                </a:highlight>
                <a:cs typeface="เอฟซี ซับเจค คอนเดนซ์​"/>
              </a:rPr>
              <a:t>Domande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F0DB51EC-092C-CA91-9A2C-DD7757978B78}"/>
              </a:ext>
            </a:extLst>
          </p:cNvPr>
          <p:cNvSpPr txBox="1"/>
          <p:nvPr/>
        </p:nvSpPr>
        <p:spPr>
          <a:xfrm>
            <a:off x="7328861" y="4139565"/>
            <a:ext cx="2243127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it-IT" sz="2400" b="1" u="sng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OUTPUT: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Costo totale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dirty="0">
              <a:solidFill>
                <a:srgbClr val="0F3FD4"/>
              </a:solidFill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dirty="0">
              <a:solidFill>
                <a:srgbClr val="0F3FD4"/>
              </a:solidFill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</p:txBody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056834E2-3CBB-179A-0275-490BF0B37501}"/>
              </a:ext>
            </a:extLst>
          </p:cNvPr>
          <p:cNvSpPr/>
          <p:nvPr/>
        </p:nvSpPr>
        <p:spPr>
          <a:xfrm>
            <a:off x="4800600" y="4266321"/>
            <a:ext cx="1447800" cy="648579"/>
          </a:xfrm>
          <a:prstGeom prst="rightArrow">
            <a:avLst/>
          </a:prstGeom>
          <a:ln>
            <a:solidFill>
              <a:srgbClr val="0F3FD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rgbClr val="0F3FD4"/>
                </a:solidFill>
              </a:rPr>
              <a:t>UFL</a:t>
            </a:r>
          </a:p>
        </p:txBody>
      </p:sp>
    </p:spTree>
    <p:extLst>
      <p:ext uri="{BB962C8B-B14F-4D97-AF65-F5344CB8AC3E}">
        <p14:creationId xmlns:p14="http://schemas.microsoft.com/office/powerpoint/2010/main" val="821467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144000" y="4823460"/>
            <a:ext cx="9144000" cy="5463540"/>
          </a:xfrm>
          <a:custGeom>
            <a:avLst/>
            <a:gdLst/>
            <a:ahLst/>
            <a:cxnLst/>
            <a:rect l="l" t="t" r="r" b="b"/>
            <a:pathLst>
              <a:path w="9144000" h="5463540">
                <a:moveTo>
                  <a:pt x="0" y="0"/>
                </a:moveTo>
                <a:lnTo>
                  <a:pt x="9144000" y="0"/>
                </a:lnTo>
                <a:lnTo>
                  <a:pt x="9144000" y="5463540"/>
                </a:lnTo>
                <a:lnTo>
                  <a:pt x="0" y="5463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028700" y="895350"/>
            <a:ext cx="11329558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TS Qamus Bold"/>
                <a:cs typeface="TS Qamus Bold"/>
                <a:sym typeface="TS Qamus Bold"/>
              </a:rPr>
              <a:t>Obiettivi del Progetto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8BBD4FC7-4F82-9479-C147-5445D19D5286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5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2" name="TextBox 9">
            <a:extLst>
              <a:ext uri="{FF2B5EF4-FFF2-40B4-BE49-F238E27FC236}">
                <a16:creationId xmlns:a16="http://schemas.microsoft.com/office/drawing/2014/main" id="{4490FF10-49FE-F65C-FDF0-457023D3F2B5}"/>
              </a:ext>
            </a:extLst>
          </p:cNvPr>
          <p:cNvSpPr txBox="1"/>
          <p:nvPr/>
        </p:nvSpPr>
        <p:spPr>
          <a:xfrm>
            <a:off x="2703798" y="2877976"/>
            <a:ext cx="12880404" cy="5984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l">
              <a:lnSpc>
                <a:spcPts val="3919"/>
              </a:lnSpc>
              <a:buFont typeface="+mj-lt"/>
              <a:buAutoNum type="arabicPeriod"/>
            </a:pPr>
            <a:r>
              <a:rPr lang="it-IT" sz="2400" b="1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Implementare</a:t>
            </a:r>
            <a:r>
              <a:rPr lang="it-IT" sz="2400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e </a:t>
            </a:r>
            <a:r>
              <a:rPr lang="it-IT" sz="2400" b="1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analizzare</a:t>
            </a:r>
            <a:r>
              <a:rPr lang="it-IT" sz="2400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diversi approcci risolutivi per il problema UFL:</a:t>
            </a:r>
          </a:p>
          <a:p>
            <a:pPr marL="914400" lvl="1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it-IT" sz="2400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Metodi esatti basati sulla Programmazione Lineare Intera (PLI).</a:t>
            </a:r>
          </a:p>
          <a:p>
            <a:pPr marL="914400" lvl="1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it-IT" sz="2400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Un'euristica classica (Algoritmo di Erlenkotter).</a:t>
            </a:r>
          </a:p>
          <a:p>
            <a:pPr marL="914400" lvl="1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it-IT" sz="2400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Un'euristica semplice di costruzione (Greedy).</a:t>
            </a:r>
          </a:p>
          <a:p>
            <a:pPr lvl="1">
              <a:lnSpc>
                <a:spcPts val="3919"/>
              </a:lnSpc>
            </a:pPr>
            <a:endParaRPr lang="it-IT" sz="2799" noProof="0" dirty="0">
              <a:solidFill>
                <a:srgbClr val="0F3FD4"/>
              </a:solidFill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  <a:p>
            <a:pPr marL="514350" indent="-514350" algn="l">
              <a:lnSpc>
                <a:spcPts val="3919"/>
              </a:lnSpc>
              <a:buFont typeface="+mj-lt"/>
              <a:buAutoNum type="arabicPeriod"/>
            </a:pPr>
            <a:r>
              <a:rPr lang="it-IT" sz="2400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Confrontare le </a:t>
            </a:r>
            <a:r>
              <a:rPr lang="it-IT" sz="2400" b="1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performance</a:t>
            </a:r>
            <a:r>
              <a:rPr lang="it-IT" sz="2400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dei diversi metodi secondo metriche standard.</a:t>
            </a:r>
          </a:p>
          <a:p>
            <a:pPr algn="l">
              <a:lnSpc>
                <a:spcPts val="3919"/>
              </a:lnSpc>
            </a:pPr>
            <a:endParaRPr lang="it-IT" sz="2799" noProof="0" dirty="0">
              <a:solidFill>
                <a:srgbClr val="0F3FD4"/>
              </a:solidFill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  <a:p>
            <a:pPr marL="514350" indent="-514350" algn="l">
              <a:lnSpc>
                <a:spcPts val="3919"/>
              </a:lnSpc>
              <a:buFont typeface="+mj-lt"/>
              <a:buAutoNum type="arabicPeriod"/>
            </a:pPr>
            <a:r>
              <a:rPr lang="it-IT" sz="2400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Valutare il compromesso (</a:t>
            </a:r>
            <a:r>
              <a:rPr lang="it-IT" sz="2400" b="1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trade-off</a:t>
            </a:r>
            <a:r>
              <a:rPr lang="it-IT" sz="2400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) tra qualità della soluzione (vicinanza all'ottimo) e tempo computazionale.</a:t>
            </a:r>
          </a:p>
          <a:p>
            <a:pPr marL="514350" indent="-514350" algn="l">
              <a:lnSpc>
                <a:spcPts val="3919"/>
              </a:lnSpc>
              <a:buFont typeface="+mj-lt"/>
              <a:buAutoNum type="arabicPeriod"/>
            </a:pPr>
            <a:endParaRPr lang="it-IT" sz="2400" noProof="0" dirty="0">
              <a:solidFill>
                <a:srgbClr val="0F3FD4"/>
              </a:solidFill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  <a:p>
            <a:pPr marL="514350" indent="-514350" algn="l">
              <a:lnSpc>
                <a:spcPts val="3919"/>
              </a:lnSpc>
              <a:buFont typeface="+mj-lt"/>
              <a:buAutoNum type="arabicPeriod"/>
            </a:pPr>
            <a:r>
              <a:rPr lang="it-IT" sz="2400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Studiare la </a:t>
            </a:r>
            <a:r>
              <a:rPr lang="it-IT" sz="2400" b="1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scalabilità</a:t>
            </a:r>
            <a:r>
              <a:rPr lang="it-IT" sz="2400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degli algoritmi, osservando come si comportano all'aumentare della dimensione delle istanze.</a:t>
            </a:r>
          </a:p>
        </p:txBody>
      </p:sp>
      <p:grpSp>
        <p:nvGrpSpPr>
          <p:cNvPr id="53" name="Gruppo 52">
            <a:extLst>
              <a:ext uri="{FF2B5EF4-FFF2-40B4-BE49-F238E27FC236}">
                <a16:creationId xmlns:a16="http://schemas.microsoft.com/office/drawing/2014/main" id="{B4F8E5B0-B681-28D7-C82C-8BF466166B72}"/>
              </a:ext>
            </a:extLst>
          </p:cNvPr>
          <p:cNvGrpSpPr/>
          <p:nvPr/>
        </p:nvGrpSpPr>
        <p:grpSpPr>
          <a:xfrm>
            <a:off x="1905000" y="2757990"/>
            <a:ext cx="1310778" cy="968376"/>
            <a:chOff x="1256435" y="2857459"/>
            <a:chExt cx="1310778" cy="968376"/>
          </a:xfrm>
        </p:grpSpPr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A2D131E5-23B4-7C6F-03EC-4C5F650E646A}"/>
                </a:ext>
              </a:extLst>
            </p:cNvPr>
            <p:cNvSpPr/>
            <p:nvPr/>
          </p:nvSpPr>
          <p:spPr>
            <a:xfrm>
              <a:off x="1422212" y="2857459"/>
              <a:ext cx="958387" cy="96837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3FD4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35" name="TextBox 13">
              <a:extLst>
                <a:ext uri="{FF2B5EF4-FFF2-40B4-BE49-F238E27FC236}">
                  <a16:creationId xmlns:a16="http://schemas.microsoft.com/office/drawing/2014/main" id="{AB1A5D9C-0920-E0CE-495E-B9B538E92CD7}"/>
                </a:ext>
              </a:extLst>
            </p:cNvPr>
            <p:cNvSpPr txBox="1"/>
            <p:nvPr/>
          </p:nvSpPr>
          <p:spPr>
            <a:xfrm>
              <a:off x="1256435" y="2882356"/>
              <a:ext cx="1310778" cy="8425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it-IT" sz="5000" b="1" noProof="0" dirty="0">
                  <a:solidFill>
                    <a:srgbClr val="FFFFFF"/>
                  </a:solidFill>
                  <a:ea typeface="เอฟซี ซับเจค คอนเดนซ์​ Bold"/>
                  <a:cs typeface="เอฟซี ซับเจค คอนเดนซ์​ Bold"/>
                  <a:sym typeface="เอฟซี ซับเจค คอนเดนซ์​ Bold"/>
                </a:rPr>
                <a:t>01</a:t>
              </a:r>
            </a:p>
          </p:txBody>
        </p:sp>
      </p:grpSp>
      <p:grpSp>
        <p:nvGrpSpPr>
          <p:cNvPr id="54" name="Gruppo 53">
            <a:extLst>
              <a:ext uri="{FF2B5EF4-FFF2-40B4-BE49-F238E27FC236}">
                <a16:creationId xmlns:a16="http://schemas.microsoft.com/office/drawing/2014/main" id="{2E5A34BB-77DF-8BCC-9182-C503C5C92872}"/>
              </a:ext>
            </a:extLst>
          </p:cNvPr>
          <p:cNvGrpSpPr/>
          <p:nvPr/>
        </p:nvGrpSpPr>
        <p:grpSpPr>
          <a:xfrm>
            <a:off x="1932584" y="5092850"/>
            <a:ext cx="1191616" cy="968376"/>
            <a:chOff x="1311043" y="2857459"/>
            <a:chExt cx="1191616" cy="968376"/>
          </a:xfrm>
        </p:grpSpPr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2CC3D618-2B96-A6B4-E5FF-B105340062D0}"/>
                </a:ext>
              </a:extLst>
            </p:cNvPr>
            <p:cNvSpPr/>
            <p:nvPr/>
          </p:nvSpPr>
          <p:spPr>
            <a:xfrm>
              <a:off x="1422212" y="2857459"/>
              <a:ext cx="958387" cy="96837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3FD4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56" name="TextBox 13">
              <a:extLst>
                <a:ext uri="{FF2B5EF4-FFF2-40B4-BE49-F238E27FC236}">
                  <a16:creationId xmlns:a16="http://schemas.microsoft.com/office/drawing/2014/main" id="{0B01FCC2-D62C-CCED-D695-65CF3A1F6721}"/>
                </a:ext>
              </a:extLst>
            </p:cNvPr>
            <p:cNvSpPr txBox="1"/>
            <p:nvPr/>
          </p:nvSpPr>
          <p:spPr>
            <a:xfrm>
              <a:off x="1311043" y="2909696"/>
              <a:ext cx="1191616" cy="8425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it-IT" sz="5000" b="1" noProof="0" dirty="0">
                  <a:solidFill>
                    <a:srgbClr val="FFFFFF"/>
                  </a:solidFill>
                  <a:ea typeface="เอฟซี ซับเจค คอนเดนซ์​ Bold"/>
                  <a:cs typeface="เอฟซี ซับเจค คอนเดนซ์​ Bold"/>
                  <a:sym typeface="เอฟซี ซับเจค คอนเดนซ์​ Bold"/>
                </a:rPr>
                <a:t>02</a:t>
              </a:r>
            </a:p>
          </p:txBody>
        </p:sp>
      </p:grp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F7433DEB-A79F-D42E-1194-C9301EF44DE9}"/>
              </a:ext>
            </a:extLst>
          </p:cNvPr>
          <p:cNvGrpSpPr/>
          <p:nvPr/>
        </p:nvGrpSpPr>
        <p:grpSpPr>
          <a:xfrm>
            <a:off x="1927138" y="6338987"/>
            <a:ext cx="1191616" cy="968376"/>
            <a:chOff x="1311043" y="2857459"/>
            <a:chExt cx="1191616" cy="968376"/>
          </a:xfrm>
        </p:grpSpPr>
        <p:sp>
          <p:nvSpPr>
            <p:cNvPr id="58" name="Freeform 11">
              <a:extLst>
                <a:ext uri="{FF2B5EF4-FFF2-40B4-BE49-F238E27FC236}">
                  <a16:creationId xmlns:a16="http://schemas.microsoft.com/office/drawing/2014/main" id="{8B11802D-A2C9-50D9-D51C-69FA96BCFD6F}"/>
                </a:ext>
              </a:extLst>
            </p:cNvPr>
            <p:cNvSpPr/>
            <p:nvPr/>
          </p:nvSpPr>
          <p:spPr>
            <a:xfrm>
              <a:off x="1422212" y="2857459"/>
              <a:ext cx="958387" cy="96837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3FD4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59" name="TextBox 13">
              <a:extLst>
                <a:ext uri="{FF2B5EF4-FFF2-40B4-BE49-F238E27FC236}">
                  <a16:creationId xmlns:a16="http://schemas.microsoft.com/office/drawing/2014/main" id="{7A434286-A56E-E169-49C4-FBDAAA224E46}"/>
                </a:ext>
              </a:extLst>
            </p:cNvPr>
            <p:cNvSpPr txBox="1"/>
            <p:nvPr/>
          </p:nvSpPr>
          <p:spPr>
            <a:xfrm>
              <a:off x="1311043" y="2909696"/>
              <a:ext cx="1191616" cy="8425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it-IT" sz="5000" b="1" noProof="0" dirty="0">
                  <a:solidFill>
                    <a:srgbClr val="FFFFFF"/>
                  </a:solidFill>
                  <a:ea typeface="เอฟซี ซับเจค คอนเดนซ์​ Bold"/>
                  <a:cs typeface="เอฟซี ซับเจค คอนเดนซ์​ Bold"/>
                  <a:sym typeface="เอฟซี ซับเจค คอนเดนซ์​ Bold"/>
                </a:rPr>
                <a:t>0</a:t>
              </a:r>
              <a:r>
                <a:rPr lang="it-IT" sz="5000" b="1" dirty="0">
                  <a:solidFill>
                    <a:srgbClr val="FFFFFF"/>
                  </a:solidFill>
                  <a:ea typeface="เอฟซี ซับเจค คอนเดนซ์​ Bold"/>
                  <a:cs typeface="เอฟซี ซับเจค คอนเดนซ์​ Bold"/>
                  <a:sym typeface="เอฟซี ซับเจค คอนเดนซ์​ Bold"/>
                </a:rPr>
                <a:t>3</a:t>
              </a:r>
              <a:endParaRPr lang="it-IT" sz="5000" b="1" noProof="0" dirty="0">
                <a:solidFill>
                  <a:srgbClr val="FFFFFF"/>
                </a:solidFill>
                <a:ea typeface="เอฟซี ซับเจค คอนเดนซ์​ Bold"/>
                <a:cs typeface="เอฟซี ซับเจค คอนเดนซ์​ Bold"/>
                <a:sym typeface="เอฟซี ซับเจค คอนเดนซ์​ Bold"/>
              </a:endParaRPr>
            </a:p>
          </p:txBody>
        </p:sp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98FEF8CD-1F88-44DC-FC60-51B6E49624E5}"/>
              </a:ext>
            </a:extLst>
          </p:cNvPr>
          <p:cNvGrpSpPr/>
          <p:nvPr/>
        </p:nvGrpSpPr>
        <p:grpSpPr>
          <a:xfrm>
            <a:off x="1954162" y="7734300"/>
            <a:ext cx="1191616" cy="968376"/>
            <a:chOff x="1311043" y="2857459"/>
            <a:chExt cx="1191616" cy="968376"/>
          </a:xfrm>
        </p:grpSpPr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851EDC69-CCD2-F705-E51A-BF26A8E806FF}"/>
                </a:ext>
              </a:extLst>
            </p:cNvPr>
            <p:cNvSpPr/>
            <p:nvPr/>
          </p:nvSpPr>
          <p:spPr>
            <a:xfrm>
              <a:off x="1422212" y="2857459"/>
              <a:ext cx="958387" cy="96837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3FD4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62" name="TextBox 13">
              <a:extLst>
                <a:ext uri="{FF2B5EF4-FFF2-40B4-BE49-F238E27FC236}">
                  <a16:creationId xmlns:a16="http://schemas.microsoft.com/office/drawing/2014/main" id="{4F9BF8D9-7541-690E-0CCD-E30FC58B510A}"/>
                </a:ext>
              </a:extLst>
            </p:cNvPr>
            <p:cNvSpPr txBox="1"/>
            <p:nvPr/>
          </p:nvSpPr>
          <p:spPr>
            <a:xfrm>
              <a:off x="1311043" y="2909696"/>
              <a:ext cx="1191616" cy="8425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it-IT" sz="5000" b="1" noProof="0" dirty="0">
                  <a:solidFill>
                    <a:srgbClr val="FFFFFF"/>
                  </a:solidFill>
                  <a:ea typeface="เอฟซี ซับเจค คอนเดนซ์​ Bold"/>
                  <a:cs typeface="เอฟซี ซับเจค คอนเดนซ์​ Bold"/>
                  <a:sym typeface="เอฟซี ซับเจค คอนเดนซ์​ 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B11F7-93F8-57B7-1471-2CB09BBD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D8D36ACE-81F2-0A15-ADD7-69FB5137AB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E3E4642-8CAC-081D-08B2-32BCB91290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08BCF105-8B91-45DE-D99C-FBC9ED8AA7C1}"/>
              </a:ext>
            </a:extLst>
          </p:cNvPr>
          <p:cNvSpPr txBox="1"/>
          <p:nvPr/>
        </p:nvSpPr>
        <p:spPr>
          <a:xfrm>
            <a:off x="3810000" y="1119114"/>
            <a:ext cx="11329558" cy="1109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72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Metodi Esatti (PLI)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42093B06-87DF-8629-2905-E65EFFA9D0D8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6</a:t>
            </a:fld>
            <a:endParaRPr lang="en-US" sz="16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9">
                <a:extLst>
                  <a:ext uri="{FF2B5EF4-FFF2-40B4-BE49-F238E27FC236}">
                    <a16:creationId xmlns:a16="http://schemas.microsoft.com/office/drawing/2014/main" id="{92C30459-730A-6E5C-C5DA-0A38E7C69890}"/>
                  </a:ext>
                </a:extLst>
              </p:cNvPr>
              <p:cNvSpPr txBox="1"/>
              <p:nvPr/>
            </p:nvSpPr>
            <p:spPr>
              <a:xfrm>
                <a:off x="2628900" y="2727428"/>
                <a:ext cx="13030199" cy="600164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3919"/>
                  </a:lnSpc>
                </a:pPr>
                <a:r>
                  <a:rPr lang="it-IT" sz="2400" b="1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Funzione obiettivo:</a:t>
                </a:r>
                <a:endParaRPr lang="it-IT" sz="2400" b="1" i="1" noProof="0" dirty="0">
                  <a:solidFill>
                    <a:srgbClr val="0F3FD4"/>
                  </a:solidFill>
                  <a:ea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pPr algn="l">
                  <a:lnSpc>
                    <a:spcPts val="391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noProof="0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เอฟซี ซับเจค คอนเดนซ์​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𝑧</m:t>
                      </m:r>
                      <m:r>
                        <a:rPr lang="it-IT" sz="2400" b="0" i="1" noProof="0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เอฟซี ซับเจค คอนเดนซ์​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=</m:t>
                      </m:r>
                      <m:r>
                        <a:rPr lang="it-IT" sz="2400" b="0" i="1" noProof="0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เอฟซี ซับเจค คอนเดนซ์​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𝑚𝑖𝑛</m:t>
                      </m:r>
                      <m:nary>
                        <m:naryPr>
                          <m:chr m:val="∑"/>
                          <m:supHide m:val="on"/>
                          <m:ctrlPr>
                            <a:rPr lang="it-IT" sz="2400" b="0" i="1" noProof="0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it-IT" sz="2400" b="0" i="1" noProof="0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𝑢</m:t>
                          </m:r>
                          <m:r>
                            <a:rPr lang="it-IT" sz="2400" b="0" i="1" noProof="0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∈</m:t>
                          </m:r>
                          <m:r>
                            <a:rPr lang="it-IT" sz="2400" b="0" i="1" noProof="0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sz="2400" b="0" i="1" noProof="0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</m:ctrlPr>
                            </m:sSubPr>
                            <m:e>
                              <m:r>
                                <a:rPr lang="it-IT" sz="2400" b="0" i="1" noProof="0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it-IT" sz="2400" b="0" i="1" noProof="0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𝑢</m:t>
                              </m:r>
                            </m:sub>
                          </m:sSub>
                          <m:r>
                            <a:rPr lang="it-IT" sz="2400" b="0" i="1" noProof="0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∙</m:t>
                          </m:r>
                          <m:sSub>
                            <m:sSubPr>
                              <m:ctrlPr>
                                <a:rPr lang="it-IT" sz="2400" b="0" i="1" noProof="0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</m:ctrlPr>
                            </m:sSubPr>
                            <m:e>
                              <m:r>
                                <a:rPr lang="it-IT" sz="2400" b="0" i="1" noProof="0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sz="2400" b="0" i="1" noProof="0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𝑢</m:t>
                              </m:r>
                            </m:sub>
                          </m:sSub>
                          <m:r>
                            <a:rPr lang="it-IT" sz="2400" b="0" i="1" noProof="0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it-IT" sz="2400" b="0" i="1" noProof="0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it-IT" sz="2400" b="0" i="1" noProof="0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𝑢</m:t>
                              </m:r>
                              <m:r>
                                <a:rPr lang="it-IT" sz="2400" b="0" i="1" noProof="0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∈</m:t>
                              </m:r>
                              <m:r>
                                <a:rPr lang="it-IT" sz="2400" b="0" i="1" noProof="0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𝑆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2400" b="0" i="1" noProof="0" smtClean="0">
                                      <a:solidFill>
                                        <a:srgbClr val="0F3FD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เอฟซี ซับเจค คอนเดนซ์​"/>
                                      <a:sym typeface="เอฟซี ซับเจค คอนเดนซ์​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2400" b="0" i="1" noProof="0" smtClean="0">
                                      <a:solidFill>
                                        <a:srgbClr val="0F3FD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เอฟซี ซับเจค คอนเดนซ์​"/>
                                      <a:sym typeface="เอฟซี ซับเจค คอนเดนซ์​"/>
                                    </a:rPr>
                                    <m:t>𝑣</m:t>
                                  </m:r>
                                  <m:r>
                                    <a:rPr lang="it-IT" sz="2400" b="0" i="1" noProof="0" smtClean="0">
                                      <a:solidFill>
                                        <a:srgbClr val="0F3FD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เอฟซี ซับเจค คอนเดนซ์​"/>
                                      <a:sym typeface="เอฟซี ซับเจค คอนเดนซ์​"/>
                                    </a:rPr>
                                    <m:t>∈</m:t>
                                  </m:r>
                                  <m:r>
                                    <a:rPr lang="it-IT" sz="2400" b="0" i="1" noProof="0" smtClean="0">
                                      <a:solidFill>
                                        <a:srgbClr val="0F3FD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เอฟซี ซับเจค คอนเดนซ์​"/>
                                      <a:sym typeface="เอฟซี ซับเจค คอนเดนซ์​"/>
                                    </a:rPr>
                                    <m:t>𝐷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it-IT" sz="2400" b="0" i="1" noProof="0" smtClean="0">
                                          <a:solidFill>
                                            <a:srgbClr val="0F3FD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เอฟซี ซับเจค คอนเดนซ์​"/>
                                          <a:sym typeface="เอฟซี ซับเจค คอนเดนซ์​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2400" b="0" i="1" noProof="0" smtClean="0">
                                          <a:solidFill>
                                            <a:srgbClr val="0F3FD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เอฟซี ซับเจค คอนเดนซ์​"/>
                                          <a:sym typeface="เอฟซี ซับเจค คอนเดนซ์​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it-IT" sz="2400" b="0" i="1" noProof="0" smtClean="0">
                                          <a:solidFill>
                                            <a:srgbClr val="0F3FD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เอฟซี ซับเจค คอนเดนซ์​"/>
                                          <a:sym typeface="เอฟซี ซับเจค คอนเดนซ์​"/>
                                        </a:rPr>
                                        <m:t>𝑢𝑣</m:t>
                                      </m:r>
                                    </m:sub>
                                  </m:sSub>
                                  <m:r>
                                    <a:rPr lang="it-IT" sz="2400" b="0" i="1" noProof="0" smtClean="0">
                                      <a:solidFill>
                                        <a:srgbClr val="0F3FD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เอฟซี ซับเจค คอนเดนซ์​"/>
                                      <a:sym typeface="เอฟซี ซับเจค คอนเดนซ์​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it-IT" sz="2400" b="0" i="1" noProof="0" smtClean="0">
                                          <a:solidFill>
                                            <a:srgbClr val="0F3FD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เอฟซี ซับเจค คอนเดนซ์​"/>
                                          <a:sym typeface="เอฟซี ซับเจค คอนเดนซ์​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2400" b="0" i="1" noProof="0" smtClean="0">
                                          <a:solidFill>
                                            <a:srgbClr val="0F3FD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เอฟซี ซับเจค คอนเดนซ์​"/>
                                          <a:sym typeface="เอฟซี ซับเจค คอนเดนซ์​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it-IT" sz="2400" b="0" i="1" noProof="0" smtClean="0">
                                          <a:solidFill>
                                            <a:srgbClr val="0F3FD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เอฟซี ซับเจค คอนเดนซ์​"/>
                                          <a:sym typeface="เอฟซี ซับเจค คอนเดนซ์​"/>
                                        </a:rPr>
                                        <m:t>𝑢𝑣</m:t>
                                      </m:r>
                                    </m:sub>
                                  </m:sSub>
                                  <m:r>
                                    <a:rPr lang="it-IT" sz="2400" b="0" i="1" noProof="0" smtClean="0">
                                      <a:solidFill>
                                        <a:srgbClr val="0F3FD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เอฟซี ซับเจค คอนเดนซ์​"/>
                                      <a:sym typeface="เอฟซี ซับเจค คอนเดนซ์​"/>
                                    </a:rPr>
                                    <m:t>=</m:t>
                                  </m:r>
                                  <m:r>
                                    <a:rPr lang="it-IT" sz="2400" b="0" i="1" noProof="0" smtClean="0">
                                      <a:solidFill>
                                        <a:srgbClr val="0F3FD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เอฟซี ซับเจค คอนเดนซ์​"/>
                                      <a:sym typeface="เอฟซี ซับเจค คอนเดนซ์​"/>
                                    </a:rPr>
                                    <m:t>𝑐𝑜𝑠𝑡</m:t>
                                  </m:r>
                                  <m:r>
                                    <a:rPr lang="it-IT" sz="2400" b="0" i="1" noProof="0" smtClean="0">
                                      <a:solidFill>
                                        <a:srgbClr val="0F3FD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เอฟซี ซับเจค คอนเดนซ์​"/>
                                      <a:sym typeface="เอฟซี ซับเจค คอนเดนซ์​"/>
                                    </a:rPr>
                                    <m:t>(</m:t>
                                  </m:r>
                                  <m:r>
                                    <a:rPr lang="it-IT" sz="2400" b="0" i="1" noProof="0" smtClean="0">
                                      <a:solidFill>
                                        <a:srgbClr val="0F3FD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เอฟซี ซับเจค คอนเดนซ์​"/>
                                      <a:sym typeface="เอฟซี ซับเจค คอนเดนซ์​"/>
                                    </a:rPr>
                                    <m:t>𝑥</m:t>
                                  </m:r>
                                  <m:r>
                                    <a:rPr lang="it-IT" sz="2400" b="0" i="1" noProof="0" smtClean="0">
                                      <a:solidFill>
                                        <a:srgbClr val="0F3FD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เอฟซี ซับเจค คอนเดนซ์​"/>
                                      <a:sym typeface="เอฟซี ซับเจค คอนเดนซ์​"/>
                                    </a:rPr>
                                    <m:t>,</m:t>
                                  </m:r>
                                  <m:r>
                                    <a:rPr lang="it-IT" sz="2400" b="0" i="1" noProof="0" smtClean="0">
                                      <a:solidFill>
                                        <a:srgbClr val="0F3FD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เอฟซี ซับเจค คอนเดนซ์​"/>
                                      <a:sym typeface="เอฟซี ซับเจค คอนเดนซ์​"/>
                                    </a:rPr>
                                    <m:t>𝑦</m:t>
                                  </m:r>
                                  <m:r>
                                    <a:rPr lang="it-IT" sz="2400" b="0" i="1" noProof="0" smtClean="0">
                                      <a:solidFill>
                                        <a:srgbClr val="0F3FD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เอฟซี ซับเจค คอนเดนซ์​"/>
                                      <a:sym typeface="เอฟซี ซับเจค คอนเดนซ์​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it-IT" sz="2400" noProof="0" dirty="0">
                  <a:solidFill>
                    <a:srgbClr val="0F3FD4"/>
                  </a:solidFill>
                  <a:latin typeface="เอฟซี ซับเจค คอนเดนซ์​"/>
                  <a:ea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pPr algn="l">
                  <a:lnSpc>
                    <a:spcPts val="3919"/>
                  </a:lnSpc>
                </a:pPr>
                <a:endParaRPr lang="it-IT" sz="2400" noProof="0" dirty="0">
                  <a:solidFill>
                    <a:srgbClr val="0F3FD4"/>
                  </a:solidFill>
                  <a:latin typeface="เอฟซี ซับเจค คอนเดนซ์​"/>
                  <a:ea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pPr algn="l">
                  <a:lnSpc>
                    <a:spcPts val="3919"/>
                  </a:lnSpc>
                </a:pPr>
                <a:r>
                  <a:rPr lang="it-IT" sz="2400" b="1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Vincoli:</a:t>
                </a:r>
              </a:p>
              <a:p>
                <a:pPr algn="ctr">
                  <a:lnSpc>
                    <a:spcPts val="391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it-IT" sz="240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</m:ctrlPr>
                        </m:naryPr>
                        <m:sub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𝑢</m:t>
                          </m:r>
                          <m:r>
                            <a:rPr lang="it-IT" sz="2400" i="1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∈</m:t>
                          </m:r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sz="2400" i="1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</m:ctrlPr>
                            </m:sSubPr>
                            <m:e>
                              <m:r>
                                <a:rPr lang="it-IT" sz="2400" i="1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sz="2400" i="1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𝑢𝑣</m:t>
                              </m:r>
                            </m:sub>
                          </m:sSub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=1</m:t>
                          </m:r>
                          <m:r>
                            <a:rPr lang="it-IT" sz="2400" i="1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      ∀</m:t>
                          </m:r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𝑣</m:t>
                          </m:r>
                          <m:r>
                            <a:rPr lang="it-IT" sz="2400" i="1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∈</m:t>
                          </m:r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𝐷</m:t>
                          </m:r>
                        </m:e>
                      </m:nary>
                    </m:oMath>
                  </m:oMathPara>
                </a14:m>
                <a:endParaRPr lang="it-IT" sz="2400" dirty="0">
                  <a:solidFill>
                    <a:srgbClr val="0F3FD4"/>
                  </a:solidFill>
                  <a:latin typeface="เอฟซี ซับเจค คอนเดนซ์​"/>
                  <a:ea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pPr algn="ctr">
                  <a:lnSpc>
                    <a:spcPts val="3919"/>
                  </a:lnSpc>
                </a:pPr>
                <a:endParaRPr lang="it-IT" sz="2400" dirty="0">
                  <a:solidFill>
                    <a:srgbClr val="0F3FD4"/>
                  </a:solidFill>
                  <a:latin typeface="เอฟซี ซับเจค คอนเดนซ์​"/>
                  <a:ea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pPr algn="ctr">
                  <a:lnSpc>
                    <a:spcPts val="391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เอฟซี ซับเจค คอนเดนซ์​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เอฟซี ซับเจค คอนเดนซ์​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𝑦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เอฟซี ซับเจค คอนเดนซ์​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𝑢𝑣</m:t>
                          </m:r>
                        </m:sub>
                      </m:sSub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≤</m:t>
                      </m:r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𝑥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𝑢</m:t>
                          </m:r>
                        </m:sub>
                      </m:sSub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    ∀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𝑢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,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𝑣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∈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𝑆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×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𝐷</m:t>
                      </m:r>
                    </m:oMath>
                  </m:oMathPara>
                </a14:m>
                <a:endParaRPr lang="it-IT" sz="2400" dirty="0">
                  <a:solidFill>
                    <a:srgbClr val="0F3FD4"/>
                  </a:solidFill>
                  <a:latin typeface="เอฟซี ซับเจค คอนเดนซ์​"/>
                  <a:ea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pPr algn="ctr">
                  <a:lnSpc>
                    <a:spcPts val="3919"/>
                  </a:lnSpc>
                </a:pPr>
                <a:endParaRPr lang="it-IT" sz="2400" dirty="0">
                  <a:solidFill>
                    <a:srgbClr val="0F3FD4"/>
                  </a:solidFill>
                  <a:latin typeface="เอฟซี ซับเจค คอนเดนซ์​"/>
                  <a:ea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pPr algn="ctr">
                  <a:lnSpc>
                    <a:spcPts val="391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it-IT" sz="240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𝑣</m:t>
                          </m:r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∈</m:t>
                          </m:r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𝐷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sz="2400" b="0" i="1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</m:ctrlPr>
                            </m:sSubPr>
                            <m:e>
                              <m:r>
                                <a:rPr lang="it-IT" sz="2400" b="0" i="1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sz="2400" b="0" i="1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𝑢𝑣</m:t>
                              </m:r>
                            </m:sub>
                          </m:sSub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≤</m:t>
                          </m:r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𝑞</m:t>
                          </m:r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∙</m:t>
                          </m:r>
                          <m:sSub>
                            <m:sSubPr>
                              <m:ctrlPr>
                                <a:rPr lang="it-IT" sz="2400" b="0" i="1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</m:ctrlPr>
                            </m:sSubPr>
                            <m:e>
                              <m:r>
                                <a:rPr lang="it-IT" sz="2400" b="0" i="1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sz="2400" b="0" i="1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𝑢</m:t>
                              </m:r>
                            </m:sub>
                          </m:sSub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      ∀</m:t>
                          </m:r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𝑢</m:t>
                          </m:r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∈</m:t>
                          </m:r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𝑆</m:t>
                          </m:r>
                        </m:e>
                      </m:nary>
                    </m:oMath>
                  </m:oMathPara>
                </a14:m>
                <a:endParaRPr lang="it-IT" sz="2400" dirty="0">
                  <a:solidFill>
                    <a:srgbClr val="0F3FD4"/>
                  </a:solidFill>
                  <a:latin typeface="เอฟซี ซับเจค คอนเดนซ์​"/>
                  <a:ea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pPr algn="l">
                  <a:lnSpc>
                    <a:spcPts val="3919"/>
                  </a:lnSpc>
                </a:pPr>
                <a:endParaRPr lang="it-IT" sz="2400" noProof="0" dirty="0">
                  <a:solidFill>
                    <a:srgbClr val="0F3FD4"/>
                  </a:solidFill>
                  <a:latin typeface="เอฟซี ซับเจค คอนเดนซ์​"/>
                  <a:ea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pPr algn="l">
                  <a:lnSpc>
                    <a:spcPts val="3919"/>
                  </a:lnSpc>
                </a:pPr>
                <a:r>
                  <a:rPr lang="it-IT" sz="2400" b="1" dirty="0">
                    <a:solidFill>
                      <a:srgbClr val="0F3FD4"/>
                    </a:solidFill>
                    <a:ea typeface="เอฟซี ซับเจค คอนเดนซ์​"/>
                    <a:cs typeface="เอฟซี ซับเจค คอนเดนซ์​"/>
                    <a:sym typeface="เอฟซี ซับเจค คอนเดนซ์​"/>
                  </a:rPr>
                  <a:t>Variabili:</a:t>
                </a:r>
              </a:p>
              <a:p>
                <a:pPr algn="l">
                  <a:lnSpc>
                    <a:spcPts val="391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เอฟซี ซับเจค คอนเดนซ์​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เอฟซี ซับเจค คอนเดนซ์​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𝑥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เอฟซี ซับเจค คอนเดนซ์​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𝑢</m:t>
                          </m:r>
                        </m:sub>
                      </m:sSub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0,1</m:t>
                          </m:r>
                        </m:e>
                      </m:d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     </m:t>
                      </m:r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𝑦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𝑢𝑣</m:t>
                          </m:r>
                        </m:sub>
                      </m:sSub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0,1</m:t>
                          </m:r>
                        </m:e>
                      </m:d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     ∀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𝑢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,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𝑣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∈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𝑆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×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𝐷</m:t>
                      </m:r>
                    </m:oMath>
                  </m:oMathPara>
                </a14:m>
                <a:endParaRPr lang="it-IT" sz="2400" dirty="0">
                  <a:solidFill>
                    <a:srgbClr val="0F3FD4"/>
                  </a:solidFill>
                  <a:latin typeface="เอฟซี ซับเจค คอนเดนซ์​"/>
                  <a:ea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</p:txBody>
          </p:sp>
        </mc:Choice>
        <mc:Fallback xmlns="">
          <p:sp>
            <p:nvSpPr>
              <p:cNvPr id="11" name="TextBox 9">
                <a:extLst>
                  <a:ext uri="{FF2B5EF4-FFF2-40B4-BE49-F238E27FC236}">
                    <a16:creationId xmlns:a16="http://schemas.microsoft.com/office/drawing/2014/main" id="{92C30459-730A-6E5C-C5DA-0A38E7C69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900" y="2727428"/>
                <a:ext cx="13030199" cy="6001643"/>
              </a:xfrm>
              <a:prstGeom prst="rect">
                <a:avLst/>
              </a:prstGeom>
              <a:blipFill>
                <a:blip r:embed="rId3"/>
                <a:stretch>
                  <a:fillRect l="-1403" t="-18782" b="-65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4EB1122-6288-F40A-B9EB-92B6C1E56BE5}"/>
              </a:ext>
            </a:extLst>
          </p:cNvPr>
          <p:cNvSpPr txBox="1"/>
          <p:nvPr/>
        </p:nvSpPr>
        <p:spPr>
          <a:xfrm>
            <a:off x="11353800" y="5728249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highlight>
                  <a:srgbClr val="FFFF00"/>
                </a:highlight>
              </a:rPr>
              <a:t>Formulazione forte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F14950A-3756-D2E2-6004-D25086CA3639}"/>
              </a:ext>
            </a:extLst>
          </p:cNvPr>
          <p:cNvSpPr txBox="1"/>
          <p:nvPr/>
        </p:nvSpPr>
        <p:spPr>
          <a:xfrm>
            <a:off x="11353800" y="6586835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highlight>
                  <a:srgbClr val="FFFF00"/>
                </a:highlight>
              </a:rPr>
              <a:t>Formulazione debole</a:t>
            </a:r>
          </a:p>
        </p:txBody>
      </p:sp>
      <p:sp>
        <p:nvSpPr>
          <p:cNvPr id="3" name="Bolla: nuvola 2">
            <a:extLst>
              <a:ext uri="{FF2B5EF4-FFF2-40B4-BE49-F238E27FC236}">
                <a16:creationId xmlns:a16="http://schemas.microsoft.com/office/drawing/2014/main" id="{B951B39F-A111-588A-8CA5-2FF00E3A3F11}"/>
              </a:ext>
            </a:extLst>
          </p:cNvPr>
          <p:cNvSpPr/>
          <p:nvPr/>
        </p:nvSpPr>
        <p:spPr>
          <a:xfrm>
            <a:off x="14173200" y="620143"/>
            <a:ext cx="2438400" cy="1390343"/>
          </a:xfrm>
          <a:prstGeom prst="cloudCallout">
            <a:avLst>
              <a:gd name="adj1" fmla="val -74004"/>
              <a:gd name="adj2" fmla="val 42868"/>
            </a:avLst>
          </a:prstGeom>
          <a:solidFill>
            <a:schemeClr val="bg1"/>
          </a:solidFill>
          <a:ln w="28575">
            <a:solidFill>
              <a:srgbClr val="0F3FD4"/>
            </a:solidFill>
          </a:ln>
        </p:spPr>
        <p:txBody>
          <a:bodyPr rtlCol="0" anchor="ctr"/>
          <a:lstStyle/>
          <a:p>
            <a:pPr algn="ctr"/>
            <a:r>
              <a:rPr lang="it-IT" sz="2000" dirty="0">
                <a:solidFill>
                  <a:srgbClr val="0F3FD4"/>
                </a:solidFill>
              </a:rPr>
              <a:t>Forniscono la soluzione ottima</a:t>
            </a:r>
          </a:p>
        </p:txBody>
      </p:sp>
    </p:spTree>
    <p:extLst>
      <p:ext uri="{BB962C8B-B14F-4D97-AF65-F5344CB8AC3E}">
        <p14:creationId xmlns:p14="http://schemas.microsoft.com/office/powerpoint/2010/main" val="2181373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8C6A1-8800-E43C-C8FA-FB2683D1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F3170DCD-556B-DFBD-A1EF-D5048981B4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C50246B-0E1C-F18F-174D-3C5F94DF30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ACF62E1C-694C-D338-314C-E350BC852269}"/>
              </a:ext>
            </a:extLst>
          </p:cNvPr>
          <p:cNvSpPr txBox="1"/>
          <p:nvPr/>
        </p:nvSpPr>
        <p:spPr>
          <a:xfrm>
            <a:off x="2895600" y="960439"/>
            <a:ext cx="13463158" cy="1109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72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Algoritmo di Erlenkotter (DUALOC)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70CD99D1-AD03-4BA7-867A-DA1AC570E744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7</a:t>
            </a:fld>
            <a:endParaRPr lang="en-US" sz="16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F8903495-5667-3563-F53F-84EA97569D8C}"/>
                  </a:ext>
                </a:extLst>
              </p:cNvPr>
              <p:cNvSpPr txBox="1"/>
              <p:nvPr/>
            </p:nvSpPr>
            <p:spPr>
              <a:xfrm>
                <a:off x="2280013" y="2755958"/>
                <a:ext cx="13627170" cy="596894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3919"/>
                  </a:lnSpc>
                </a:pP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DUALOC è un </a:t>
                </a:r>
                <a:r>
                  <a:rPr lang="it-IT" sz="2400" b="1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algoritmo dual ascent</a:t>
                </a: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: si lavora sul </a:t>
                </a:r>
                <a:r>
                  <a:rPr lang="it-IT" sz="2400" i="1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problema duale dell’UFL</a:t>
                </a: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, aumentando progressivamente le variabili duali fino a saturare i vincoli.</a:t>
                </a:r>
              </a:p>
              <a:p>
                <a:pPr>
                  <a:lnSpc>
                    <a:spcPts val="3919"/>
                  </a:lnSpc>
                </a:pPr>
                <a:endParaRPr lang="it-IT" sz="2400" dirty="0">
                  <a:solidFill>
                    <a:srgbClr val="0F3FD4"/>
                  </a:solidFill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pPr>
                  <a:lnSpc>
                    <a:spcPts val="3919"/>
                  </a:lnSpc>
                </a:pPr>
                <a:r>
                  <a:rPr lang="it-IT" sz="2400" b="1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Funzione obiettivo (duale):</a:t>
                </a:r>
              </a:p>
              <a:p>
                <a:pPr>
                  <a:lnSpc>
                    <a:spcPts val="391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𝑤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=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𝑚𝑎𝑥</m:t>
                      </m:r>
                      <m:nary>
                        <m:naryPr>
                          <m:chr m:val="∑"/>
                          <m:supHide m:val="on"/>
                          <m:ctrlP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𝑣</m:t>
                          </m:r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∈</m:t>
                          </m:r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𝐷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sz="2400" b="0" i="1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</m:ctrlPr>
                            </m:sSubPr>
                            <m:e>
                              <m:r>
                                <a:rPr lang="it-IT" sz="2400" b="0" i="1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it-IT" sz="2400" b="0" i="1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𝑣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it-IT" sz="2400" b="0" dirty="0">
                  <a:solidFill>
                    <a:srgbClr val="0F3FD4"/>
                  </a:solidFill>
                  <a:latin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pPr>
                  <a:lnSpc>
                    <a:spcPts val="3919"/>
                  </a:lnSpc>
                </a:pPr>
                <a:r>
                  <a:rPr lang="it-IT" sz="2400" b="1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Vincoli (duali):</a:t>
                </a:r>
              </a:p>
              <a:p>
                <a:pPr>
                  <a:lnSpc>
                    <a:spcPts val="391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𝑣</m:t>
                          </m:r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∈</m:t>
                          </m:r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𝐷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sz="2400" b="0" i="1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</m:ctrlPr>
                            </m:sSubPr>
                            <m:e>
                              <m:r>
                                <a:rPr lang="it-IT" sz="2400" b="0" i="1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it-IT" sz="2400" b="0" i="1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𝑢𝑣</m:t>
                              </m:r>
                            </m:sub>
                          </m:sSub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≤</m:t>
                          </m:r>
                          <m:sSub>
                            <m:sSubPr>
                              <m:ctrlPr>
                                <a:rPr lang="it-IT" sz="2400" b="0" i="1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</m:ctrlPr>
                            </m:sSubPr>
                            <m:e>
                              <m:r>
                                <a:rPr lang="it-IT" sz="2400" b="0" i="1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it-IT" sz="2400" b="0" i="1" smtClean="0">
                                  <a:solidFill>
                                    <a:srgbClr val="0F3FD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เอฟซี ซับเจค คอนเดนซ์​"/>
                                  <a:sym typeface="เอฟซี ซับเจค คอนเดนซ์​"/>
                                </a:rPr>
                                <m:t>𝑢</m:t>
                              </m:r>
                            </m:sub>
                          </m:sSub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        ∀</m:t>
                          </m:r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𝑢</m:t>
                          </m:r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∈</m:t>
                          </m:r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𝑆</m:t>
                          </m:r>
                        </m:e>
                      </m:nary>
                    </m:oMath>
                  </m:oMathPara>
                </a14:m>
                <a:endParaRPr lang="it-IT" sz="2400" b="0" dirty="0">
                  <a:solidFill>
                    <a:srgbClr val="0F3FD4"/>
                  </a:solidFill>
                  <a:latin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pPr>
                  <a:lnSpc>
                    <a:spcPts val="3919"/>
                  </a:lnSpc>
                </a:pPr>
                <a:endParaRPr lang="it-IT" sz="2400" dirty="0">
                  <a:solidFill>
                    <a:srgbClr val="0F3FD4"/>
                  </a:solidFill>
                  <a:latin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pPr>
                  <a:lnSpc>
                    <a:spcPts val="391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𝜇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𝑣</m:t>
                          </m:r>
                        </m:sub>
                      </m:sSub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−</m:t>
                      </m:r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𝜆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𝑢𝑣</m:t>
                          </m:r>
                        </m:sub>
                      </m:sSub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≤</m:t>
                      </m:r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𝑐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𝑢𝑣</m:t>
                          </m:r>
                        </m:sub>
                      </m:sSub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       ∀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𝑢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,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𝑣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∈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𝑆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×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𝐷</m:t>
                      </m:r>
                    </m:oMath>
                  </m:oMathPara>
                </a14:m>
                <a:endParaRPr lang="it-IT" sz="2400" b="0" dirty="0">
                  <a:solidFill>
                    <a:srgbClr val="0F3FD4"/>
                  </a:solidFill>
                  <a:latin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pPr>
                  <a:lnSpc>
                    <a:spcPts val="3919"/>
                  </a:lnSpc>
                </a:pPr>
                <a:r>
                  <a:rPr lang="it-IT" sz="2400" b="1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Variabili (duali):</a:t>
                </a:r>
              </a:p>
              <a:p>
                <a:pPr>
                  <a:lnSpc>
                    <a:spcPts val="391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𝜇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𝑣</m:t>
                          </m:r>
                        </m:sub>
                      </m:sSub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⋚0 , </m:t>
                      </m:r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𝜆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0F3FD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เอฟซี ซับเจค คอนเดนซ์​"/>
                              <a:sym typeface="เอฟซี ซับเจค คอนเดนซ์​"/>
                            </a:rPr>
                            <m:t>𝑢𝑣</m:t>
                          </m:r>
                        </m:sub>
                      </m:sSub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≥0</m:t>
                      </m:r>
                      <m:r>
                        <a:rPr lang="it-IT" sz="2400" b="0" i="0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     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∀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𝑢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,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𝑣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∈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𝑆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×</m:t>
                      </m:r>
                      <m:r>
                        <a:rPr lang="it-IT" sz="2400" b="0" i="1" smtClean="0">
                          <a:solidFill>
                            <a:srgbClr val="0F3FD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เอฟซี ซับเจค คอนเดนซ์​"/>
                          <a:sym typeface="เอฟซี ซับเจค คอนเดนซ์​"/>
                        </a:rPr>
                        <m:t>𝐷</m:t>
                      </m:r>
                    </m:oMath>
                  </m:oMathPara>
                </a14:m>
                <a:endParaRPr lang="it-IT" sz="2400" b="0" dirty="0">
                  <a:solidFill>
                    <a:srgbClr val="0F3FD4"/>
                  </a:solidFill>
                  <a:latin typeface="เอฟซี ซับเจค คอนเดนซ์​"/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pPr>
                  <a:lnSpc>
                    <a:spcPts val="3919"/>
                  </a:lnSpc>
                </a:pPr>
                <a:endParaRPr lang="it-IT" sz="2400" dirty="0">
                  <a:solidFill>
                    <a:srgbClr val="0F3FD4"/>
                  </a:solidFill>
                  <a:cs typeface="เอฟซี ซับเจค คอนเดนซ์​"/>
                  <a:sym typeface="เอฟซี ซับเจค คอนเดนซ์​"/>
                </a:endParaRPr>
              </a:p>
            </p:txBody>
          </p:sp>
        </mc:Choice>
        <mc:Fallback xmlns=""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F8903495-5667-3563-F53F-84EA97569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013" y="2755958"/>
                <a:ext cx="13627170" cy="5968942"/>
              </a:xfrm>
              <a:prstGeom prst="rect">
                <a:avLst/>
              </a:prstGeom>
              <a:blipFill>
                <a:blip r:embed="rId3"/>
                <a:stretch>
                  <a:fillRect l="-1342" t="-102" r="-22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7F6E439C-AA6B-C6F6-5981-AA088DFFA874}"/>
              </a:ext>
            </a:extLst>
          </p:cNvPr>
          <p:cNvSpPr txBox="1"/>
          <p:nvPr/>
        </p:nvSpPr>
        <p:spPr>
          <a:xfrm>
            <a:off x="11582400" y="4497169"/>
            <a:ext cx="4623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Massimizzare la somma dei prezzi che i clienti sono disposti a pagare per essere serviti.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F8F9BD6-1A97-8904-CF20-497B63369515}"/>
              </a:ext>
            </a:extLst>
          </p:cNvPr>
          <p:cNvSpPr txBox="1"/>
          <p:nvPr/>
        </p:nvSpPr>
        <p:spPr>
          <a:xfrm>
            <a:off x="11963400" y="6675954"/>
            <a:ext cx="4623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Un cliente non può “pagare” più di quanto costa servirlo.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5B1EEC8-D519-292C-AAE6-7FF672B23D84}"/>
              </a:ext>
            </a:extLst>
          </p:cNvPr>
          <p:cNvSpPr txBox="1"/>
          <p:nvPr/>
        </p:nvSpPr>
        <p:spPr>
          <a:xfrm>
            <a:off x="11634358" y="5523964"/>
            <a:ext cx="495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Le facility possono essere “finanziate” solo fino al loro costo di apertura.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C4CE775-89F4-2E63-C2A3-3000EF36F5E1}"/>
              </a:ext>
            </a:extLst>
          </p:cNvPr>
          <p:cNvSpPr txBox="1"/>
          <p:nvPr/>
        </p:nvSpPr>
        <p:spPr>
          <a:xfrm>
            <a:off x="11963400" y="7822168"/>
            <a:ext cx="4024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 contributi non possono essere negativi.</a:t>
            </a:r>
          </a:p>
        </p:txBody>
      </p:sp>
      <p:sp>
        <p:nvSpPr>
          <p:cNvPr id="6" name="Bolla: nuvola 5">
            <a:extLst>
              <a:ext uri="{FF2B5EF4-FFF2-40B4-BE49-F238E27FC236}">
                <a16:creationId xmlns:a16="http://schemas.microsoft.com/office/drawing/2014/main" id="{8885EEE6-9813-6EF1-38FB-E007BEB38300}"/>
              </a:ext>
            </a:extLst>
          </p:cNvPr>
          <p:cNvSpPr/>
          <p:nvPr/>
        </p:nvSpPr>
        <p:spPr>
          <a:xfrm>
            <a:off x="228600" y="327356"/>
            <a:ext cx="2438400" cy="1390343"/>
          </a:xfrm>
          <a:prstGeom prst="cloudCallout">
            <a:avLst>
              <a:gd name="adj1" fmla="val 55287"/>
              <a:gd name="adj2" fmla="val 47776"/>
            </a:avLst>
          </a:prstGeom>
          <a:solidFill>
            <a:schemeClr val="bg1"/>
          </a:solidFill>
          <a:ln w="28575">
            <a:solidFill>
              <a:srgbClr val="0F3FD4"/>
            </a:solidFill>
          </a:ln>
        </p:spPr>
        <p:txBody>
          <a:bodyPr rtlCol="0" anchor="ctr"/>
          <a:lstStyle/>
          <a:p>
            <a:pPr algn="ctr"/>
            <a:r>
              <a:rPr lang="it-IT" sz="2000" dirty="0">
                <a:solidFill>
                  <a:srgbClr val="0F3FD4"/>
                </a:solidFill>
              </a:rPr>
              <a:t>Fornisce il lower bound</a:t>
            </a:r>
          </a:p>
        </p:txBody>
      </p:sp>
    </p:spTree>
    <p:extLst>
      <p:ext uri="{BB962C8B-B14F-4D97-AF65-F5344CB8AC3E}">
        <p14:creationId xmlns:p14="http://schemas.microsoft.com/office/powerpoint/2010/main" val="1067286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0A0CE-11CE-3759-0AD8-DEB4D2D38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F5335D5A-DD6A-1306-8F7B-DCC25B160F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1C25724-278C-130E-9ABC-036FB9EB82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345AA92B-518B-ACDD-43C4-4B85F14CF216}"/>
              </a:ext>
            </a:extLst>
          </p:cNvPr>
          <p:cNvSpPr txBox="1"/>
          <p:nvPr/>
        </p:nvSpPr>
        <p:spPr>
          <a:xfrm>
            <a:off x="2895600" y="960439"/>
            <a:ext cx="13463158" cy="1109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72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Algoritmo di Erlenkotter (DUALOC)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A7292A17-3C8F-B6ED-135A-6C022237077F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8</a:t>
            </a:fld>
            <a:endParaRPr lang="en-US" sz="16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9">
                <a:extLst>
                  <a:ext uri="{FF2B5EF4-FFF2-40B4-BE49-F238E27FC236}">
                    <a16:creationId xmlns:a16="http://schemas.microsoft.com/office/drawing/2014/main" id="{70C6D228-C57B-6009-BF77-E0CBEB9B983C}"/>
                  </a:ext>
                </a:extLst>
              </p:cNvPr>
              <p:cNvSpPr txBox="1"/>
              <p:nvPr/>
            </p:nvSpPr>
            <p:spPr>
              <a:xfrm>
                <a:off x="533400" y="2513362"/>
                <a:ext cx="8153400" cy="682904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spcBef>
                    <a:spcPts val="100"/>
                  </a:spcBef>
                </a:pP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Nell’implementazione di questo algoritmo, invece di determinare direttamente il valore ottimale di ciascuna variabile duale </a:t>
                </a:r>
                <a14:m>
                  <m:oMath xmlns:m="http://schemas.openxmlformats.org/officeDocument/2006/math">
                    <m:r>
                      <a:rPr lang="it-IT" sz="2400" i="1" smtClean="0">
                        <a:solidFill>
                          <a:srgbClr val="0F3FD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เอฟซี ซับเจค คอนเดนซ์​"/>
                        <a:sym typeface="เอฟซี ซับเจค คอนเดนซ์​"/>
                      </a:rPr>
                      <m:t>𝜇</m:t>
                    </m:r>
                  </m:oMath>
                </a14:m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 in un unico passo (come accadrebbe in un approccio coordinate ascent), l’algoritmo di  </a:t>
                </a:r>
                <a:r>
                  <a:rPr lang="it-IT" sz="2400" b="1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Dual Ascent</a:t>
                </a: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 raggiunge lo stesso obiettivo con una </a:t>
                </a:r>
                <a:r>
                  <a:rPr lang="it-IT" sz="2400" b="1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strategia incrementale</a:t>
                </a: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: per ogni variabile duale viene calcolato un incremento (Delta), che viene poi aggiunto al valore corrente, aggiornando progressivamente la soluzione duale.</a:t>
                </a:r>
              </a:p>
              <a:p>
                <a:pPr>
                  <a:spcBef>
                    <a:spcPts val="100"/>
                  </a:spcBef>
                </a:pPr>
                <a:endParaRPr lang="it-IT" sz="2400" b="1" dirty="0">
                  <a:solidFill>
                    <a:srgbClr val="0F3FD4"/>
                  </a:solidFill>
                  <a:cs typeface="เอฟซี ซับเจค คอนเดนซ์​"/>
                  <a:sym typeface="เอฟซี ซับเจค คอนเดนซ์​"/>
                </a:endParaRPr>
              </a:p>
              <a:p>
                <a:pPr>
                  <a:spcBef>
                    <a:spcPts val="100"/>
                  </a:spcBef>
                </a:pPr>
                <a:r>
                  <a:rPr lang="it-IT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เอฟซี ซับเจค คอนเดนซ์​"/>
                    <a:sym typeface="เอฟซี ซับเจค คอนเดนซ์​"/>
                  </a:rPr>
                  <a:t>Fasi principali:</a:t>
                </a:r>
              </a:p>
              <a:p>
                <a:pPr marL="457200" indent="-457200">
                  <a:spcBef>
                    <a:spcPts val="100"/>
                  </a:spcBef>
                  <a:buFont typeface="+mj-lt"/>
                  <a:buAutoNum type="arabicPeriod"/>
                </a:pPr>
                <a:r>
                  <a:rPr lang="it-IT" sz="2400" b="1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Fase inizializzazione:</a:t>
                </a:r>
              </a:p>
              <a:p>
                <a:pPr marL="800100" lvl="1" indent="-34290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A ogni cliente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solidFill>
                          <a:srgbClr val="0F3FD4"/>
                        </a:solidFill>
                        <a:latin typeface="Cambria Math" panose="02040503050406030204" pitchFamily="18" charset="0"/>
                        <a:cs typeface="เอฟซี ซับเจค คอนเดนซ์​"/>
                        <a:sym typeface="เอฟซี ซับเจค คอนเดนซ์​"/>
                      </a:rPr>
                      <m:t>𝑗</m:t>
                    </m:r>
                  </m:oMath>
                </a14:m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 viene associato un “prezzo”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</m:ctrlPr>
                      </m:sSubPr>
                      <m:e>
                        <m:r>
                          <a:rPr lang="it-IT" sz="240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𝑣</m:t>
                        </m:r>
                      </m:e>
                      <m:sub>
                        <m:r>
                          <a:rPr lang="it-IT" sz="240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​, inizialmente pari al costo minimo di trasporto da una qualsiasi facility.</a:t>
                </a:r>
              </a:p>
              <a:p>
                <a:pPr marL="800100" lvl="1" indent="-34290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Per ogni potenziale facility </a:t>
                </a:r>
                <a14:m>
                  <m:oMath xmlns:m="http://schemas.openxmlformats.org/officeDocument/2006/math">
                    <m:r>
                      <a:rPr lang="it-IT" sz="2400" i="1" dirty="0" smtClean="0">
                        <a:solidFill>
                          <a:srgbClr val="0F3FD4"/>
                        </a:solidFill>
                        <a:latin typeface="Cambria Math" panose="02040503050406030204" pitchFamily="18" charset="0"/>
                        <a:cs typeface="เอฟซี ซับเจค คอนเดนซ์​"/>
                        <a:sym typeface="เอฟซี ซับเจค คอนเดนซ์​"/>
                      </a:rPr>
                      <m:t>𝑖</m:t>
                    </m:r>
                  </m:oMath>
                </a14:m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, si calcola il </a:t>
                </a:r>
                <a:r>
                  <a:rPr lang="it-IT" sz="2400" i="1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profitto duale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</m:ctrlPr>
                      </m:sSubPr>
                      <m:e>
                        <m:r>
                          <a:rPr lang="it-IT" sz="240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𝑠</m:t>
                        </m:r>
                      </m:e>
                      <m:sub>
                        <m:r>
                          <a:rPr lang="it-IT" sz="240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​, che rappresenta il suo costo fisso non ancora coperto dai "pagamenti" dei clienti.</a:t>
                </a:r>
              </a:p>
              <a:p>
                <a:pPr marL="800100" lvl="1" indent="-34290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Le facility per cui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</m:ctrlPr>
                      </m:sSubPr>
                      <m:e>
                        <m:r>
                          <a:rPr lang="it-IT" sz="240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𝑠</m:t>
                        </m:r>
                      </m:e>
                      <m:sub>
                        <m:r>
                          <a:rPr lang="it-IT" sz="240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𝑖</m:t>
                        </m:r>
                      </m:sub>
                    </m:sSub>
                    <m:r>
                      <a:rPr lang="it-IT" sz="2400" i="1" dirty="0" smtClean="0">
                        <a:solidFill>
                          <a:srgbClr val="0F3FD4"/>
                        </a:solidFill>
                        <a:latin typeface="Cambria Math" panose="02040503050406030204" pitchFamily="18" charset="0"/>
                        <a:cs typeface="เอฟซี ซับเจค คอนเดนซ์​"/>
                        <a:sym typeface="เอฟซี ซับเจค คอนเดนซ์​"/>
                      </a:rPr>
                      <m:t>≥0</m:t>
                    </m:r>
                  </m:oMath>
                </a14:m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 vengono considerate </a:t>
                </a:r>
                <a:r>
                  <a:rPr lang="it-IT" sz="2400" i="1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attive</a:t>
                </a: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 o </a:t>
                </a:r>
                <a:r>
                  <a:rPr lang="it-IT" sz="2400" i="1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candidate</a:t>
                </a: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 all’apertura.</a:t>
                </a:r>
              </a:p>
              <a:p>
                <a:pPr>
                  <a:spcBef>
                    <a:spcPts val="100"/>
                  </a:spcBef>
                </a:pPr>
                <a:endParaRPr lang="it-IT" sz="2400" dirty="0">
                  <a:solidFill>
                    <a:srgbClr val="0F3FD4"/>
                  </a:solidFill>
                  <a:cs typeface="เอฟซี ซับเจค คอนเดนซ์​"/>
                  <a:sym typeface="เอฟซี ซับเจค คอนเดนซ์​"/>
                </a:endParaRPr>
              </a:p>
            </p:txBody>
          </p:sp>
        </mc:Choice>
        <mc:Fallback xmlns="">
          <p:sp>
            <p:nvSpPr>
              <p:cNvPr id="6" name="TextBox 9">
                <a:extLst>
                  <a:ext uri="{FF2B5EF4-FFF2-40B4-BE49-F238E27FC236}">
                    <a16:creationId xmlns:a16="http://schemas.microsoft.com/office/drawing/2014/main" id="{70C6D228-C57B-6009-BF77-E0CBEB9B9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513362"/>
                <a:ext cx="8153400" cy="6829049"/>
              </a:xfrm>
              <a:prstGeom prst="rect">
                <a:avLst/>
              </a:prstGeom>
              <a:blipFill>
                <a:blip r:embed="rId3"/>
                <a:stretch>
                  <a:fillRect l="-2767" t="-1338" r="-261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C8D37E8E-2520-C4B4-1BAB-10D8C15C508F}"/>
              </a:ext>
            </a:extLst>
          </p:cNvPr>
          <p:cNvSpPr txBox="1"/>
          <p:nvPr/>
        </p:nvSpPr>
        <p:spPr>
          <a:xfrm>
            <a:off x="8686800" y="46863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F2A84A72-406B-8310-2A4B-A283B5275D84}"/>
                  </a:ext>
                </a:extLst>
              </p:cNvPr>
              <p:cNvSpPr txBox="1"/>
              <p:nvPr/>
            </p:nvSpPr>
            <p:spPr>
              <a:xfrm>
                <a:off x="6660072" y="5569348"/>
                <a:ext cx="2057208" cy="401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b="1" dirty="0"/>
                  <a:t>Corrisponde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it-IT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</m:oMath>
                </a14:m>
                <a:endParaRPr lang="it-IT" sz="2000" b="1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F2A84A72-406B-8310-2A4B-A283B5275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072" y="5569348"/>
                <a:ext cx="2057208" cy="401171"/>
              </a:xfrm>
              <a:prstGeom prst="rect">
                <a:avLst/>
              </a:prstGeom>
              <a:blipFill>
                <a:blip r:embed="rId4"/>
                <a:stretch>
                  <a:fillRect l="-3264" t="-9231" b="-2769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7ED82245-A6A4-3C16-5AE3-39458A90AC64}"/>
              </a:ext>
            </a:extLst>
          </p:cNvPr>
          <p:cNvCxnSpPr>
            <a:cxnSpLocks/>
          </p:cNvCxnSpPr>
          <p:nvPr/>
        </p:nvCxnSpPr>
        <p:spPr>
          <a:xfrm flipH="1">
            <a:off x="6786301" y="5913659"/>
            <a:ext cx="381000" cy="4226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692D6C61-697D-E6C7-87EF-AE654CA493E2}"/>
                  </a:ext>
                </a:extLst>
              </p:cNvPr>
              <p:cNvSpPr txBox="1"/>
              <p:nvPr/>
            </p:nvSpPr>
            <p:spPr>
              <a:xfrm>
                <a:off x="9753600" y="8418373"/>
                <a:ext cx="34228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b="1" dirty="0"/>
                  <a:t>Corrisponde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it-IT" sz="2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it-IT" sz="20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it-IT" sz="20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it-IT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𝒊𝒗</m:t>
                            </m:r>
                          </m:sub>
                        </m:sSub>
                      </m:e>
                    </m:nary>
                  </m:oMath>
                </a14:m>
                <a:endParaRPr lang="it-IT" sz="2000" b="1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692D6C61-697D-E6C7-87EF-AE654CA4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8418373"/>
                <a:ext cx="3422814" cy="400110"/>
              </a:xfrm>
              <a:prstGeom prst="rect">
                <a:avLst/>
              </a:prstGeom>
              <a:blipFill>
                <a:blip r:embed="rId5"/>
                <a:stretch>
                  <a:fillRect l="-1783" t="-122727" b="-18181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C8D810F3-B59A-5E33-1CCA-77088C261C9E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8397240" y="7316107"/>
            <a:ext cx="1356360" cy="13023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Immagine 10">
            <a:extLst>
              <a:ext uri="{FF2B5EF4-FFF2-40B4-BE49-F238E27FC236}">
                <a16:creationId xmlns:a16="http://schemas.microsoft.com/office/drawing/2014/main" id="{13008AE7-7797-2413-F813-0195C24CEF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566" y="3366135"/>
            <a:ext cx="9141183" cy="413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9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528C2-697D-6779-57F5-6EA50928E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D10B0C56-C754-3C39-2D5F-EDC2D3C04E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B771721-8BC3-F707-DF6F-14051E4DF4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7E2830EB-EAAD-CFCE-43BC-FC06BA0152C4}"/>
              </a:ext>
            </a:extLst>
          </p:cNvPr>
          <p:cNvSpPr txBox="1"/>
          <p:nvPr/>
        </p:nvSpPr>
        <p:spPr>
          <a:xfrm>
            <a:off x="2895600" y="960439"/>
            <a:ext cx="13463158" cy="1109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72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Algoritmo di Erlenkotter (DUALOC)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8BFEA91A-BA41-1D1C-288C-010C965C07C9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9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63523FD-3533-2FA5-A3EF-49B6469FC169}"/>
              </a:ext>
            </a:extLst>
          </p:cNvPr>
          <p:cNvSpPr txBox="1"/>
          <p:nvPr/>
        </p:nvSpPr>
        <p:spPr>
          <a:xfrm>
            <a:off x="8686800" y="46863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9D1FF5AA-3674-CABB-ECB9-B8BA991B5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22601"/>
            <a:ext cx="9113520" cy="57314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9">
                <a:extLst>
                  <a:ext uri="{FF2B5EF4-FFF2-40B4-BE49-F238E27FC236}">
                    <a16:creationId xmlns:a16="http://schemas.microsoft.com/office/drawing/2014/main" id="{CF83F771-A542-0BD7-6F49-94D58F80AA53}"/>
                  </a:ext>
                </a:extLst>
              </p:cNvPr>
              <p:cNvSpPr txBox="1"/>
              <p:nvPr/>
            </p:nvSpPr>
            <p:spPr>
              <a:xfrm>
                <a:off x="9677400" y="3642309"/>
                <a:ext cx="8153400" cy="378719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spcBef>
                    <a:spcPts val="100"/>
                  </a:spcBef>
                </a:pPr>
                <a:r>
                  <a:rPr lang="it-IT" sz="2400" b="1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2. Procedura di Ascesa Iterativa:</a:t>
                </a:r>
              </a:p>
              <a:p>
                <a:pPr marL="800100" lvl="1" indent="-34290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L'algoritmo itera ripetutamente su tutti i clienti.</a:t>
                </a:r>
              </a:p>
              <a:p>
                <a:pPr marL="800100" lvl="1" indent="-34290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Per ogni cliente </a:t>
                </a:r>
                <a14:m>
                  <m:oMath xmlns:m="http://schemas.openxmlformats.org/officeDocument/2006/math">
                    <m:r>
                      <a:rPr lang="it-IT" sz="2400" i="1" dirty="0" smtClean="0">
                        <a:solidFill>
                          <a:srgbClr val="0F3FD4"/>
                        </a:solidFill>
                        <a:latin typeface="Cambria Math" panose="02040503050406030204" pitchFamily="18" charset="0"/>
                        <a:cs typeface="เอฟซี ซับเจค คอนเดนซ์​"/>
                        <a:sym typeface="เอฟซี ซับเจค คอนเดนซ์​"/>
                      </a:rPr>
                      <m:t>𝑗</m:t>
                    </m:r>
                  </m:oMath>
                </a14:m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, si calcola l'aumento massimo possibile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2400" i="0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Δ</m:t>
                        </m:r>
                      </m:e>
                      <m:sub>
                        <m:r>
                          <a:rPr lang="it-IT" sz="2400" b="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) per il suo prezzo</a:t>
                </a:r>
                <a14:m>
                  <m:oMath xmlns:m="http://schemas.openxmlformats.org/officeDocument/2006/math">
                    <m:r>
                      <a:rPr lang="it-IT" sz="2400" i="1" dirty="0" smtClean="0">
                        <a:solidFill>
                          <a:srgbClr val="0F3FD4"/>
                        </a:solidFill>
                        <a:latin typeface="Cambria Math" panose="02040503050406030204" pitchFamily="18" charset="0"/>
                        <a:cs typeface="เอฟซี ซับเจค คอนเดนซ์​"/>
                        <a:sym typeface="เอฟซี ซับเจค คอนเดนซ์​"/>
                      </a:rPr>
                      <m:t> </m:t>
                    </m:r>
                    <m:sSub>
                      <m:sSubPr>
                        <m:ctrlPr>
                          <a:rPr lang="it-IT" sz="2400" b="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</m:ctrlPr>
                      </m:sSubPr>
                      <m:e>
                        <m:r>
                          <a:rPr lang="it-IT" sz="240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𝑣</m:t>
                        </m:r>
                      </m:e>
                      <m:sub>
                        <m:r>
                          <a:rPr lang="it-IT" sz="2400" b="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, rispettando due condizioni:</a:t>
                </a:r>
              </a:p>
              <a:p>
                <a:pPr marL="1371600" lvl="2" indent="-457200">
                  <a:spcBef>
                    <a:spcPts val="100"/>
                  </a:spcBef>
                  <a:buFont typeface="+mj-lt"/>
                  <a:buAutoNum type="arabicPeriod"/>
                </a:pP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Non deve rendere negativo il surplus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𝑠</m:t>
                        </m:r>
                      </m:e>
                      <m:sub>
                        <m:r>
                          <a:rPr lang="it-IT" sz="2400" b="0" i="1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 di nessuna facility.</a:t>
                </a:r>
              </a:p>
              <a:p>
                <a:pPr marL="1371600" lvl="2" indent="-457200">
                  <a:spcBef>
                    <a:spcPts val="100"/>
                  </a:spcBef>
                  <a:buFont typeface="+mj-lt"/>
                  <a:buAutoNum type="arabicPeriod"/>
                </a:pP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Non deve superare il costo della "prossima facility più economica" per quel cliente. </a:t>
                </a:r>
              </a:p>
              <a:p>
                <a:pPr marL="800100" lvl="1" indent="-34290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Il prezzo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</m:ctrlPr>
                      </m:sSubPr>
                      <m:e>
                        <m:r>
                          <a:rPr lang="it-IT" sz="240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𝑣</m:t>
                        </m:r>
                      </m:e>
                      <m:sub>
                        <m:r>
                          <a:rPr lang="it-IT" sz="2400" b="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 viene aumentato di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dirty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2400" dirty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Δ</m:t>
                        </m:r>
                      </m:e>
                      <m:sub>
                        <m:r>
                          <a:rPr lang="it-IT" sz="2400" i="1" dirty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𝑗</m:t>
                        </m:r>
                      </m:sub>
                    </m:sSub>
                    <m:r>
                      <a:rPr lang="it-IT" sz="2400" i="1" dirty="0">
                        <a:solidFill>
                          <a:srgbClr val="0F3FD4"/>
                        </a:solidFill>
                        <a:latin typeface="Cambria Math" panose="02040503050406030204" pitchFamily="18" charset="0"/>
                        <a:cs typeface="เอฟซี ซับเจค คอนเดนซ์​"/>
                        <a:sym typeface="เอฟซี ซับเจค คอนเดนซ์​"/>
                      </a:rPr>
                      <m:t> </m:t>
                    </m:r>
                  </m:oMath>
                </a14:m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e i surplus delle facility coinvolte vengono aggiornati.</a:t>
                </a:r>
              </a:p>
            </p:txBody>
          </p:sp>
        </mc:Choice>
        <mc:Fallback xmlns="">
          <p:sp>
            <p:nvSpPr>
              <p:cNvPr id="6" name="TextBox 9">
                <a:extLst>
                  <a:ext uri="{FF2B5EF4-FFF2-40B4-BE49-F238E27FC236}">
                    <a16:creationId xmlns:a16="http://schemas.microsoft.com/office/drawing/2014/main" id="{CF83F771-A542-0BD7-6F49-94D58F80A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400" y="3642309"/>
                <a:ext cx="8153400" cy="3787191"/>
              </a:xfrm>
              <a:prstGeom prst="rect">
                <a:avLst/>
              </a:prstGeom>
              <a:blipFill>
                <a:blip r:embed="rId4"/>
                <a:stretch>
                  <a:fillRect l="-2319" t="-2412" r="-898" b="-466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732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26B4A-666C-507F-C8BB-9AA19D980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91CF0604-59DC-AE3C-2D21-28404DC58B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0A40E67-09C4-A663-7B5B-AEF3AF022F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07960C1E-D41C-5A9B-0DB2-FE2C53CF0DE3}"/>
              </a:ext>
            </a:extLst>
          </p:cNvPr>
          <p:cNvSpPr txBox="1"/>
          <p:nvPr/>
        </p:nvSpPr>
        <p:spPr>
          <a:xfrm>
            <a:off x="2895600" y="960439"/>
            <a:ext cx="13463158" cy="1109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72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Algoritmo di Erlenkotter (DUALOC)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70FB24FA-E000-FFEF-574D-032A08B1D2B8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10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A7AC04E-1F45-EEE9-2301-5E57F43B0FE1}"/>
              </a:ext>
            </a:extLst>
          </p:cNvPr>
          <p:cNvSpPr txBox="1"/>
          <p:nvPr/>
        </p:nvSpPr>
        <p:spPr>
          <a:xfrm>
            <a:off x="8686800" y="46863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9">
                <a:extLst>
                  <a:ext uri="{FF2B5EF4-FFF2-40B4-BE49-F238E27FC236}">
                    <a16:creationId xmlns:a16="http://schemas.microsoft.com/office/drawing/2014/main" id="{A319E8B7-D20A-E643-911C-A25D1B6B450C}"/>
                  </a:ext>
                </a:extLst>
              </p:cNvPr>
              <p:cNvSpPr txBox="1"/>
              <p:nvPr/>
            </p:nvSpPr>
            <p:spPr>
              <a:xfrm>
                <a:off x="1063772" y="3949432"/>
                <a:ext cx="5486400" cy="230114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spcBef>
                    <a:spcPts val="100"/>
                  </a:spcBef>
                </a:pPr>
                <a:r>
                  <a:rPr lang="it-IT" sz="2400" b="1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3. Terminazione e Risultato:</a:t>
                </a:r>
              </a:p>
              <a:p>
                <a:pPr marL="800100" lvl="1" indent="-34290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La procedura termina quando nessun prezzo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</m:ctrlPr>
                      </m:sSubPr>
                      <m:e>
                        <m:r>
                          <a:rPr lang="it-IT" sz="240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𝑣</m:t>
                        </m:r>
                      </m:e>
                      <m:sub>
                        <m:r>
                          <a:rPr lang="it-IT" sz="2400" b="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 può più essere aumentato in un'intera iterazione.</a:t>
                </a:r>
              </a:p>
              <a:p>
                <a:pPr marL="800100" lvl="1" indent="-34290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Il Lower Bound è dato dalla somma finale di tutti i prezzi duali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</m:ctrlPr>
                      </m:sSubPr>
                      <m:e>
                        <m:r>
                          <a:rPr lang="it-IT" sz="240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𝑣</m:t>
                        </m:r>
                      </m:e>
                      <m:sub>
                        <m:r>
                          <a:rPr lang="it-IT" sz="2400" b="0" i="1" dirty="0" smtClean="0">
                            <a:solidFill>
                              <a:srgbClr val="0F3FD4"/>
                            </a:solidFill>
                            <a:latin typeface="Cambria Math" panose="02040503050406030204" pitchFamily="18" charset="0"/>
                            <a:cs typeface="เอฟซี ซับเจค คอนเดนซ์​"/>
                            <a:sym typeface="เอฟซี ซับเจค คอนเดนซ์​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it-IT" sz="2400" dirty="0">
                    <a:solidFill>
                      <a:srgbClr val="0F3FD4"/>
                    </a:solidFill>
                    <a:cs typeface="เอฟซี ซับเจค คอนเดนซ์​"/>
                    <a:sym typeface="เอฟซี ซับเจค คอนเดนซ์​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9">
                <a:extLst>
                  <a:ext uri="{FF2B5EF4-FFF2-40B4-BE49-F238E27FC236}">
                    <a16:creationId xmlns:a16="http://schemas.microsoft.com/office/drawing/2014/main" id="{A319E8B7-D20A-E643-911C-A25D1B6B4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772" y="3949432"/>
                <a:ext cx="5486400" cy="2301143"/>
              </a:xfrm>
              <a:prstGeom prst="rect">
                <a:avLst/>
              </a:prstGeom>
              <a:blipFill>
                <a:blip r:embed="rId3"/>
                <a:stretch>
                  <a:fillRect l="-3444" t="-4244" r="-3222" b="-610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magine 8">
            <a:extLst>
              <a:ext uri="{FF2B5EF4-FFF2-40B4-BE49-F238E27FC236}">
                <a16:creationId xmlns:a16="http://schemas.microsoft.com/office/drawing/2014/main" id="{56A23DFD-FDA9-509C-0AED-B5167FF09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276362"/>
            <a:ext cx="8306959" cy="707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297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664D7-63D0-F8D5-9845-69306C780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E6E7DAB1-EFF3-47FF-059F-641EE36502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8C21C55-1224-578D-4F5D-1A13EEFC77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5F19D78E-F681-7DFB-77CC-CA78B4950BD4}"/>
              </a:ext>
            </a:extLst>
          </p:cNvPr>
          <p:cNvSpPr txBox="1"/>
          <p:nvPr/>
        </p:nvSpPr>
        <p:spPr>
          <a:xfrm>
            <a:off x="2590800" y="960439"/>
            <a:ext cx="13463158" cy="1109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72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Euristica Greedy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86AFF5DF-F07B-8A48-7751-5C5D38412D57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11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6" name="Bolla: nuvola 5">
            <a:extLst>
              <a:ext uri="{FF2B5EF4-FFF2-40B4-BE49-F238E27FC236}">
                <a16:creationId xmlns:a16="http://schemas.microsoft.com/office/drawing/2014/main" id="{9B0D001E-F51E-8B17-16D1-2F87A10F9C67}"/>
              </a:ext>
            </a:extLst>
          </p:cNvPr>
          <p:cNvSpPr/>
          <p:nvPr/>
        </p:nvSpPr>
        <p:spPr>
          <a:xfrm>
            <a:off x="13994006" y="419921"/>
            <a:ext cx="3048000" cy="1390343"/>
          </a:xfrm>
          <a:prstGeom prst="cloudCallout">
            <a:avLst>
              <a:gd name="adj1" fmla="val -74004"/>
              <a:gd name="adj2" fmla="val 30107"/>
            </a:avLst>
          </a:prstGeom>
          <a:solidFill>
            <a:schemeClr val="bg1"/>
          </a:solidFill>
          <a:ln w="28575">
            <a:solidFill>
              <a:srgbClr val="0F3FD4"/>
            </a:solidFill>
          </a:ln>
        </p:spPr>
        <p:txBody>
          <a:bodyPr rtlCol="0" anchor="ctr"/>
          <a:lstStyle/>
          <a:p>
            <a:pPr algn="ctr"/>
            <a:r>
              <a:rPr lang="it-IT" sz="2000" dirty="0">
                <a:solidFill>
                  <a:srgbClr val="0F3FD4"/>
                </a:solidFill>
              </a:rPr>
              <a:t>Fornisce la soluzione ammissibile (UB)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3279013-979B-B2E8-DC6E-8A032CC584A2}"/>
              </a:ext>
            </a:extLst>
          </p:cNvPr>
          <p:cNvSpPr txBox="1"/>
          <p:nvPr/>
        </p:nvSpPr>
        <p:spPr>
          <a:xfrm>
            <a:off x="2327302" y="2825540"/>
            <a:ext cx="13463158" cy="6124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100"/>
              </a:spcBef>
            </a:pPr>
            <a:r>
              <a:rPr lang="it-IT" sz="2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เอฟซี ซับเจค คอนเดนซ์​"/>
                <a:sym typeface="เอฟซี ซับเจค คอนเดนซ์​"/>
              </a:rPr>
              <a:t>Come funziona:</a:t>
            </a:r>
          </a:p>
          <a:p>
            <a:pPr marL="457200" indent="-457200">
              <a:spcBef>
                <a:spcPts val="100"/>
              </a:spcBef>
              <a:buFont typeface="+mj-lt"/>
              <a:buAutoNum type="arabicPeriod"/>
            </a:pPr>
            <a:r>
              <a:rPr lang="it-IT" sz="2400" b="1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Inizializzazione:</a:t>
            </a:r>
          </a:p>
          <a:p>
            <a:pPr marL="8001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Si parte da una soluzione vuota, senza nessuna facility aperta.</a:t>
            </a:r>
          </a:p>
          <a:p>
            <a:pPr marL="8001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Il costo iniziale è considerato infinito.</a:t>
            </a:r>
          </a:p>
          <a:p>
            <a:pPr marL="457200" indent="-457200">
              <a:spcBef>
                <a:spcPts val="100"/>
              </a:spcBef>
              <a:buFont typeface="+mj-lt"/>
              <a:buAutoNum type="arabicPeriod"/>
            </a:pPr>
            <a:r>
              <a:rPr lang="it-IT" sz="2400" b="1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Procedura Iterativa:</a:t>
            </a:r>
          </a:p>
          <a:p>
            <a:pPr marL="8001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Ad ogni passo, l'algoritmo valuta tutte le facility non ancora aperte.</a:t>
            </a:r>
          </a:p>
          <a:p>
            <a:pPr marL="8001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Per ciascuna di esse, calcola il </a:t>
            </a:r>
            <a:r>
              <a:rPr lang="it-IT" sz="2400" b="1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risparmio di costo totale </a:t>
            </a: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che si otterrebbe aprendola. Questo risparmio è dato da:</a:t>
            </a:r>
          </a:p>
          <a:p>
            <a:pPr lvl="1">
              <a:spcBef>
                <a:spcPts val="100"/>
              </a:spcBef>
            </a:pP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		(Riduzione dei costi di trasporto) - (Costo fisso della nuova facility)</a:t>
            </a:r>
          </a:p>
          <a:p>
            <a:pPr marL="8001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Decisione "Greedy": Se il massimo risparmio possibile è positivo, l'algoritmo apre la facility che offre il risparmio più alto.</a:t>
            </a:r>
          </a:p>
          <a:p>
            <a:pPr marL="457200" indent="-457200">
              <a:spcBef>
                <a:spcPts val="100"/>
              </a:spcBef>
              <a:buFont typeface="+mj-lt"/>
              <a:buAutoNum type="arabicPeriod"/>
            </a:pPr>
            <a:r>
              <a:rPr lang="it-IT" sz="2400" b="1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Terminazione e Risultato:</a:t>
            </a:r>
          </a:p>
          <a:p>
            <a:pPr marL="914400" lvl="1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La procedura termina quando nessuna facility chiusa può offrire un risparmio positivo.</a:t>
            </a:r>
          </a:p>
          <a:p>
            <a:pPr marL="914400" lvl="1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L'insieme delle facility aperte e il costo totale associato costituiscono la soluzione finale (l'upper bound).</a:t>
            </a:r>
          </a:p>
          <a:p>
            <a:pPr lvl="1">
              <a:spcBef>
                <a:spcPts val="100"/>
              </a:spcBef>
            </a:pPr>
            <a:endParaRPr lang="it-IT" sz="2400" dirty="0">
              <a:solidFill>
                <a:srgbClr val="0F3FD4"/>
              </a:solidFill>
              <a:cs typeface="เอฟซี ซับเจค คอนเดนซ์​"/>
              <a:sym typeface="เอฟซี ซับเจค คอนเดนซ์​"/>
            </a:endParaRPr>
          </a:p>
        </p:txBody>
      </p:sp>
    </p:spTree>
    <p:extLst>
      <p:ext uri="{BB962C8B-B14F-4D97-AF65-F5344CB8AC3E}">
        <p14:creationId xmlns:p14="http://schemas.microsoft.com/office/powerpoint/2010/main" val="353475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B739C-BA45-0255-95BE-D8D7C927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5E8C71E8-1129-E364-B796-6F08D6BF83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A422E07-A834-7DA2-73F1-BC93F0782B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EB2118E2-2773-FD04-9D0F-8E258B12F3C4}"/>
              </a:ext>
            </a:extLst>
          </p:cNvPr>
          <p:cNvSpPr txBox="1"/>
          <p:nvPr/>
        </p:nvSpPr>
        <p:spPr>
          <a:xfrm>
            <a:off x="2412421" y="906769"/>
            <a:ext cx="13463158" cy="1109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72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ARCHITETTURA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21C993AA-F75F-DC27-CB96-7EA665C2BC90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12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A47AA6DC-596C-204D-B39B-5EA82A4D6392}"/>
              </a:ext>
            </a:extLst>
          </p:cNvPr>
          <p:cNvSpPr txBox="1"/>
          <p:nvPr/>
        </p:nvSpPr>
        <p:spPr>
          <a:xfrm>
            <a:off x="1447800" y="4188965"/>
            <a:ext cx="6172200" cy="2408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800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Linguaggio di programmazione: Python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IDE: </a:t>
            </a:r>
            <a:r>
              <a:rPr lang="it-IT" sz="2800" dirty="0" err="1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PyCharm</a:t>
            </a:r>
            <a:endParaRPr lang="it-IT" sz="2800" dirty="0">
              <a:solidFill>
                <a:srgbClr val="0F3FD4"/>
              </a:solidFill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Solver AMPL: Gurobi</a:t>
            </a:r>
          </a:p>
          <a:p>
            <a:pPr algn="ctr">
              <a:lnSpc>
                <a:spcPts val="3919"/>
              </a:lnSpc>
            </a:pPr>
            <a:endParaRPr lang="it-IT" sz="2799" noProof="0" dirty="0">
              <a:solidFill>
                <a:srgbClr val="0F3FD4"/>
              </a:solidFill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2518A205-3AD5-FF1A-EB0C-BE23A1F807EE}"/>
              </a:ext>
            </a:extLst>
          </p:cNvPr>
          <p:cNvGrpSpPr/>
          <p:nvPr/>
        </p:nvGrpSpPr>
        <p:grpSpPr>
          <a:xfrm>
            <a:off x="1737913" y="2969158"/>
            <a:ext cx="3452316" cy="952406"/>
            <a:chOff x="3443005" y="3562740"/>
            <a:chExt cx="3452316" cy="952406"/>
          </a:xfrm>
        </p:grpSpPr>
        <p:grpSp>
          <p:nvGrpSpPr>
            <p:cNvPr id="3" name="Group 9">
              <a:extLst>
                <a:ext uri="{FF2B5EF4-FFF2-40B4-BE49-F238E27FC236}">
                  <a16:creationId xmlns:a16="http://schemas.microsoft.com/office/drawing/2014/main" id="{A82007F6-92E6-7C42-5AFB-F42EF2EC0CFE}"/>
                </a:ext>
              </a:extLst>
            </p:cNvPr>
            <p:cNvGrpSpPr/>
            <p:nvPr/>
          </p:nvGrpSpPr>
          <p:grpSpPr>
            <a:xfrm>
              <a:off x="3443005" y="3658085"/>
              <a:ext cx="3452316" cy="857061"/>
              <a:chOff x="0" y="0"/>
              <a:chExt cx="909252" cy="225728"/>
            </a:xfrm>
          </p:grpSpPr>
          <p:sp>
            <p:nvSpPr>
              <p:cNvPr id="6" name="Freeform 10">
                <a:extLst>
                  <a:ext uri="{FF2B5EF4-FFF2-40B4-BE49-F238E27FC236}">
                    <a16:creationId xmlns:a16="http://schemas.microsoft.com/office/drawing/2014/main" id="{F7AF07FA-BFA9-63ED-2554-6C427F4F7BB3}"/>
                  </a:ext>
                </a:extLst>
              </p:cNvPr>
              <p:cNvSpPr/>
              <p:nvPr/>
            </p:nvSpPr>
            <p:spPr>
              <a:xfrm>
                <a:off x="0" y="0"/>
                <a:ext cx="909252" cy="225728"/>
              </a:xfrm>
              <a:custGeom>
                <a:avLst/>
                <a:gdLst/>
                <a:ahLst/>
                <a:cxnLst/>
                <a:rect l="l" t="t" r="r" b="b"/>
                <a:pathLst>
                  <a:path w="909252" h="225728">
                    <a:moveTo>
                      <a:pt x="112864" y="0"/>
                    </a:moveTo>
                    <a:lnTo>
                      <a:pt x="796388" y="0"/>
                    </a:lnTo>
                    <a:cubicBezTo>
                      <a:pt x="826321" y="0"/>
                      <a:pt x="855029" y="11891"/>
                      <a:pt x="876195" y="33057"/>
                    </a:cubicBezTo>
                    <a:cubicBezTo>
                      <a:pt x="897361" y="54223"/>
                      <a:pt x="909252" y="82931"/>
                      <a:pt x="909252" y="112864"/>
                    </a:cubicBezTo>
                    <a:lnTo>
                      <a:pt x="909252" y="112864"/>
                    </a:lnTo>
                    <a:cubicBezTo>
                      <a:pt x="909252" y="142797"/>
                      <a:pt x="897361" y="171505"/>
                      <a:pt x="876195" y="192671"/>
                    </a:cubicBezTo>
                    <a:cubicBezTo>
                      <a:pt x="855029" y="213837"/>
                      <a:pt x="826321" y="225728"/>
                      <a:pt x="796388" y="225728"/>
                    </a:cubicBezTo>
                    <a:lnTo>
                      <a:pt x="112864" y="225728"/>
                    </a:lnTo>
                    <a:cubicBezTo>
                      <a:pt x="82931" y="225728"/>
                      <a:pt x="54223" y="213837"/>
                      <a:pt x="33057" y="192671"/>
                    </a:cubicBezTo>
                    <a:cubicBezTo>
                      <a:pt x="11891" y="171505"/>
                      <a:pt x="0" y="142797"/>
                      <a:pt x="0" y="112864"/>
                    </a:cubicBezTo>
                    <a:lnTo>
                      <a:pt x="0" y="112864"/>
                    </a:lnTo>
                    <a:cubicBezTo>
                      <a:pt x="0" y="82931"/>
                      <a:pt x="11891" y="54223"/>
                      <a:pt x="33057" y="33057"/>
                    </a:cubicBezTo>
                    <a:cubicBezTo>
                      <a:pt x="54223" y="11891"/>
                      <a:pt x="82931" y="0"/>
                      <a:pt x="112864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solidFill>
                  <a:srgbClr val="41496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 noProof="0" dirty="0"/>
              </a:p>
            </p:txBody>
          </p:sp>
          <p:sp>
            <p:nvSpPr>
              <p:cNvPr id="8" name="TextBox 11">
                <a:extLst>
                  <a:ext uri="{FF2B5EF4-FFF2-40B4-BE49-F238E27FC236}">
                    <a16:creationId xmlns:a16="http://schemas.microsoft.com/office/drawing/2014/main" id="{6FD54490-E1EA-8AD3-9F68-490523CF8A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09252" cy="2638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lang="it-IT" noProof="0" dirty="0"/>
              </a:p>
            </p:txBody>
          </p:sp>
        </p:grpSp>
        <p:sp>
          <p:nvSpPr>
            <p:cNvPr id="10" name="TextBox 13">
              <a:extLst>
                <a:ext uri="{FF2B5EF4-FFF2-40B4-BE49-F238E27FC236}">
                  <a16:creationId xmlns:a16="http://schemas.microsoft.com/office/drawing/2014/main" id="{5EA84F84-142D-0841-9010-60C50C755AE0}"/>
                </a:ext>
              </a:extLst>
            </p:cNvPr>
            <p:cNvSpPr txBox="1"/>
            <p:nvPr/>
          </p:nvSpPr>
          <p:spPr>
            <a:xfrm>
              <a:off x="3443005" y="3562740"/>
              <a:ext cx="3452316" cy="758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it-IT" sz="4500" b="1" noProof="0" dirty="0">
                  <a:solidFill>
                    <a:srgbClr val="0F3FD4"/>
                  </a:solidFill>
                  <a:ea typeface="เอฟซี ซับเจค คอนเดนซ์​ Bold"/>
                  <a:cs typeface="เอฟซี ซับเจค คอนเดนซ์​ Bold"/>
                  <a:sym typeface="เอฟซี ซับเจค คอนเดนซ์​ Bold"/>
                </a:rPr>
                <a:t>Tool</a:t>
              </a:r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53324FA2-AD0F-5AC3-C509-B42A03CC471B}"/>
              </a:ext>
            </a:extLst>
          </p:cNvPr>
          <p:cNvSpPr txBox="1"/>
          <p:nvPr/>
        </p:nvSpPr>
        <p:spPr>
          <a:xfrm>
            <a:off x="9829800" y="4263606"/>
            <a:ext cx="6781800" cy="34706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it-IT" sz="2799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Come ho strutturato il codice:</a:t>
            </a:r>
          </a:p>
          <a:p>
            <a:pPr marL="457200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it-IT" sz="2799" i="1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d</a:t>
            </a:r>
            <a:r>
              <a:rPr lang="it-IT" sz="2799" i="1" noProof="0" dirty="0" err="1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ata</a:t>
            </a:r>
            <a:r>
              <a:rPr lang="it-IT" sz="2799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: istanze di test</a:t>
            </a:r>
          </a:p>
          <a:p>
            <a:pPr marL="457200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it-IT" sz="2799" i="1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reports</a:t>
            </a:r>
            <a:r>
              <a:rPr lang="it-IT" sz="2799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: analisi dettagliate per ciascuna istanza</a:t>
            </a:r>
          </a:p>
          <a:p>
            <a:pPr marL="457200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it-IT" sz="2799" i="1" noProof="0" dirty="0" err="1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src</a:t>
            </a:r>
            <a:r>
              <a:rPr lang="it-IT" sz="2799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: algoritmi Greedy, Erlenkotter, modelli PLI</a:t>
            </a:r>
          </a:p>
          <a:p>
            <a:pPr marL="457200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it-IT" sz="2799" i="1" dirty="0" err="1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utilis</a:t>
            </a:r>
            <a:r>
              <a:rPr lang="it-IT" sz="2799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: programmi per generare i plot </a:t>
            </a:r>
          </a:p>
        </p:txBody>
      </p: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A4AACE57-A642-1564-21A0-1F5E1C67AD4F}"/>
              </a:ext>
            </a:extLst>
          </p:cNvPr>
          <p:cNvGrpSpPr/>
          <p:nvPr/>
        </p:nvGrpSpPr>
        <p:grpSpPr>
          <a:xfrm>
            <a:off x="11125200" y="2893007"/>
            <a:ext cx="3452316" cy="1001722"/>
            <a:chOff x="11392679" y="3513424"/>
            <a:chExt cx="3452316" cy="1001722"/>
          </a:xfrm>
        </p:grpSpPr>
        <p:grpSp>
          <p:nvGrpSpPr>
            <p:cNvPr id="11" name="Group 14">
              <a:extLst>
                <a:ext uri="{FF2B5EF4-FFF2-40B4-BE49-F238E27FC236}">
                  <a16:creationId xmlns:a16="http://schemas.microsoft.com/office/drawing/2014/main" id="{0CA8270A-BCD9-D102-343E-05D2F625E2DA}"/>
                </a:ext>
              </a:extLst>
            </p:cNvPr>
            <p:cNvGrpSpPr/>
            <p:nvPr/>
          </p:nvGrpSpPr>
          <p:grpSpPr>
            <a:xfrm>
              <a:off x="11392679" y="3513424"/>
              <a:ext cx="3452316" cy="1001722"/>
              <a:chOff x="0" y="-38100"/>
              <a:chExt cx="909252" cy="263828"/>
            </a:xfrm>
          </p:grpSpPr>
          <p:sp>
            <p:nvSpPr>
              <p:cNvPr id="12" name="Freeform 15">
                <a:extLst>
                  <a:ext uri="{FF2B5EF4-FFF2-40B4-BE49-F238E27FC236}">
                    <a16:creationId xmlns:a16="http://schemas.microsoft.com/office/drawing/2014/main" id="{EBC222A6-6713-10B7-65EA-7C82C4653C87}"/>
                  </a:ext>
                </a:extLst>
              </p:cNvPr>
              <p:cNvSpPr/>
              <p:nvPr/>
            </p:nvSpPr>
            <p:spPr>
              <a:xfrm>
                <a:off x="0" y="0"/>
                <a:ext cx="909252" cy="225728"/>
              </a:xfrm>
              <a:custGeom>
                <a:avLst/>
                <a:gdLst/>
                <a:ahLst/>
                <a:cxnLst/>
                <a:rect l="l" t="t" r="r" b="b"/>
                <a:pathLst>
                  <a:path w="909252" h="225728">
                    <a:moveTo>
                      <a:pt x="112864" y="0"/>
                    </a:moveTo>
                    <a:lnTo>
                      <a:pt x="796388" y="0"/>
                    </a:lnTo>
                    <a:cubicBezTo>
                      <a:pt x="826321" y="0"/>
                      <a:pt x="855029" y="11891"/>
                      <a:pt x="876195" y="33057"/>
                    </a:cubicBezTo>
                    <a:cubicBezTo>
                      <a:pt x="897361" y="54223"/>
                      <a:pt x="909252" y="82931"/>
                      <a:pt x="909252" y="112864"/>
                    </a:cubicBezTo>
                    <a:lnTo>
                      <a:pt x="909252" y="112864"/>
                    </a:lnTo>
                    <a:cubicBezTo>
                      <a:pt x="909252" y="142797"/>
                      <a:pt x="897361" y="171505"/>
                      <a:pt x="876195" y="192671"/>
                    </a:cubicBezTo>
                    <a:cubicBezTo>
                      <a:pt x="855029" y="213837"/>
                      <a:pt x="826321" y="225728"/>
                      <a:pt x="796388" y="225728"/>
                    </a:cubicBezTo>
                    <a:lnTo>
                      <a:pt x="112864" y="225728"/>
                    </a:lnTo>
                    <a:cubicBezTo>
                      <a:pt x="82931" y="225728"/>
                      <a:pt x="54223" y="213837"/>
                      <a:pt x="33057" y="192671"/>
                    </a:cubicBezTo>
                    <a:cubicBezTo>
                      <a:pt x="11891" y="171505"/>
                      <a:pt x="0" y="142797"/>
                      <a:pt x="0" y="112864"/>
                    </a:cubicBezTo>
                    <a:lnTo>
                      <a:pt x="0" y="112864"/>
                    </a:lnTo>
                    <a:cubicBezTo>
                      <a:pt x="0" y="82931"/>
                      <a:pt x="11891" y="54223"/>
                      <a:pt x="33057" y="33057"/>
                    </a:cubicBezTo>
                    <a:cubicBezTo>
                      <a:pt x="54223" y="11891"/>
                      <a:pt x="82931" y="0"/>
                      <a:pt x="112864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solidFill>
                  <a:srgbClr val="41496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 noProof="0" dirty="0"/>
              </a:p>
            </p:txBody>
          </p:sp>
          <p:sp>
            <p:nvSpPr>
              <p:cNvPr id="13" name="TextBox 16">
                <a:extLst>
                  <a:ext uri="{FF2B5EF4-FFF2-40B4-BE49-F238E27FC236}">
                    <a16:creationId xmlns:a16="http://schemas.microsoft.com/office/drawing/2014/main" id="{198ADCC3-7676-1217-A98A-252477D3A51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09252" cy="2638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lang="it-IT" noProof="0" dirty="0"/>
              </a:p>
            </p:txBody>
          </p:sp>
        </p:grpSp>
        <p:sp>
          <p:nvSpPr>
            <p:cNvPr id="15" name="TextBox 18">
              <a:extLst>
                <a:ext uri="{FF2B5EF4-FFF2-40B4-BE49-F238E27FC236}">
                  <a16:creationId xmlns:a16="http://schemas.microsoft.com/office/drawing/2014/main" id="{6739F285-1AA4-E95E-3722-212A60C4F2ED}"/>
                </a:ext>
              </a:extLst>
            </p:cNvPr>
            <p:cNvSpPr txBox="1"/>
            <p:nvPr/>
          </p:nvSpPr>
          <p:spPr>
            <a:xfrm>
              <a:off x="11392679" y="3562740"/>
              <a:ext cx="3452316" cy="758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it-IT" sz="4500" b="1" noProof="0" dirty="0">
                  <a:solidFill>
                    <a:srgbClr val="0F3FD4"/>
                  </a:solidFill>
                  <a:ea typeface="เอฟซี ซับเจค คอนเดนซ์​ Bold"/>
                  <a:cs typeface="เอฟซี ซับเจค คอนเดนซ์​ Bold"/>
                  <a:sym typeface="เอฟซี ซับเจค คอนเดนซ์​ Bold"/>
                </a:rPr>
                <a:t>Struttura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247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2E75E-9769-BCF0-14EC-554A356F0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91B8A1E9-C1C0-45EB-EBBA-EC66353900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7482D08-5DA3-0772-24EB-40EB1A7795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677DD78C-BD3D-8BC1-AC93-D17578A1B274}"/>
              </a:ext>
            </a:extLst>
          </p:cNvPr>
          <p:cNvSpPr txBox="1"/>
          <p:nvPr/>
        </p:nvSpPr>
        <p:spPr>
          <a:xfrm>
            <a:off x="2412421" y="933807"/>
            <a:ext cx="13463158" cy="1109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72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ISTANZE e DATI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E91A5E9A-168F-E554-41D3-819F612A6E4A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13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EA77A585-C43C-CAFE-01C4-D36E184437D9}"/>
              </a:ext>
            </a:extLst>
          </p:cNvPr>
          <p:cNvGrpSpPr/>
          <p:nvPr/>
        </p:nvGrpSpPr>
        <p:grpSpPr>
          <a:xfrm>
            <a:off x="1371600" y="6591300"/>
            <a:ext cx="3503488" cy="870140"/>
            <a:chOff x="2567484" y="3707575"/>
            <a:chExt cx="3503488" cy="870140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4CA82671-E64A-9BEE-74DC-81AD485E0FD5}"/>
                </a:ext>
              </a:extLst>
            </p:cNvPr>
            <p:cNvSpPr/>
            <p:nvPr/>
          </p:nvSpPr>
          <p:spPr>
            <a:xfrm>
              <a:off x="2618656" y="3720654"/>
              <a:ext cx="3452316" cy="857061"/>
            </a:xfrm>
            <a:custGeom>
              <a:avLst/>
              <a:gdLst/>
              <a:ahLst/>
              <a:cxnLst/>
              <a:rect l="l" t="t" r="r" b="b"/>
              <a:pathLst>
                <a:path w="909252" h="225728">
                  <a:moveTo>
                    <a:pt x="112864" y="0"/>
                  </a:moveTo>
                  <a:lnTo>
                    <a:pt x="796388" y="0"/>
                  </a:lnTo>
                  <a:cubicBezTo>
                    <a:pt x="826321" y="0"/>
                    <a:pt x="855029" y="11891"/>
                    <a:pt x="876195" y="33057"/>
                  </a:cubicBezTo>
                  <a:cubicBezTo>
                    <a:pt x="897361" y="54223"/>
                    <a:pt x="909252" y="82931"/>
                    <a:pt x="909252" y="112864"/>
                  </a:cubicBezTo>
                  <a:lnTo>
                    <a:pt x="909252" y="112864"/>
                  </a:lnTo>
                  <a:cubicBezTo>
                    <a:pt x="909252" y="142797"/>
                    <a:pt x="897361" y="171505"/>
                    <a:pt x="876195" y="192671"/>
                  </a:cubicBezTo>
                  <a:cubicBezTo>
                    <a:pt x="855029" y="213837"/>
                    <a:pt x="826321" y="225728"/>
                    <a:pt x="796388" y="225728"/>
                  </a:cubicBezTo>
                  <a:lnTo>
                    <a:pt x="112864" y="225728"/>
                  </a:lnTo>
                  <a:cubicBezTo>
                    <a:pt x="82931" y="225728"/>
                    <a:pt x="54223" y="213837"/>
                    <a:pt x="33057" y="192671"/>
                  </a:cubicBezTo>
                  <a:cubicBezTo>
                    <a:pt x="11891" y="171505"/>
                    <a:pt x="0" y="142797"/>
                    <a:pt x="0" y="112864"/>
                  </a:cubicBezTo>
                  <a:lnTo>
                    <a:pt x="0" y="112864"/>
                  </a:lnTo>
                  <a:cubicBezTo>
                    <a:pt x="0" y="82931"/>
                    <a:pt x="11891" y="54223"/>
                    <a:pt x="33057" y="33057"/>
                  </a:cubicBezTo>
                  <a:cubicBezTo>
                    <a:pt x="54223" y="11891"/>
                    <a:pt x="82931" y="0"/>
                    <a:pt x="11286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414964"/>
              </a:solidFill>
              <a:prstDash val="solid"/>
              <a:round/>
            </a:ln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6" name="TextBox 13">
              <a:extLst>
                <a:ext uri="{FF2B5EF4-FFF2-40B4-BE49-F238E27FC236}">
                  <a16:creationId xmlns:a16="http://schemas.microsoft.com/office/drawing/2014/main" id="{868B984D-C0C5-D8EE-16E7-80B4D8E67A8A}"/>
                </a:ext>
              </a:extLst>
            </p:cNvPr>
            <p:cNvSpPr txBox="1"/>
            <p:nvPr/>
          </p:nvSpPr>
          <p:spPr>
            <a:xfrm>
              <a:off x="2567484" y="3707575"/>
              <a:ext cx="3452316" cy="758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it-IT" sz="4500" b="1" noProof="0" dirty="0">
                  <a:solidFill>
                    <a:srgbClr val="0F3FD4"/>
                  </a:solidFill>
                  <a:ea typeface="เอฟซี ซับเจค คอนเดนซ์​ Bold"/>
                  <a:cs typeface="เอฟซี ซับเจค คอนเดนซ์​ Bold"/>
                  <a:sym typeface="เอฟซี ซับเจค คอนเดนซ์​ Bold"/>
                </a:rPr>
                <a:t>OR-library</a:t>
              </a:r>
            </a:p>
          </p:txBody>
        </p:sp>
      </p:grp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18B3FA8F-C79F-C5B7-F7F0-F0FC6F11379C}"/>
              </a:ext>
            </a:extLst>
          </p:cNvPr>
          <p:cNvGrpSpPr/>
          <p:nvPr/>
        </p:nvGrpSpPr>
        <p:grpSpPr>
          <a:xfrm>
            <a:off x="12649200" y="5734239"/>
            <a:ext cx="4267200" cy="857061"/>
            <a:chOff x="10744200" y="3619500"/>
            <a:chExt cx="4267200" cy="857061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359FDCC9-11D5-BCAF-CCD3-4CB2243C8D28}"/>
                </a:ext>
              </a:extLst>
            </p:cNvPr>
            <p:cNvSpPr/>
            <p:nvPr/>
          </p:nvSpPr>
          <p:spPr>
            <a:xfrm>
              <a:off x="10744200" y="3619500"/>
              <a:ext cx="4267200" cy="857061"/>
            </a:xfrm>
            <a:custGeom>
              <a:avLst/>
              <a:gdLst/>
              <a:ahLst/>
              <a:cxnLst/>
              <a:rect l="l" t="t" r="r" b="b"/>
              <a:pathLst>
                <a:path w="909252" h="225728">
                  <a:moveTo>
                    <a:pt x="112864" y="0"/>
                  </a:moveTo>
                  <a:lnTo>
                    <a:pt x="796388" y="0"/>
                  </a:lnTo>
                  <a:cubicBezTo>
                    <a:pt x="826321" y="0"/>
                    <a:pt x="855029" y="11891"/>
                    <a:pt x="876195" y="33057"/>
                  </a:cubicBezTo>
                  <a:cubicBezTo>
                    <a:pt x="897361" y="54223"/>
                    <a:pt x="909252" y="82931"/>
                    <a:pt x="909252" y="112864"/>
                  </a:cubicBezTo>
                  <a:lnTo>
                    <a:pt x="909252" y="112864"/>
                  </a:lnTo>
                  <a:cubicBezTo>
                    <a:pt x="909252" y="142797"/>
                    <a:pt x="897361" y="171505"/>
                    <a:pt x="876195" y="192671"/>
                  </a:cubicBezTo>
                  <a:cubicBezTo>
                    <a:pt x="855029" y="213837"/>
                    <a:pt x="826321" y="225728"/>
                    <a:pt x="796388" y="225728"/>
                  </a:cubicBezTo>
                  <a:lnTo>
                    <a:pt x="112864" y="225728"/>
                  </a:lnTo>
                  <a:cubicBezTo>
                    <a:pt x="82931" y="225728"/>
                    <a:pt x="54223" y="213837"/>
                    <a:pt x="33057" y="192671"/>
                  </a:cubicBezTo>
                  <a:cubicBezTo>
                    <a:pt x="11891" y="171505"/>
                    <a:pt x="0" y="142797"/>
                    <a:pt x="0" y="112864"/>
                  </a:cubicBezTo>
                  <a:lnTo>
                    <a:pt x="0" y="112864"/>
                  </a:lnTo>
                  <a:cubicBezTo>
                    <a:pt x="0" y="82931"/>
                    <a:pt x="11891" y="54223"/>
                    <a:pt x="33057" y="33057"/>
                  </a:cubicBezTo>
                  <a:cubicBezTo>
                    <a:pt x="54223" y="11891"/>
                    <a:pt x="82931" y="0"/>
                    <a:pt x="11286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414964"/>
              </a:solidFill>
              <a:prstDash val="solid"/>
              <a:round/>
            </a:ln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9" name="TextBox 13">
              <a:extLst>
                <a:ext uri="{FF2B5EF4-FFF2-40B4-BE49-F238E27FC236}">
                  <a16:creationId xmlns:a16="http://schemas.microsoft.com/office/drawing/2014/main" id="{7AF31CD5-F01A-C842-0CE5-7A296BD9DCAC}"/>
                </a:ext>
              </a:extLst>
            </p:cNvPr>
            <p:cNvSpPr txBox="1"/>
            <p:nvPr/>
          </p:nvSpPr>
          <p:spPr>
            <a:xfrm>
              <a:off x="10956665" y="3619500"/>
              <a:ext cx="3978535" cy="7582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it-IT" sz="4500" b="1" noProof="0" dirty="0">
                  <a:solidFill>
                    <a:srgbClr val="0F3FD4"/>
                  </a:solidFill>
                  <a:ea typeface="เอฟซี ซับเจค คอนเดนซ์​ Bold"/>
                  <a:cs typeface="เอฟซี ซับเจค คอนเดนซ์​ Bold"/>
                  <a:sym typeface="เอฟซี ซับเจค คอนเดนซ์​ Bold"/>
                </a:rPr>
                <a:t>Pseudo-random</a:t>
              </a:r>
            </a:p>
          </p:txBody>
        </p:sp>
      </p:grpSp>
      <p:pic>
        <p:nvPicPr>
          <p:cNvPr id="11" name="Immagine 10">
            <a:extLst>
              <a:ext uri="{FF2B5EF4-FFF2-40B4-BE49-F238E27FC236}">
                <a16:creationId xmlns:a16="http://schemas.microsoft.com/office/drawing/2014/main" id="{6D9FBA1E-97FD-04B2-4C5E-C68A437D2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244" y="2400300"/>
            <a:ext cx="3010320" cy="7154273"/>
          </a:xfrm>
          <a:prstGeom prst="rect">
            <a:avLst/>
          </a:prstGeom>
        </p:spPr>
      </p:pic>
      <p:sp>
        <p:nvSpPr>
          <p:cNvPr id="14" name="Parentesi graffa aperta 13">
            <a:extLst>
              <a:ext uri="{FF2B5EF4-FFF2-40B4-BE49-F238E27FC236}">
                <a16:creationId xmlns:a16="http://schemas.microsoft.com/office/drawing/2014/main" id="{5A15B816-EFD4-B7CE-46B4-924379A0AC82}"/>
              </a:ext>
            </a:extLst>
          </p:cNvPr>
          <p:cNvSpPr/>
          <p:nvPr/>
        </p:nvSpPr>
        <p:spPr>
          <a:xfrm>
            <a:off x="6268294" y="5290374"/>
            <a:ext cx="914400" cy="1981200"/>
          </a:xfrm>
          <a:prstGeom prst="leftBrace">
            <a:avLst>
              <a:gd name="adj1" fmla="val 8333"/>
              <a:gd name="adj2" fmla="val 25201"/>
            </a:avLst>
          </a:prstGeom>
          <a:ln w="38100">
            <a:extLst>
              <a:ext uri="{C807C97D-BFC1-408E-A445-0C87EB9F89A2}">
                <ask:lineSketchStyleProps xmlns:ask="http://schemas.microsoft.com/office/drawing/2018/sketchyshapes" sd="4098675904">
                  <a:custGeom>
                    <a:avLst/>
                    <a:gdLst>
                      <a:gd name="connsiteX0" fmla="*/ 914400 w 914400"/>
                      <a:gd name="connsiteY0" fmla="*/ 1981200 h 1981200"/>
                      <a:gd name="connsiteX1" fmla="*/ 457200 w 914400"/>
                      <a:gd name="connsiteY1" fmla="*/ 1905003 h 1981200"/>
                      <a:gd name="connsiteX2" fmla="*/ 457200 w 914400"/>
                      <a:gd name="connsiteY2" fmla="*/ 1469136 h 1981200"/>
                      <a:gd name="connsiteX3" fmla="*/ 457200 w 914400"/>
                      <a:gd name="connsiteY3" fmla="*/ 1066797 h 1981200"/>
                      <a:gd name="connsiteX4" fmla="*/ 0 w 914400"/>
                      <a:gd name="connsiteY4" fmla="*/ 990600 h 1981200"/>
                      <a:gd name="connsiteX5" fmla="*/ 457200 w 914400"/>
                      <a:gd name="connsiteY5" fmla="*/ 914403 h 1981200"/>
                      <a:gd name="connsiteX6" fmla="*/ 457200 w 914400"/>
                      <a:gd name="connsiteY6" fmla="*/ 478536 h 1981200"/>
                      <a:gd name="connsiteX7" fmla="*/ 457200 w 914400"/>
                      <a:gd name="connsiteY7" fmla="*/ 76197 h 1981200"/>
                      <a:gd name="connsiteX8" fmla="*/ 914400 w 914400"/>
                      <a:gd name="connsiteY8" fmla="*/ 0 h 1981200"/>
                      <a:gd name="connsiteX9" fmla="*/ 914400 w 914400"/>
                      <a:gd name="connsiteY9" fmla="*/ 660400 h 1981200"/>
                      <a:gd name="connsiteX10" fmla="*/ 914400 w 914400"/>
                      <a:gd name="connsiteY10" fmla="*/ 1281176 h 1981200"/>
                      <a:gd name="connsiteX11" fmla="*/ 914400 w 914400"/>
                      <a:gd name="connsiteY11" fmla="*/ 1981200 h 1981200"/>
                      <a:gd name="connsiteX0" fmla="*/ 914400 w 914400"/>
                      <a:gd name="connsiteY0" fmla="*/ 1981200 h 1981200"/>
                      <a:gd name="connsiteX1" fmla="*/ 457200 w 914400"/>
                      <a:gd name="connsiteY1" fmla="*/ 1905003 h 1981200"/>
                      <a:gd name="connsiteX2" fmla="*/ 457200 w 914400"/>
                      <a:gd name="connsiteY2" fmla="*/ 1502664 h 1981200"/>
                      <a:gd name="connsiteX3" fmla="*/ 457200 w 914400"/>
                      <a:gd name="connsiteY3" fmla="*/ 1066797 h 1981200"/>
                      <a:gd name="connsiteX4" fmla="*/ 0 w 914400"/>
                      <a:gd name="connsiteY4" fmla="*/ 990600 h 1981200"/>
                      <a:gd name="connsiteX5" fmla="*/ 457200 w 914400"/>
                      <a:gd name="connsiteY5" fmla="*/ 914403 h 1981200"/>
                      <a:gd name="connsiteX6" fmla="*/ 457200 w 914400"/>
                      <a:gd name="connsiteY6" fmla="*/ 478536 h 1981200"/>
                      <a:gd name="connsiteX7" fmla="*/ 457200 w 914400"/>
                      <a:gd name="connsiteY7" fmla="*/ 76197 h 1981200"/>
                      <a:gd name="connsiteX8" fmla="*/ 914400 w 914400"/>
                      <a:gd name="connsiteY8" fmla="*/ 0 h 1981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914400" h="1981200" stroke="0" extrusionOk="0">
                        <a:moveTo>
                          <a:pt x="914400" y="1981200"/>
                        </a:moveTo>
                        <a:cubicBezTo>
                          <a:pt x="654306" y="1982088"/>
                          <a:pt x="449552" y="1945935"/>
                          <a:pt x="457200" y="1905003"/>
                        </a:cubicBezTo>
                        <a:cubicBezTo>
                          <a:pt x="465272" y="1747974"/>
                          <a:pt x="441583" y="1582013"/>
                          <a:pt x="457200" y="1469136"/>
                        </a:cubicBezTo>
                        <a:cubicBezTo>
                          <a:pt x="472817" y="1356259"/>
                          <a:pt x="447749" y="1196803"/>
                          <a:pt x="457200" y="1066797"/>
                        </a:cubicBezTo>
                        <a:cubicBezTo>
                          <a:pt x="440037" y="991097"/>
                          <a:pt x="287194" y="991401"/>
                          <a:pt x="0" y="990600"/>
                        </a:cubicBezTo>
                        <a:cubicBezTo>
                          <a:pt x="250049" y="983435"/>
                          <a:pt x="458427" y="961493"/>
                          <a:pt x="457200" y="914403"/>
                        </a:cubicBezTo>
                        <a:cubicBezTo>
                          <a:pt x="458576" y="818734"/>
                          <a:pt x="461289" y="576586"/>
                          <a:pt x="457200" y="478536"/>
                        </a:cubicBezTo>
                        <a:cubicBezTo>
                          <a:pt x="453111" y="380486"/>
                          <a:pt x="446103" y="220678"/>
                          <a:pt x="457200" y="76197"/>
                        </a:cubicBezTo>
                        <a:cubicBezTo>
                          <a:pt x="432443" y="13203"/>
                          <a:pt x="656339" y="4101"/>
                          <a:pt x="914400" y="0"/>
                        </a:cubicBezTo>
                        <a:cubicBezTo>
                          <a:pt x="921869" y="204696"/>
                          <a:pt x="887626" y="330279"/>
                          <a:pt x="914400" y="660400"/>
                        </a:cubicBezTo>
                        <a:cubicBezTo>
                          <a:pt x="941174" y="990521"/>
                          <a:pt x="889679" y="1062223"/>
                          <a:pt x="914400" y="1281176"/>
                        </a:cubicBezTo>
                        <a:cubicBezTo>
                          <a:pt x="939121" y="1500129"/>
                          <a:pt x="932945" y="1784808"/>
                          <a:pt x="914400" y="1981200"/>
                        </a:cubicBezTo>
                        <a:close/>
                      </a:path>
                      <a:path w="914400" h="1981200" fill="none" extrusionOk="0">
                        <a:moveTo>
                          <a:pt x="914400" y="1981200"/>
                        </a:moveTo>
                        <a:cubicBezTo>
                          <a:pt x="668477" y="1985442"/>
                          <a:pt x="447568" y="1946872"/>
                          <a:pt x="457200" y="1905003"/>
                        </a:cubicBezTo>
                        <a:cubicBezTo>
                          <a:pt x="466318" y="1812923"/>
                          <a:pt x="451085" y="1679067"/>
                          <a:pt x="457200" y="1502664"/>
                        </a:cubicBezTo>
                        <a:cubicBezTo>
                          <a:pt x="463315" y="1326261"/>
                          <a:pt x="442822" y="1234009"/>
                          <a:pt x="457200" y="1066797"/>
                        </a:cubicBezTo>
                        <a:cubicBezTo>
                          <a:pt x="437206" y="991443"/>
                          <a:pt x="255710" y="980144"/>
                          <a:pt x="0" y="990600"/>
                        </a:cubicBezTo>
                        <a:cubicBezTo>
                          <a:pt x="253701" y="989476"/>
                          <a:pt x="456772" y="958469"/>
                          <a:pt x="457200" y="914403"/>
                        </a:cubicBezTo>
                        <a:cubicBezTo>
                          <a:pt x="446850" y="771955"/>
                          <a:pt x="444475" y="605378"/>
                          <a:pt x="457200" y="478536"/>
                        </a:cubicBezTo>
                        <a:cubicBezTo>
                          <a:pt x="469925" y="351694"/>
                          <a:pt x="437216" y="249178"/>
                          <a:pt x="457200" y="76197"/>
                        </a:cubicBezTo>
                        <a:cubicBezTo>
                          <a:pt x="466931" y="46916"/>
                          <a:pt x="682934" y="-17256"/>
                          <a:pt x="914400" y="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Parentesi graffa aperta 14">
            <a:extLst>
              <a:ext uri="{FF2B5EF4-FFF2-40B4-BE49-F238E27FC236}">
                <a16:creationId xmlns:a16="http://schemas.microsoft.com/office/drawing/2014/main" id="{97EDF56D-2029-C29A-4094-9E4CA3609088}"/>
              </a:ext>
            </a:extLst>
          </p:cNvPr>
          <p:cNvSpPr/>
          <p:nvPr/>
        </p:nvSpPr>
        <p:spPr>
          <a:xfrm>
            <a:off x="6268294" y="7741177"/>
            <a:ext cx="914400" cy="1136123"/>
          </a:xfrm>
          <a:prstGeom prst="leftBrace">
            <a:avLst>
              <a:gd name="adj1" fmla="val 8333"/>
              <a:gd name="adj2" fmla="val 37214"/>
            </a:avLst>
          </a:prstGeom>
          <a:ln w="38100">
            <a:extLst>
              <a:ext uri="{C807C97D-BFC1-408E-A445-0C87EB9F89A2}">
                <ask:lineSketchStyleProps xmlns:ask="http://schemas.microsoft.com/office/drawing/2018/sketchyshapes" sd="4098675904">
                  <a:custGeom>
                    <a:avLst/>
                    <a:gdLst>
                      <a:gd name="connsiteX0" fmla="*/ 914400 w 914400"/>
                      <a:gd name="connsiteY0" fmla="*/ 1981200 h 1981200"/>
                      <a:gd name="connsiteX1" fmla="*/ 457200 w 914400"/>
                      <a:gd name="connsiteY1" fmla="*/ 1905003 h 1981200"/>
                      <a:gd name="connsiteX2" fmla="*/ 457200 w 914400"/>
                      <a:gd name="connsiteY2" fmla="*/ 1469136 h 1981200"/>
                      <a:gd name="connsiteX3" fmla="*/ 457200 w 914400"/>
                      <a:gd name="connsiteY3" fmla="*/ 1066797 h 1981200"/>
                      <a:gd name="connsiteX4" fmla="*/ 0 w 914400"/>
                      <a:gd name="connsiteY4" fmla="*/ 990600 h 1981200"/>
                      <a:gd name="connsiteX5" fmla="*/ 457200 w 914400"/>
                      <a:gd name="connsiteY5" fmla="*/ 914403 h 1981200"/>
                      <a:gd name="connsiteX6" fmla="*/ 457200 w 914400"/>
                      <a:gd name="connsiteY6" fmla="*/ 478536 h 1981200"/>
                      <a:gd name="connsiteX7" fmla="*/ 457200 w 914400"/>
                      <a:gd name="connsiteY7" fmla="*/ 76197 h 1981200"/>
                      <a:gd name="connsiteX8" fmla="*/ 914400 w 914400"/>
                      <a:gd name="connsiteY8" fmla="*/ 0 h 1981200"/>
                      <a:gd name="connsiteX9" fmla="*/ 914400 w 914400"/>
                      <a:gd name="connsiteY9" fmla="*/ 660400 h 1981200"/>
                      <a:gd name="connsiteX10" fmla="*/ 914400 w 914400"/>
                      <a:gd name="connsiteY10" fmla="*/ 1281176 h 1981200"/>
                      <a:gd name="connsiteX11" fmla="*/ 914400 w 914400"/>
                      <a:gd name="connsiteY11" fmla="*/ 1981200 h 1981200"/>
                      <a:gd name="connsiteX0" fmla="*/ 914400 w 914400"/>
                      <a:gd name="connsiteY0" fmla="*/ 1981200 h 1981200"/>
                      <a:gd name="connsiteX1" fmla="*/ 457200 w 914400"/>
                      <a:gd name="connsiteY1" fmla="*/ 1905003 h 1981200"/>
                      <a:gd name="connsiteX2" fmla="*/ 457200 w 914400"/>
                      <a:gd name="connsiteY2" fmla="*/ 1502664 h 1981200"/>
                      <a:gd name="connsiteX3" fmla="*/ 457200 w 914400"/>
                      <a:gd name="connsiteY3" fmla="*/ 1066797 h 1981200"/>
                      <a:gd name="connsiteX4" fmla="*/ 0 w 914400"/>
                      <a:gd name="connsiteY4" fmla="*/ 990600 h 1981200"/>
                      <a:gd name="connsiteX5" fmla="*/ 457200 w 914400"/>
                      <a:gd name="connsiteY5" fmla="*/ 914403 h 1981200"/>
                      <a:gd name="connsiteX6" fmla="*/ 457200 w 914400"/>
                      <a:gd name="connsiteY6" fmla="*/ 478536 h 1981200"/>
                      <a:gd name="connsiteX7" fmla="*/ 457200 w 914400"/>
                      <a:gd name="connsiteY7" fmla="*/ 76197 h 1981200"/>
                      <a:gd name="connsiteX8" fmla="*/ 914400 w 914400"/>
                      <a:gd name="connsiteY8" fmla="*/ 0 h 1981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914400" h="1981200" stroke="0" extrusionOk="0">
                        <a:moveTo>
                          <a:pt x="914400" y="1981200"/>
                        </a:moveTo>
                        <a:cubicBezTo>
                          <a:pt x="654306" y="1982088"/>
                          <a:pt x="449552" y="1945935"/>
                          <a:pt x="457200" y="1905003"/>
                        </a:cubicBezTo>
                        <a:cubicBezTo>
                          <a:pt x="465272" y="1747974"/>
                          <a:pt x="441583" y="1582013"/>
                          <a:pt x="457200" y="1469136"/>
                        </a:cubicBezTo>
                        <a:cubicBezTo>
                          <a:pt x="472817" y="1356259"/>
                          <a:pt x="447749" y="1196803"/>
                          <a:pt x="457200" y="1066797"/>
                        </a:cubicBezTo>
                        <a:cubicBezTo>
                          <a:pt x="440037" y="991097"/>
                          <a:pt x="287194" y="991401"/>
                          <a:pt x="0" y="990600"/>
                        </a:cubicBezTo>
                        <a:cubicBezTo>
                          <a:pt x="250049" y="983435"/>
                          <a:pt x="458427" y="961493"/>
                          <a:pt x="457200" y="914403"/>
                        </a:cubicBezTo>
                        <a:cubicBezTo>
                          <a:pt x="458576" y="818734"/>
                          <a:pt x="461289" y="576586"/>
                          <a:pt x="457200" y="478536"/>
                        </a:cubicBezTo>
                        <a:cubicBezTo>
                          <a:pt x="453111" y="380486"/>
                          <a:pt x="446103" y="220678"/>
                          <a:pt x="457200" y="76197"/>
                        </a:cubicBezTo>
                        <a:cubicBezTo>
                          <a:pt x="432443" y="13203"/>
                          <a:pt x="656339" y="4101"/>
                          <a:pt x="914400" y="0"/>
                        </a:cubicBezTo>
                        <a:cubicBezTo>
                          <a:pt x="921869" y="204696"/>
                          <a:pt x="887626" y="330279"/>
                          <a:pt x="914400" y="660400"/>
                        </a:cubicBezTo>
                        <a:cubicBezTo>
                          <a:pt x="941174" y="990521"/>
                          <a:pt x="889679" y="1062223"/>
                          <a:pt x="914400" y="1281176"/>
                        </a:cubicBezTo>
                        <a:cubicBezTo>
                          <a:pt x="939121" y="1500129"/>
                          <a:pt x="932945" y="1784808"/>
                          <a:pt x="914400" y="1981200"/>
                        </a:cubicBezTo>
                        <a:close/>
                      </a:path>
                      <a:path w="914400" h="1981200" fill="none" extrusionOk="0">
                        <a:moveTo>
                          <a:pt x="914400" y="1981200"/>
                        </a:moveTo>
                        <a:cubicBezTo>
                          <a:pt x="668477" y="1985442"/>
                          <a:pt x="447568" y="1946872"/>
                          <a:pt x="457200" y="1905003"/>
                        </a:cubicBezTo>
                        <a:cubicBezTo>
                          <a:pt x="466318" y="1812923"/>
                          <a:pt x="451085" y="1679067"/>
                          <a:pt x="457200" y="1502664"/>
                        </a:cubicBezTo>
                        <a:cubicBezTo>
                          <a:pt x="463315" y="1326261"/>
                          <a:pt x="442822" y="1234009"/>
                          <a:pt x="457200" y="1066797"/>
                        </a:cubicBezTo>
                        <a:cubicBezTo>
                          <a:pt x="437206" y="991443"/>
                          <a:pt x="255710" y="980144"/>
                          <a:pt x="0" y="990600"/>
                        </a:cubicBezTo>
                        <a:cubicBezTo>
                          <a:pt x="253701" y="989476"/>
                          <a:pt x="456772" y="958469"/>
                          <a:pt x="457200" y="914403"/>
                        </a:cubicBezTo>
                        <a:cubicBezTo>
                          <a:pt x="446850" y="771955"/>
                          <a:pt x="444475" y="605378"/>
                          <a:pt x="457200" y="478536"/>
                        </a:cubicBezTo>
                        <a:cubicBezTo>
                          <a:pt x="469925" y="351694"/>
                          <a:pt x="437216" y="249178"/>
                          <a:pt x="457200" y="76197"/>
                        </a:cubicBezTo>
                        <a:cubicBezTo>
                          <a:pt x="466931" y="46916"/>
                          <a:pt x="682934" y="-17256"/>
                          <a:pt x="914400" y="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Parentesi graffa aperta 16">
            <a:extLst>
              <a:ext uri="{FF2B5EF4-FFF2-40B4-BE49-F238E27FC236}">
                <a16:creationId xmlns:a16="http://schemas.microsoft.com/office/drawing/2014/main" id="{875EE565-55AD-292B-137C-33C078A7C313}"/>
              </a:ext>
            </a:extLst>
          </p:cNvPr>
          <p:cNvSpPr/>
          <p:nvPr/>
        </p:nvSpPr>
        <p:spPr>
          <a:xfrm rot="10800000">
            <a:off x="10549714" y="3022828"/>
            <a:ext cx="914400" cy="1981200"/>
          </a:xfrm>
          <a:prstGeom prst="leftBrace">
            <a:avLst>
              <a:gd name="adj1" fmla="val 8333"/>
              <a:gd name="adj2" fmla="val 23823"/>
            </a:avLst>
          </a:prstGeom>
          <a:ln w="38100">
            <a:extLst>
              <a:ext uri="{C807C97D-BFC1-408E-A445-0C87EB9F89A2}">
                <ask:lineSketchStyleProps xmlns:ask="http://schemas.microsoft.com/office/drawing/2018/sketchyshapes" sd="4098675904">
                  <a:custGeom>
                    <a:avLst/>
                    <a:gdLst>
                      <a:gd name="connsiteX0" fmla="*/ 914400 w 914400"/>
                      <a:gd name="connsiteY0" fmla="*/ 1981200 h 1981200"/>
                      <a:gd name="connsiteX1" fmla="*/ 457200 w 914400"/>
                      <a:gd name="connsiteY1" fmla="*/ 1905003 h 1981200"/>
                      <a:gd name="connsiteX2" fmla="*/ 457200 w 914400"/>
                      <a:gd name="connsiteY2" fmla="*/ 1469136 h 1981200"/>
                      <a:gd name="connsiteX3" fmla="*/ 457200 w 914400"/>
                      <a:gd name="connsiteY3" fmla="*/ 1066797 h 1981200"/>
                      <a:gd name="connsiteX4" fmla="*/ 0 w 914400"/>
                      <a:gd name="connsiteY4" fmla="*/ 990600 h 1981200"/>
                      <a:gd name="connsiteX5" fmla="*/ 457200 w 914400"/>
                      <a:gd name="connsiteY5" fmla="*/ 914403 h 1981200"/>
                      <a:gd name="connsiteX6" fmla="*/ 457200 w 914400"/>
                      <a:gd name="connsiteY6" fmla="*/ 478536 h 1981200"/>
                      <a:gd name="connsiteX7" fmla="*/ 457200 w 914400"/>
                      <a:gd name="connsiteY7" fmla="*/ 76197 h 1981200"/>
                      <a:gd name="connsiteX8" fmla="*/ 914400 w 914400"/>
                      <a:gd name="connsiteY8" fmla="*/ 0 h 1981200"/>
                      <a:gd name="connsiteX9" fmla="*/ 914400 w 914400"/>
                      <a:gd name="connsiteY9" fmla="*/ 660400 h 1981200"/>
                      <a:gd name="connsiteX10" fmla="*/ 914400 w 914400"/>
                      <a:gd name="connsiteY10" fmla="*/ 1281176 h 1981200"/>
                      <a:gd name="connsiteX11" fmla="*/ 914400 w 914400"/>
                      <a:gd name="connsiteY11" fmla="*/ 1981200 h 1981200"/>
                      <a:gd name="connsiteX0" fmla="*/ 914400 w 914400"/>
                      <a:gd name="connsiteY0" fmla="*/ 1981200 h 1981200"/>
                      <a:gd name="connsiteX1" fmla="*/ 457200 w 914400"/>
                      <a:gd name="connsiteY1" fmla="*/ 1905003 h 1981200"/>
                      <a:gd name="connsiteX2" fmla="*/ 457200 w 914400"/>
                      <a:gd name="connsiteY2" fmla="*/ 1502664 h 1981200"/>
                      <a:gd name="connsiteX3" fmla="*/ 457200 w 914400"/>
                      <a:gd name="connsiteY3" fmla="*/ 1066797 h 1981200"/>
                      <a:gd name="connsiteX4" fmla="*/ 0 w 914400"/>
                      <a:gd name="connsiteY4" fmla="*/ 990600 h 1981200"/>
                      <a:gd name="connsiteX5" fmla="*/ 457200 w 914400"/>
                      <a:gd name="connsiteY5" fmla="*/ 914403 h 1981200"/>
                      <a:gd name="connsiteX6" fmla="*/ 457200 w 914400"/>
                      <a:gd name="connsiteY6" fmla="*/ 478536 h 1981200"/>
                      <a:gd name="connsiteX7" fmla="*/ 457200 w 914400"/>
                      <a:gd name="connsiteY7" fmla="*/ 76197 h 1981200"/>
                      <a:gd name="connsiteX8" fmla="*/ 914400 w 914400"/>
                      <a:gd name="connsiteY8" fmla="*/ 0 h 1981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914400" h="1981200" stroke="0" extrusionOk="0">
                        <a:moveTo>
                          <a:pt x="914400" y="1981200"/>
                        </a:moveTo>
                        <a:cubicBezTo>
                          <a:pt x="654306" y="1982088"/>
                          <a:pt x="449552" y="1945935"/>
                          <a:pt x="457200" y="1905003"/>
                        </a:cubicBezTo>
                        <a:cubicBezTo>
                          <a:pt x="465272" y="1747974"/>
                          <a:pt x="441583" y="1582013"/>
                          <a:pt x="457200" y="1469136"/>
                        </a:cubicBezTo>
                        <a:cubicBezTo>
                          <a:pt x="472817" y="1356259"/>
                          <a:pt x="447749" y="1196803"/>
                          <a:pt x="457200" y="1066797"/>
                        </a:cubicBezTo>
                        <a:cubicBezTo>
                          <a:pt x="440037" y="991097"/>
                          <a:pt x="287194" y="991401"/>
                          <a:pt x="0" y="990600"/>
                        </a:cubicBezTo>
                        <a:cubicBezTo>
                          <a:pt x="250049" y="983435"/>
                          <a:pt x="458427" y="961493"/>
                          <a:pt x="457200" y="914403"/>
                        </a:cubicBezTo>
                        <a:cubicBezTo>
                          <a:pt x="458576" y="818734"/>
                          <a:pt x="461289" y="576586"/>
                          <a:pt x="457200" y="478536"/>
                        </a:cubicBezTo>
                        <a:cubicBezTo>
                          <a:pt x="453111" y="380486"/>
                          <a:pt x="446103" y="220678"/>
                          <a:pt x="457200" y="76197"/>
                        </a:cubicBezTo>
                        <a:cubicBezTo>
                          <a:pt x="432443" y="13203"/>
                          <a:pt x="656339" y="4101"/>
                          <a:pt x="914400" y="0"/>
                        </a:cubicBezTo>
                        <a:cubicBezTo>
                          <a:pt x="921869" y="204696"/>
                          <a:pt x="887626" y="330279"/>
                          <a:pt x="914400" y="660400"/>
                        </a:cubicBezTo>
                        <a:cubicBezTo>
                          <a:pt x="941174" y="990521"/>
                          <a:pt x="889679" y="1062223"/>
                          <a:pt x="914400" y="1281176"/>
                        </a:cubicBezTo>
                        <a:cubicBezTo>
                          <a:pt x="939121" y="1500129"/>
                          <a:pt x="932945" y="1784808"/>
                          <a:pt x="914400" y="1981200"/>
                        </a:cubicBezTo>
                        <a:close/>
                      </a:path>
                      <a:path w="914400" h="1981200" fill="none" extrusionOk="0">
                        <a:moveTo>
                          <a:pt x="914400" y="1981200"/>
                        </a:moveTo>
                        <a:cubicBezTo>
                          <a:pt x="668477" y="1985442"/>
                          <a:pt x="447568" y="1946872"/>
                          <a:pt x="457200" y="1905003"/>
                        </a:cubicBezTo>
                        <a:cubicBezTo>
                          <a:pt x="466318" y="1812923"/>
                          <a:pt x="451085" y="1679067"/>
                          <a:pt x="457200" y="1502664"/>
                        </a:cubicBezTo>
                        <a:cubicBezTo>
                          <a:pt x="463315" y="1326261"/>
                          <a:pt x="442822" y="1234009"/>
                          <a:pt x="457200" y="1066797"/>
                        </a:cubicBezTo>
                        <a:cubicBezTo>
                          <a:pt x="437206" y="991443"/>
                          <a:pt x="255710" y="980144"/>
                          <a:pt x="0" y="990600"/>
                        </a:cubicBezTo>
                        <a:cubicBezTo>
                          <a:pt x="253701" y="989476"/>
                          <a:pt x="456772" y="958469"/>
                          <a:pt x="457200" y="914403"/>
                        </a:cubicBezTo>
                        <a:cubicBezTo>
                          <a:pt x="446850" y="771955"/>
                          <a:pt x="444475" y="605378"/>
                          <a:pt x="457200" y="478536"/>
                        </a:cubicBezTo>
                        <a:cubicBezTo>
                          <a:pt x="469925" y="351694"/>
                          <a:pt x="437216" y="249178"/>
                          <a:pt x="457200" y="76197"/>
                        </a:cubicBezTo>
                        <a:cubicBezTo>
                          <a:pt x="466931" y="46916"/>
                          <a:pt x="682934" y="-17256"/>
                          <a:pt x="914400" y="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Parentesi graffa aperta 17">
            <a:extLst>
              <a:ext uri="{FF2B5EF4-FFF2-40B4-BE49-F238E27FC236}">
                <a16:creationId xmlns:a16="http://schemas.microsoft.com/office/drawing/2014/main" id="{E6E1D960-2D9A-0C91-46F2-9E62CC39BB5B}"/>
              </a:ext>
            </a:extLst>
          </p:cNvPr>
          <p:cNvSpPr/>
          <p:nvPr/>
        </p:nvSpPr>
        <p:spPr>
          <a:xfrm rot="10800000">
            <a:off x="10549714" y="9081681"/>
            <a:ext cx="914400" cy="472892"/>
          </a:xfrm>
          <a:prstGeom prst="leftBrace">
            <a:avLst>
              <a:gd name="adj1" fmla="val 8333"/>
              <a:gd name="adj2" fmla="val 58455"/>
            </a:avLst>
          </a:prstGeom>
          <a:ln w="38100">
            <a:extLst>
              <a:ext uri="{C807C97D-BFC1-408E-A445-0C87EB9F89A2}">
                <ask:lineSketchStyleProps xmlns:ask="http://schemas.microsoft.com/office/drawing/2018/sketchyshapes" sd="4098675904">
                  <a:custGeom>
                    <a:avLst/>
                    <a:gdLst>
                      <a:gd name="connsiteX0" fmla="*/ 914400 w 914400"/>
                      <a:gd name="connsiteY0" fmla="*/ 1981200 h 1981200"/>
                      <a:gd name="connsiteX1" fmla="*/ 457200 w 914400"/>
                      <a:gd name="connsiteY1" fmla="*/ 1905003 h 1981200"/>
                      <a:gd name="connsiteX2" fmla="*/ 457200 w 914400"/>
                      <a:gd name="connsiteY2" fmla="*/ 1469136 h 1981200"/>
                      <a:gd name="connsiteX3" fmla="*/ 457200 w 914400"/>
                      <a:gd name="connsiteY3" fmla="*/ 1066797 h 1981200"/>
                      <a:gd name="connsiteX4" fmla="*/ 0 w 914400"/>
                      <a:gd name="connsiteY4" fmla="*/ 990600 h 1981200"/>
                      <a:gd name="connsiteX5" fmla="*/ 457200 w 914400"/>
                      <a:gd name="connsiteY5" fmla="*/ 914403 h 1981200"/>
                      <a:gd name="connsiteX6" fmla="*/ 457200 w 914400"/>
                      <a:gd name="connsiteY6" fmla="*/ 478536 h 1981200"/>
                      <a:gd name="connsiteX7" fmla="*/ 457200 w 914400"/>
                      <a:gd name="connsiteY7" fmla="*/ 76197 h 1981200"/>
                      <a:gd name="connsiteX8" fmla="*/ 914400 w 914400"/>
                      <a:gd name="connsiteY8" fmla="*/ 0 h 1981200"/>
                      <a:gd name="connsiteX9" fmla="*/ 914400 w 914400"/>
                      <a:gd name="connsiteY9" fmla="*/ 660400 h 1981200"/>
                      <a:gd name="connsiteX10" fmla="*/ 914400 w 914400"/>
                      <a:gd name="connsiteY10" fmla="*/ 1281176 h 1981200"/>
                      <a:gd name="connsiteX11" fmla="*/ 914400 w 914400"/>
                      <a:gd name="connsiteY11" fmla="*/ 1981200 h 1981200"/>
                      <a:gd name="connsiteX0" fmla="*/ 914400 w 914400"/>
                      <a:gd name="connsiteY0" fmla="*/ 1981200 h 1981200"/>
                      <a:gd name="connsiteX1" fmla="*/ 457200 w 914400"/>
                      <a:gd name="connsiteY1" fmla="*/ 1905003 h 1981200"/>
                      <a:gd name="connsiteX2" fmla="*/ 457200 w 914400"/>
                      <a:gd name="connsiteY2" fmla="*/ 1502664 h 1981200"/>
                      <a:gd name="connsiteX3" fmla="*/ 457200 w 914400"/>
                      <a:gd name="connsiteY3" fmla="*/ 1066797 h 1981200"/>
                      <a:gd name="connsiteX4" fmla="*/ 0 w 914400"/>
                      <a:gd name="connsiteY4" fmla="*/ 990600 h 1981200"/>
                      <a:gd name="connsiteX5" fmla="*/ 457200 w 914400"/>
                      <a:gd name="connsiteY5" fmla="*/ 914403 h 1981200"/>
                      <a:gd name="connsiteX6" fmla="*/ 457200 w 914400"/>
                      <a:gd name="connsiteY6" fmla="*/ 478536 h 1981200"/>
                      <a:gd name="connsiteX7" fmla="*/ 457200 w 914400"/>
                      <a:gd name="connsiteY7" fmla="*/ 76197 h 1981200"/>
                      <a:gd name="connsiteX8" fmla="*/ 914400 w 914400"/>
                      <a:gd name="connsiteY8" fmla="*/ 0 h 1981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914400" h="1981200" stroke="0" extrusionOk="0">
                        <a:moveTo>
                          <a:pt x="914400" y="1981200"/>
                        </a:moveTo>
                        <a:cubicBezTo>
                          <a:pt x="654306" y="1982088"/>
                          <a:pt x="449552" y="1945935"/>
                          <a:pt x="457200" y="1905003"/>
                        </a:cubicBezTo>
                        <a:cubicBezTo>
                          <a:pt x="465272" y="1747974"/>
                          <a:pt x="441583" y="1582013"/>
                          <a:pt x="457200" y="1469136"/>
                        </a:cubicBezTo>
                        <a:cubicBezTo>
                          <a:pt x="472817" y="1356259"/>
                          <a:pt x="447749" y="1196803"/>
                          <a:pt x="457200" y="1066797"/>
                        </a:cubicBezTo>
                        <a:cubicBezTo>
                          <a:pt x="440037" y="991097"/>
                          <a:pt x="287194" y="991401"/>
                          <a:pt x="0" y="990600"/>
                        </a:cubicBezTo>
                        <a:cubicBezTo>
                          <a:pt x="250049" y="983435"/>
                          <a:pt x="458427" y="961493"/>
                          <a:pt x="457200" y="914403"/>
                        </a:cubicBezTo>
                        <a:cubicBezTo>
                          <a:pt x="458576" y="818734"/>
                          <a:pt x="461289" y="576586"/>
                          <a:pt x="457200" y="478536"/>
                        </a:cubicBezTo>
                        <a:cubicBezTo>
                          <a:pt x="453111" y="380486"/>
                          <a:pt x="446103" y="220678"/>
                          <a:pt x="457200" y="76197"/>
                        </a:cubicBezTo>
                        <a:cubicBezTo>
                          <a:pt x="432443" y="13203"/>
                          <a:pt x="656339" y="4101"/>
                          <a:pt x="914400" y="0"/>
                        </a:cubicBezTo>
                        <a:cubicBezTo>
                          <a:pt x="921869" y="204696"/>
                          <a:pt x="887626" y="330279"/>
                          <a:pt x="914400" y="660400"/>
                        </a:cubicBezTo>
                        <a:cubicBezTo>
                          <a:pt x="941174" y="990521"/>
                          <a:pt x="889679" y="1062223"/>
                          <a:pt x="914400" y="1281176"/>
                        </a:cubicBezTo>
                        <a:cubicBezTo>
                          <a:pt x="939121" y="1500129"/>
                          <a:pt x="932945" y="1784808"/>
                          <a:pt x="914400" y="1981200"/>
                        </a:cubicBezTo>
                        <a:close/>
                      </a:path>
                      <a:path w="914400" h="1981200" fill="none" extrusionOk="0">
                        <a:moveTo>
                          <a:pt x="914400" y="1981200"/>
                        </a:moveTo>
                        <a:cubicBezTo>
                          <a:pt x="668477" y="1985442"/>
                          <a:pt x="447568" y="1946872"/>
                          <a:pt x="457200" y="1905003"/>
                        </a:cubicBezTo>
                        <a:cubicBezTo>
                          <a:pt x="466318" y="1812923"/>
                          <a:pt x="451085" y="1679067"/>
                          <a:pt x="457200" y="1502664"/>
                        </a:cubicBezTo>
                        <a:cubicBezTo>
                          <a:pt x="463315" y="1326261"/>
                          <a:pt x="442822" y="1234009"/>
                          <a:pt x="457200" y="1066797"/>
                        </a:cubicBezTo>
                        <a:cubicBezTo>
                          <a:pt x="437206" y="991443"/>
                          <a:pt x="255710" y="980144"/>
                          <a:pt x="0" y="990600"/>
                        </a:cubicBezTo>
                        <a:cubicBezTo>
                          <a:pt x="253701" y="989476"/>
                          <a:pt x="456772" y="958469"/>
                          <a:pt x="457200" y="914403"/>
                        </a:cubicBezTo>
                        <a:cubicBezTo>
                          <a:pt x="446850" y="771955"/>
                          <a:pt x="444475" y="605378"/>
                          <a:pt x="457200" y="478536"/>
                        </a:cubicBezTo>
                        <a:cubicBezTo>
                          <a:pt x="469925" y="351694"/>
                          <a:pt x="437216" y="249178"/>
                          <a:pt x="457200" y="76197"/>
                        </a:cubicBezTo>
                        <a:cubicBezTo>
                          <a:pt x="466931" y="46916"/>
                          <a:pt x="682934" y="-17256"/>
                          <a:pt x="914400" y="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7AEAD7AB-D766-79DB-D112-97ACA7E4D466}"/>
              </a:ext>
            </a:extLst>
          </p:cNvPr>
          <p:cNvCxnSpPr>
            <a:cxnSpLocks/>
          </p:cNvCxnSpPr>
          <p:nvPr/>
        </p:nvCxnSpPr>
        <p:spPr>
          <a:xfrm flipH="1" flipV="1">
            <a:off x="4953000" y="7261085"/>
            <a:ext cx="1245151" cy="9028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6647A64C-0B74-5E63-D653-30336913F2C4}"/>
              </a:ext>
            </a:extLst>
          </p:cNvPr>
          <p:cNvCxnSpPr>
            <a:cxnSpLocks/>
          </p:cNvCxnSpPr>
          <p:nvPr/>
        </p:nvCxnSpPr>
        <p:spPr>
          <a:xfrm flipH="1">
            <a:off x="4953000" y="5816877"/>
            <a:ext cx="1245151" cy="9746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8543EA41-24F8-F775-7ABB-39AFE0D656FF}"/>
              </a:ext>
            </a:extLst>
          </p:cNvPr>
          <p:cNvCxnSpPr>
            <a:cxnSpLocks/>
          </p:cNvCxnSpPr>
          <p:nvPr/>
        </p:nvCxnSpPr>
        <p:spPr>
          <a:xfrm>
            <a:off x="11566264" y="4552761"/>
            <a:ext cx="1082936" cy="11814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DA270861-26EC-0E65-CD90-9883752B5ADD}"/>
              </a:ext>
            </a:extLst>
          </p:cNvPr>
          <p:cNvCxnSpPr>
            <a:cxnSpLocks/>
          </p:cNvCxnSpPr>
          <p:nvPr/>
        </p:nvCxnSpPr>
        <p:spPr>
          <a:xfrm flipV="1">
            <a:off x="11566264" y="6591300"/>
            <a:ext cx="1159136" cy="27268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Immagine 35">
            <a:extLst>
              <a:ext uri="{FF2B5EF4-FFF2-40B4-BE49-F238E27FC236}">
                <a16:creationId xmlns:a16="http://schemas.microsoft.com/office/drawing/2014/main" id="{E233A2CA-0A71-481D-B05E-7462A3278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753" y="5217535"/>
            <a:ext cx="2545693" cy="4038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ella 9">
                <a:extLst>
                  <a:ext uri="{FF2B5EF4-FFF2-40B4-BE49-F238E27FC236}">
                    <a16:creationId xmlns:a16="http://schemas.microsoft.com/office/drawing/2014/main" id="{A8EF4784-1C0A-6D0F-AA23-CA4D99A90B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9622904"/>
                  </p:ext>
                </p:extLst>
              </p:nvPr>
            </p:nvGraphicFramePr>
            <p:xfrm>
              <a:off x="1020523" y="2769672"/>
              <a:ext cx="566744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6860">
                      <a:extLst>
                        <a:ext uri="{9D8B030D-6E8A-4147-A177-3AD203B41FA5}">
                          <a16:colId xmlns:a16="http://schemas.microsoft.com/office/drawing/2014/main" val="2389437951"/>
                        </a:ext>
                      </a:extLst>
                    </a:gridCol>
                    <a:gridCol w="1416860">
                      <a:extLst>
                        <a:ext uri="{9D8B030D-6E8A-4147-A177-3AD203B41FA5}">
                          <a16:colId xmlns:a16="http://schemas.microsoft.com/office/drawing/2014/main" val="3725655099"/>
                        </a:ext>
                      </a:extLst>
                    </a:gridCol>
                    <a:gridCol w="1416860">
                      <a:extLst>
                        <a:ext uri="{9D8B030D-6E8A-4147-A177-3AD203B41FA5}">
                          <a16:colId xmlns:a16="http://schemas.microsoft.com/office/drawing/2014/main" val="107856899"/>
                        </a:ext>
                      </a:extLst>
                    </a:gridCol>
                    <a:gridCol w="1416860">
                      <a:extLst>
                        <a:ext uri="{9D8B030D-6E8A-4147-A177-3AD203B41FA5}">
                          <a16:colId xmlns:a16="http://schemas.microsoft.com/office/drawing/2014/main" val="31686019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Size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Facility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Client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Istanze totali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90723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Big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250</m:t>
                                </m:r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22500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86030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Medio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2500</m:t>
                                </m:r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95204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Small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1250</m:t>
                                </m:r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44622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ella 9">
                <a:extLst>
                  <a:ext uri="{FF2B5EF4-FFF2-40B4-BE49-F238E27FC236}">
                    <a16:creationId xmlns:a16="http://schemas.microsoft.com/office/drawing/2014/main" id="{A8EF4784-1C0A-6D0F-AA23-CA4D99A90B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9622904"/>
                  </p:ext>
                </p:extLst>
              </p:nvPr>
            </p:nvGraphicFramePr>
            <p:xfrm>
              <a:off x="1020523" y="2769672"/>
              <a:ext cx="566744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6860">
                      <a:extLst>
                        <a:ext uri="{9D8B030D-6E8A-4147-A177-3AD203B41FA5}">
                          <a16:colId xmlns:a16="http://schemas.microsoft.com/office/drawing/2014/main" val="2389437951"/>
                        </a:ext>
                      </a:extLst>
                    </a:gridCol>
                    <a:gridCol w="1416860">
                      <a:extLst>
                        <a:ext uri="{9D8B030D-6E8A-4147-A177-3AD203B41FA5}">
                          <a16:colId xmlns:a16="http://schemas.microsoft.com/office/drawing/2014/main" val="3725655099"/>
                        </a:ext>
                      </a:extLst>
                    </a:gridCol>
                    <a:gridCol w="1416860">
                      <a:extLst>
                        <a:ext uri="{9D8B030D-6E8A-4147-A177-3AD203B41FA5}">
                          <a16:colId xmlns:a16="http://schemas.microsoft.com/office/drawing/2014/main" val="107856899"/>
                        </a:ext>
                      </a:extLst>
                    </a:gridCol>
                    <a:gridCol w="1416860">
                      <a:extLst>
                        <a:ext uri="{9D8B030D-6E8A-4147-A177-3AD203B41FA5}">
                          <a16:colId xmlns:a16="http://schemas.microsoft.com/office/drawing/2014/main" val="31686019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Size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Facility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Client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Istanze totali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90723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Big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100429" t="-108197" r="-201288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201293" t="-108197" r="-102155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300000" t="-108197" r="-1717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86030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Medio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100429" t="-208197" r="-201288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201293" t="-208197" r="-102155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300000" t="-208197" r="-1717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5204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Small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100429" t="-308197" r="-20128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201293" t="-308197" r="-102155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300000" t="-308197" r="-1717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44622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5645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81DB0-98C8-568A-9C50-981790330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183B8D55-549C-5351-2AFF-B1ACF16560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4EC64FE-5307-8CF2-4864-01880E65D6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509260F-40F5-8517-2E2C-955B61FFEFA3}"/>
              </a:ext>
            </a:extLst>
          </p:cNvPr>
          <p:cNvSpPr txBox="1"/>
          <p:nvPr/>
        </p:nvSpPr>
        <p:spPr>
          <a:xfrm>
            <a:off x="2412421" y="1104900"/>
            <a:ext cx="13463158" cy="1109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72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CRITERIO DI ANALISI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9F817C8B-A82C-2F5B-3833-FFBC4425C4C5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14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A30E3B74-F016-2AAB-9394-C887B4FC11E5}"/>
              </a:ext>
            </a:extLst>
          </p:cNvPr>
          <p:cNvSpPr/>
          <p:nvPr/>
        </p:nvSpPr>
        <p:spPr>
          <a:xfrm>
            <a:off x="4462448" y="2866585"/>
            <a:ext cx="4114800" cy="28493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F3FD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3200" b="1" dirty="0">
                <a:solidFill>
                  <a:srgbClr val="0F3FD4"/>
                </a:solidFill>
              </a:rPr>
              <a:t>Costo della funzione obiettivo finale</a:t>
            </a:r>
          </a:p>
          <a:p>
            <a:pPr algn="ctr"/>
            <a:endParaRPr lang="it-IT" sz="3200" b="1" dirty="0">
              <a:solidFill>
                <a:srgbClr val="0F3FD4"/>
              </a:solidFill>
            </a:endParaRP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1D0536D-0467-73E4-AD9B-D49DEA4B390F}"/>
              </a:ext>
            </a:extLst>
          </p:cNvPr>
          <p:cNvSpPr/>
          <p:nvPr/>
        </p:nvSpPr>
        <p:spPr>
          <a:xfrm>
            <a:off x="9677400" y="2867059"/>
            <a:ext cx="4114799" cy="28493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F3FD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3200" b="1" dirty="0">
                <a:solidFill>
                  <a:srgbClr val="0F3FD4"/>
                </a:solidFill>
                <a:sym typeface="เอฟซี ซับเจค คอนเดนซ์​"/>
              </a:rPr>
              <a:t>GAP rispetto al costo ottimo</a:t>
            </a:r>
            <a:endParaRPr lang="it-IT" sz="3200" b="1" dirty="0">
              <a:solidFill>
                <a:srgbClr val="0F3FD4"/>
              </a:solidFill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05F71896-226C-A780-F9E7-61019D21B2C2}"/>
              </a:ext>
            </a:extLst>
          </p:cNvPr>
          <p:cNvSpPr/>
          <p:nvPr/>
        </p:nvSpPr>
        <p:spPr>
          <a:xfrm>
            <a:off x="4456760" y="6216605"/>
            <a:ext cx="4114799" cy="28493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F3FD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3200" b="1" dirty="0">
                <a:solidFill>
                  <a:srgbClr val="0F3FD4"/>
                </a:solidFill>
                <a:sym typeface="เอฟซี ซับเจค คอนเดนซ์​"/>
              </a:rPr>
              <a:t>Tempo di computazione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DBBD2B3C-AF23-D396-50F4-9269096BD987}"/>
              </a:ext>
            </a:extLst>
          </p:cNvPr>
          <p:cNvSpPr/>
          <p:nvPr/>
        </p:nvSpPr>
        <p:spPr>
          <a:xfrm>
            <a:off x="9677400" y="6216605"/>
            <a:ext cx="4114798" cy="28493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F3FD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3200" b="1" dirty="0">
                <a:solidFill>
                  <a:srgbClr val="0F3FD4"/>
                </a:solidFill>
                <a:sym typeface="เอฟซี ซับเจค คอนเดนซ์​"/>
              </a:rPr>
              <a:t>Numero di facility aperti / Numero totale di facility</a:t>
            </a:r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8233ADE7-E3E9-B120-B5BE-09ADA095A890}"/>
              </a:ext>
            </a:extLst>
          </p:cNvPr>
          <p:cNvCxnSpPr>
            <a:cxnSpLocks/>
          </p:cNvCxnSpPr>
          <p:nvPr/>
        </p:nvCxnSpPr>
        <p:spPr>
          <a:xfrm>
            <a:off x="2209800" y="5981700"/>
            <a:ext cx="14020800" cy="0"/>
          </a:xfrm>
          <a:prstGeom prst="line">
            <a:avLst/>
          </a:prstGeom>
          <a:ln>
            <a:solidFill>
              <a:srgbClr val="0F3FD4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EE5F94D9-D9E9-A592-38F9-B89B7513BFA3}"/>
              </a:ext>
            </a:extLst>
          </p:cNvPr>
          <p:cNvCxnSpPr>
            <a:cxnSpLocks/>
          </p:cNvCxnSpPr>
          <p:nvPr/>
        </p:nvCxnSpPr>
        <p:spPr>
          <a:xfrm>
            <a:off x="9144000" y="2476500"/>
            <a:ext cx="0" cy="6934200"/>
          </a:xfrm>
          <a:prstGeom prst="line">
            <a:avLst/>
          </a:prstGeom>
          <a:ln>
            <a:solidFill>
              <a:srgbClr val="0F3FD4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190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F2F88-E0F7-8A8E-D6AA-5C4AEF013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E7D94C62-824D-C6DC-4E2D-FDD21565FE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1E1165C-62BF-DE3D-FC04-685ABB398C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8A432006-6EB3-12B3-1E4D-CFB1C7B8A945}"/>
              </a:ext>
            </a:extLst>
          </p:cNvPr>
          <p:cNvSpPr txBox="1"/>
          <p:nvPr/>
        </p:nvSpPr>
        <p:spPr>
          <a:xfrm>
            <a:off x="2412421" y="1104900"/>
            <a:ext cx="13463158" cy="1109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72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S Qamus Bold"/>
                <a:sym typeface="Serithai Bold"/>
              </a:rPr>
              <a:t>Analisi di Gap 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5B1D7E0E-F829-C787-176D-8B9C7CAD9C0D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15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34491763-4E33-B03F-734F-0F4F7A2EFBD3}"/>
              </a:ext>
            </a:extLst>
          </p:cNvPr>
          <p:cNvSpPr txBox="1"/>
          <p:nvPr/>
        </p:nvSpPr>
        <p:spPr>
          <a:xfrm>
            <a:off x="2743200" y="3008981"/>
            <a:ext cx="12801600" cy="4470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it-IT" sz="2799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Consideriamo:</a:t>
            </a:r>
          </a:p>
          <a:p>
            <a:pPr marL="514350" indent="-514350" algn="l">
              <a:lnSpc>
                <a:spcPts val="3919"/>
              </a:lnSpc>
              <a:buFont typeface="+mj-lt"/>
              <a:buAutoNum type="arabicPeriod"/>
            </a:pPr>
            <a:r>
              <a:rPr lang="it-IT" sz="2799" b="1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Gap di </a:t>
            </a:r>
            <a:r>
              <a:rPr lang="it-IT" sz="2799" b="1" noProof="0" dirty="0" err="1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Ottimalità</a:t>
            </a:r>
            <a:r>
              <a:rPr lang="it-IT" sz="2799" b="1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it-IT" sz="2799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(per Upper Bounds): (</a:t>
            </a:r>
            <a:r>
              <a:rPr lang="it-IT" sz="2799" noProof="0" dirty="0" err="1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z_upper</a:t>
            </a:r>
            <a:r>
              <a:rPr lang="it-IT" sz="2799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- z*) / z*</a:t>
            </a:r>
          </a:p>
          <a:p>
            <a:pPr marL="971550" lvl="1" indent="-51435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it-IT" sz="2799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Misura di quanto una soluzione ammissibile (ma sub-ottima) è peggiore dell'ottimo.</a:t>
            </a:r>
          </a:p>
          <a:p>
            <a:pPr marL="971550" lvl="1" indent="-51435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it-IT" sz="2799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È un valore &gt;= 0%. Si applica all’euristica greedy.</a:t>
            </a:r>
          </a:p>
          <a:p>
            <a:pPr marL="514350" indent="-514350">
              <a:lnSpc>
                <a:spcPts val="3919"/>
              </a:lnSpc>
              <a:buFont typeface="+mj-lt"/>
              <a:buAutoNum type="arabicPeriod"/>
            </a:pPr>
            <a:r>
              <a:rPr lang="en-US" sz="2799" b="1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Gap di </a:t>
            </a:r>
            <a:r>
              <a:rPr lang="en-US" sz="2799" b="1" noProof="0" dirty="0" err="1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Dualità</a:t>
            </a:r>
            <a:r>
              <a:rPr lang="en-US" sz="2799" b="1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99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(per Lower Bounds): (z* - </a:t>
            </a:r>
            <a:r>
              <a:rPr lang="en-US" sz="2799" noProof="0" dirty="0" err="1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z_lower</a:t>
            </a:r>
            <a:r>
              <a:rPr lang="en-US" sz="2799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) / z*</a:t>
            </a:r>
          </a:p>
          <a:p>
            <a:pPr marL="971550" lvl="1" indent="-51435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it-IT" sz="2799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Misura quanto un limite inferiore è lontano dal valore ottimo. Ci dice quanto è "stretta" la stima fornita dal rilassamento o dall'algoritmo duale.</a:t>
            </a:r>
          </a:p>
          <a:p>
            <a:pPr marL="971550" lvl="1" indent="-51435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it-IT" sz="2799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È anch'esso un valore &gt;= 0%. Si applica a </a:t>
            </a:r>
            <a:r>
              <a:rPr lang="it-IT" sz="2799" noProof="0" dirty="0" err="1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strong_rl</a:t>
            </a:r>
            <a:r>
              <a:rPr lang="it-IT" sz="2799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, </a:t>
            </a:r>
            <a:r>
              <a:rPr lang="it-IT" sz="2799" noProof="0" dirty="0" err="1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weak_rl</a:t>
            </a:r>
            <a:r>
              <a:rPr lang="it-IT" sz="2799" noProof="0" dirty="0">
                <a:solidFill>
                  <a:srgbClr val="0F3FD4"/>
                </a:solidFill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e erlenkotter.</a:t>
            </a:r>
          </a:p>
        </p:txBody>
      </p:sp>
    </p:spTree>
    <p:extLst>
      <p:ext uri="{BB962C8B-B14F-4D97-AF65-F5344CB8AC3E}">
        <p14:creationId xmlns:p14="http://schemas.microsoft.com/office/powerpoint/2010/main" val="3264027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33E42-FB30-7237-A983-B72A5D7F9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5D1D03E3-BD52-F71F-89D3-8DE54147DB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56FA90F-F418-2A61-62D2-9976EE1C6A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E9B86752-8A04-940D-D5E6-AEE1E94CF9E0}"/>
              </a:ext>
            </a:extLst>
          </p:cNvPr>
          <p:cNvSpPr txBox="1"/>
          <p:nvPr/>
        </p:nvSpPr>
        <p:spPr>
          <a:xfrm>
            <a:off x="3200400" y="3984625"/>
            <a:ext cx="12496800" cy="2317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8800" b="1" u="sng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</a:t>
            </a:r>
          </a:p>
          <a:p>
            <a:pPr algn="ctr">
              <a:lnSpc>
                <a:spcPts val="9000"/>
              </a:lnSpc>
            </a:pPr>
            <a:r>
              <a:rPr lang="it-IT" sz="8800" b="1" u="sng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per le singole istanze small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ACCC4B69-4F47-9BDD-3DC4-7DF67B572011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16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969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15294-4F44-F070-D992-156F701F2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EB7CAC95-AEA9-FB47-D577-CBBD2D3C98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16155D7-69EA-8E6E-47D8-113E10F709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55C73D9D-FC91-0226-3F6C-D4D18D02D282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17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68EE8-B8A2-F851-AA84-BFAF21D23A6B}"/>
              </a:ext>
            </a:extLst>
          </p:cNvPr>
          <p:cNvSpPr txBox="1"/>
          <p:nvPr/>
        </p:nvSpPr>
        <p:spPr>
          <a:xfrm>
            <a:off x="1981200" y="199498"/>
            <a:ext cx="143256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 dettagliate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8887DB0-CCB0-8000-7180-FD38A9C08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235" y="2031427"/>
            <a:ext cx="3372321" cy="7192379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814CAD7A-2102-B3D7-9B15-F9F0680A0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1350294"/>
            <a:ext cx="4934639" cy="8554644"/>
          </a:xfrm>
          <a:prstGeom prst="rect">
            <a:avLst/>
          </a:prstGeom>
        </p:spPr>
      </p:pic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4F0CD433-3A60-D6F0-9E52-3BC484D670E2}"/>
              </a:ext>
            </a:extLst>
          </p:cNvPr>
          <p:cNvSpPr/>
          <p:nvPr/>
        </p:nvSpPr>
        <p:spPr>
          <a:xfrm>
            <a:off x="5562600" y="3848100"/>
            <a:ext cx="4404533" cy="3200400"/>
          </a:xfrm>
          <a:prstGeom prst="rightArrow">
            <a:avLst/>
          </a:prstGeom>
          <a:noFill/>
          <a:ln w="38100">
            <a:solidFill>
              <a:srgbClr val="0F3FD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sz="2000" b="1" dirty="0">
                <a:solidFill>
                  <a:srgbClr val="0F3FD4"/>
                </a:solidFill>
              </a:rPr>
              <a:t>Esiste un report dettagliato per ciascun istanza testata, ad esempio per l’istanza cap72.txt:</a:t>
            </a:r>
          </a:p>
          <a:p>
            <a:pPr algn="l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04254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C5DC1-01E8-7D5F-9E22-A7C680A6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480CDEDD-D622-08C5-82A6-8CE5719BC3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0552106-F074-8B22-B0D3-76040342AB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A26944F-F954-ABFE-EE6E-DF2CB04512C0}"/>
              </a:ext>
            </a:extLst>
          </p:cNvPr>
          <p:cNvSpPr txBox="1"/>
          <p:nvPr/>
        </p:nvSpPr>
        <p:spPr>
          <a:xfrm>
            <a:off x="3200400" y="495300"/>
            <a:ext cx="11887200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  <a:p>
            <a:pPr algn="ctr"/>
            <a:r>
              <a:rPr lang="it-IT" sz="40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(Istanze small)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09019AC4-5E01-AFCF-A6DD-28C977AD9151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18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6" name="Immagine 5" descr="Immagine che contiene testo, schermata, linea, Policromia&#10;&#10;Il contenuto generato dall'IA potrebbe non essere corretto.">
            <a:extLst>
              <a:ext uri="{FF2B5EF4-FFF2-40B4-BE49-F238E27FC236}">
                <a16:creationId xmlns:a16="http://schemas.microsoft.com/office/drawing/2014/main" id="{65CC5171-1430-E6D3-BEA4-796BBF78E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233897"/>
            <a:ext cx="10197382" cy="582707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07F9C4F-78C1-AE90-78B5-D7E2D00FF0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/>
          <a:stretch>
            <a:fillRect/>
          </a:stretch>
        </p:blipFill>
        <p:spPr>
          <a:xfrm>
            <a:off x="9200597" y="3233897"/>
            <a:ext cx="8935003" cy="582707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DB6D68B-AE54-3650-8EE0-A95831558171}"/>
              </a:ext>
            </a:extLst>
          </p:cNvPr>
          <p:cNvSpPr txBox="1"/>
          <p:nvPr/>
        </p:nvSpPr>
        <p:spPr>
          <a:xfrm>
            <a:off x="1143000" y="3816399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9</a:t>
            </a:r>
          </a:p>
          <a:p>
            <a:r>
              <a:rPr lang="en-US" dirty="0"/>
              <a:t>- Opened Facilities (IDs): [0, 1, 2, 3, 5, 6, 7, 10, 12]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F297C5C-3A7C-C257-2A3D-0A336F05896B}"/>
              </a:ext>
            </a:extLst>
          </p:cNvPr>
          <p:cNvSpPr txBox="1"/>
          <p:nvPr/>
        </p:nvSpPr>
        <p:spPr>
          <a:xfrm>
            <a:off x="1143000" y="4634865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9</a:t>
            </a:r>
          </a:p>
          <a:p>
            <a:r>
              <a:rPr lang="en-US" dirty="0"/>
              <a:t>- Opened Facilities (IDs): [0, 1, 2, 3, 5, 6, 7, 10, 12]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56EE452-5D2C-BD6E-4C9A-34EDFE7DCFA6}"/>
              </a:ext>
            </a:extLst>
          </p:cNvPr>
          <p:cNvSpPr txBox="1"/>
          <p:nvPr/>
        </p:nvSpPr>
        <p:spPr>
          <a:xfrm>
            <a:off x="1143000" y="5487769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10</a:t>
            </a:r>
          </a:p>
          <a:p>
            <a:r>
              <a:rPr lang="en-US" dirty="0"/>
              <a:t>- Opened Facilities (IDs): [0, 1, 2, 3, 5, 6, 7, 10, 11, 12]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C378466-DFEF-5F16-8FD8-BD8493CE194A}"/>
              </a:ext>
            </a:extLst>
          </p:cNvPr>
          <p:cNvSpPr txBox="1"/>
          <p:nvPr/>
        </p:nvSpPr>
        <p:spPr>
          <a:xfrm>
            <a:off x="10069536" y="3816399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9</a:t>
            </a:r>
          </a:p>
          <a:p>
            <a:r>
              <a:rPr lang="en-US" dirty="0"/>
              <a:t>- Opened Facilities (IDs): [0, 1, 2, 3, 5, 6, 7, 10, 12]</a:t>
            </a:r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7246FF9-74B8-E567-F6DA-170E1E0840DE}"/>
              </a:ext>
            </a:extLst>
          </p:cNvPr>
          <p:cNvSpPr txBox="1"/>
          <p:nvPr/>
        </p:nvSpPr>
        <p:spPr>
          <a:xfrm>
            <a:off x="10069536" y="4598242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9</a:t>
            </a:r>
          </a:p>
          <a:p>
            <a:r>
              <a:rPr lang="en-US" dirty="0"/>
              <a:t>- Opened Facilities (IDs): [0, 1, 2, 3, 5, 6, 7, 10, 12]</a:t>
            </a:r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2298AD0-1BB6-D1A5-866D-368DBA25EBC5}"/>
              </a:ext>
            </a:extLst>
          </p:cNvPr>
          <p:cNvSpPr txBox="1"/>
          <p:nvPr/>
        </p:nvSpPr>
        <p:spPr>
          <a:xfrm>
            <a:off x="10069536" y="5448300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10</a:t>
            </a:r>
          </a:p>
          <a:p>
            <a:r>
              <a:rPr lang="en-US" dirty="0"/>
              <a:t>- Opened Facilities (IDs): [0, 1, 2, 3, 5, 6, 7, 10, 11, 12]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4198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/>
      <p:bldP spid="11" grpId="0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AC388-8364-EC44-B68A-3179715B7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56323AFC-62D9-FF01-AEB6-D87A5056F1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CB3AC52-45BB-2E14-E1EC-ED9B6A4E2F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62FD3DDB-29D4-D1C3-DE0B-58E087F7C1CB}"/>
              </a:ext>
            </a:extLst>
          </p:cNvPr>
          <p:cNvSpPr txBox="1"/>
          <p:nvPr/>
        </p:nvSpPr>
        <p:spPr>
          <a:xfrm>
            <a:off x="3200400" y="495300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CE0FAD18-14F6-0954-F24D-C5D2FDA2B874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19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EFD9E8-4E7B-B5C9-F1AF-0286F2B27337}"/>
              </a:ext>
            </a:extLst>
          </p:cNvPr>
          <p:cNvSpPr txBox="1"/>
          <p:nvPr/>
        </p:nvSpPr>
        <p:spPr>
          <a:xfrm>
            <a:off x="3200400" y="495300"/>
            <a:ext cx="11887200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  <a:p>
            <a:pPr algn="ctr"/>
            <a:r>
              <a:rPr lang="it-IT" sz="40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(Istanze small)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EF0D07F-07D8-D62D-2E02-7AF321307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01" y="3201300"/>
            <a:ext cx="10199699" cy="58284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5860C50-32B3-5E83-EC8D-2AE71EC664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92"/>
          <a:stretch>
            <a:fillRect/>
          </a:stretch>
        </p:blipFill>
        <p:spPr>
          <a:xfrm>
            <a:off x="9220200" y="3233235"/>
            <a:ext cx="8915400" cy="582840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35539A7-DAE8-DE79-E4C4-7C4B3606F552}"/>
              </a:ext>
            </a:extLst>
          </p:cNvPr>
          <p:cNvSpPr txBox="1"/>
          <p:nvPr/>
        </p:nvSpPr>
        <p:spPr>
          <a:xfrm>
            <a:off x="990600" y="5411569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11</a:t>
            </a:r>
            <a:br>
              <a:rPr lang="en-US" dirty="0"/>
            </a:br>
            <a:r>
              <a:rPr lang="en-US" dirty="0"/>
              <a:t>- Opened Facilities (IDs): [0, 1, 2, 3, 5, 6, 7, 8, 10, 11, 12]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DC77D3B-AAFE-22AF-B3F9-08EE73E93B8B}"/>
              </a:ext>
            </a:extLst>
          </p:cNvPr>
          <p:cNvSpPr txBox="1"/>
          <p:nvPr/>
        </p:nvSpPr>
        <p:spPr>
          <a:xfrm>
            <a:off x="992443" y="4573369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11</a:t>
            </a:r>
            <a:br>
              <a:rPr lang="en-US" dirty="0"/>
            </a:br>
            <a:r>
              <a:rPr lang="en-US" dirty="0"/>
              <a:t>- Opened Facilities (IDs): [0, 1, 2, 3, 5, 6, 7, 8, 10, 11, 12]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39C4C20-2CB2-1A44-7101-B44E53254354}"/>
              </a:ext>
            </a:extLst>
          </p:cNvPr>
          <p:cNvSpPr txBox="1"/>
          <p:nvPr/>
        </p:nvSpPr>
        <p:spPr>
          <a:xfrm>
            <a:off x="994286" y="3771900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11</a:t>
            </a:r>
            <a:br>
              <a:rPr lang="en-US" dirty="0"/>
            </a:br>
            <a:r>
              <a:rPr lang="en-US" dirty="0"/>
              <a:t>- Opened Facilities (IDs): [0, 1, 2, 3, 5, 6, 7, 8, 10, 11, 12]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F6B2EA9-499D-F006-F531-FCDD76E403DF}"/>
              </a:ext>
            </a:extLst>
          </p:cNvPr>
          <p:cNvSpPr txBox="1"/>
          <p:nvPr/>
        </p:nvSpPr>
        <p:spPr>
          <a:xfrm>
            <a:off x="10050985" y="3790666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9</a:t>
            </a:r>
            <a:br>
              <a:rPr lang="en-US" dirty="0"/>
            </a:br>
            <a:r>
              <a:rPr lang="en-US" dirty="0"/>
              <a:t>- Opened Facilities (IDs): [0, 1, 2, 3, 5, 6, 7, 10, 12]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23097BB-F60A-5236-9FF3-60BAC44FB976}"/>
              </a:ext>
            </a:extLst>
          </p:cNvPr>
          <p:cNvSpPr txBox="1"/>
          <p:nvPr/>
        </p:nvSpPr>
        <p:spPr>
          <a:xfrm>
            <a:off x="10050985" y="4610100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9</a:t>
            </a:r>
            <a:br>
              <a:rPr lang="en-US" dirty="0"/>
            </a:br>
            <a:r>
              <a:rPr lang="en-US" dirty="0"/>
              <a:t>- Opened Facilities (IDs): [0, 1, 2, 3, 5, 6, 7, 10, 12]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4867BC1-6DD3-B81E-96E1-D891B68440EB}"/>
              </a:ext>
            </a:extLst>
          </p:cNvPr>
          <p:cNvSpPr txBox="1"/>
          <p:nvPr/>
        </p:nvSpPr>
        <p:spPr>
          <a:xfrm>
            <a:off x="10050985" y="5429534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10</a:t>
            </a:r>
            <a:br>
              <a:rPr lang="en-US" dirty="0"/>
            </a:br>
            <a:r>
              <a:rPr lang="en-US" dirty="0"/>
              <a:t>- Opened Facilities (IDs): [0, 1, 2, 3, 5, 6, 7, 10, 11, 12]</a:t>
            </a:r>
          </a:p>
        </p:txBody>
      </p:sp>
    </p:spTree>
    <p:extLst>
      <p:ext uri="{BB962C8B-B14F-4D97-AF65-F5344CB8AC3E}">
        <p14:creationId xmlns:p14="http://schemas.microsoft.com/office/powerpoint/2010/main" val="383228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6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63EDA-2E3E-F343-F479-1AD4727F5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9DF6F964-D06F-4A34-C1BC-9DBC55BB18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C25139B-C439-21AD-55CC-AA1566F77C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F2F204D0-4B2F-261F-85DE-2DAF074DCB97}"/>
              </a:ext>
            </a:extLst>
          </p:cNvPr>
          <p:cNvSpPr txBox="1"/>
          <p:nvPr/>
        </p:nvSpPr>
        <p:spPr>
          <a:xfrm>
            <a:off x="3200400" y="495300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AE82B156-4C47-324A-AA75-9A1D765BA262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20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6D7B62-A3D0-A25E-4562-31E95976BCF3}"/>
              </a:ext>
            </a:extLst>
          </p:cNvPr>
          <p:cNvSpPr txBox="1"/>
          <p:nvPr/>
        </p:nvSpPr>
        <p:spPr>
          <a:xfrm>
            <a:off x="3200400" y="495300"/>
            <a:ext cx="11887200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  <a:p>
            <a:pPr algn="ctr"/>
            <a:r>
              <a:rPr lang="it-IT" sz="40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(Istanze small)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546B33F-30CB-D41B-D7D1-8CB8220C0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233235"/>
            <a:ext cx="10199699" cy="58284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A47F5F95-F822-E8C8-6144-6EF95175FA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92"/>
          <a:stretch>
            <a:fillRect/>
          </a:stretch>
        </p:blipFill>
        <p:spPr>
          <a:xfrm>
            <a:off x="9220200" y="3233235"/>
            <a:ext cx="8915400" cy="58284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62548AE6-4D38-C85B-0BF9-42232E1979AD}"/>
              </a:ext>
            </a:extLst>
          </p:cNvPr>
          <p:cNvSpPr txBox="1"/>
          <p:nvPr/>
        </p:nvSpPr>
        <p:spPr>
          <a:xfrm>
            <a:off x="990600" y="5448300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5</a:t>
            </a:r>
            <a:br>
              <a:rPr lang="en-US" dirty="0"/>
            </a:br>
            <a:r>
              <a:rPr lang="en-US" dirty="0"/>
              <a:t>- Opened Facilities (IDs): [0, 10, 12, 17, 23]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6932CDA-AD7B-F74D-80E1-DDF6D02404CC}"/>
              </a:ext>
            </a:extLst>
          </p:cNvPr>
          <p:cNvSpPr txBox="1"/>
          <p:nvPr/>
        </p:nvSpPr>
        <p:spPr>
          <a:xfrm>
            <a:off x="990600" y="4610100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4</a:t>
            </a:r>
            <a:br>
              <a:rPr lang="en-US" dirty="0"/>
            </a:br>
            <a:r>
              <a:rPr lang="en-US" dirty="0"/>
              <a:t>- Opened Facilities (IDs): [10, 12, 17, 23]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692910E-2DBA-6356-508B-2F04BCFB9D9F}"/>
              </a:ext>
            </a:extLst>
          </p:cNvPr>
          <p:cNvSpPr txBox="1"/>
          <p:nvPr/>
        </p:nvSpPr>
        <p:spPr>
          <a:xfrm>
            <a:off x="990600" y="3771900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4</a:t>
            </a:r>
            <a:br>
              <a:rPr lang="en-US" dirty="0"/>
            </a:br>
            <a:r>
              <a:rPr lang="en-US" dirty="0"/>
              <a:t>- Opened Facilities (IDs): [10, 12, 17, 23]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06208AF-FD28-6E6C-9F20-B3A51091EAF2}"/>
              </a:ext>
            </a:extLst>
          </p:cNvPr>
          <p:cNvSpPr txBox="1"/>
          <p:nvPr/>
        </p:nvSpPr>
        <p:spPr>
          <a:xfrm>
            <a:off x="10083990" y="5448299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2</a:t>
            </a:r>
            <a:br>
              <a:rPr lang="en-US" dirty="0"/>
            </a:br>
            <a:r>
              <a:rPr lang="en-US" dirty="0"/>
              <a:t>- Opened Facilities (IDs): [0, 5]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7647398-1554-E46D-F892-2B87E8310400}"/>
              </a:ext>
            </a:extLst>
          </p:cNvPr>
          <p:cNvSpPr txBox="1"/>
          <p:nvPr/>
        </p:nvSpPr>
        <p:spPr>
          <a:xfrm>
            <a:off x="10073754" y="4615218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2</a:t>
            </a:r>
            <a:br>
              <a:rPr lang="en-US" dirty="0"/>
            </a:br>
            <a:r>
              <a:rPr lang="en-US" dirty="0"/>
              <a:t>- Opened Facilities (IDs): [0, 5]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E47AD05-EDAD-463E-A894-C3AC367E3514}"/>
              </a:ext>
            </a:extLst>
          </p:cNvPr>
          <p:cNvSpPr txBox="1"/>
          <p:nvPr/>
        </p:nvSpPr>
        <p:spPr>
          <a:xfrm>
            <a:off x="10063518" y="3782137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2</a:t>
            </a:r>
            <a:br>
              <a:rPr lang="en-US" dirty="0"/>
            </a:br>
            <a:r>
              <a:rPr lang="en-US" dirty="0"/>
              <a:t>- Opened Facilities (IDs): [0, 5]</a:t>
            </a:r>
          </a:p>
        </p:txBody>
      </p:sp>
    </p:spTree>
    <p:extLst>
      <p:ext uri="{BB962C8B-B14F-4D97-AF65-F5344CB8AC3E}">
        <p14:creationId xmlns:p14="http://schemas.microsoft.com/office/powerpoint/2010/main" val="1866151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  <p:bldP spid="12" grpId="0"/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C4175-13E9-FCE7-9861-B05AD0CFC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6BFEBEE8-F117-4E30-643B-25A293597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F8C2902-54D7-B2E7-B23B-C71BA167FF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95AD414A-10D4-714C-7320-6F260385FD6D}"/>
              </a:ext>
            </a:extLst>
          </p:cNvPr>
          <p:cNvSpPr txBox="1"/>
          <p:nvPr/>
        </p:nvSpPr>
        <p:spPr>
          <a:xfrm>
            <a:off x="3200400" y="495300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A21A0C88-C643-7033-F7E5-F0E4524DF92F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21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C39CF-C280-2310-AF20-6C9AA4A1A71E}"/>
              </a:ext>
            </a:extLst>
          </p:cNvPr>
          <p:cNvSpPr txBox="1"/>
          <p:nvPr/>
        </p:nvSpPr>
        <p:spPr>
          <a:xfrm>
            <a:off x="3200400" y="495300"/>
            <a:ext cx="11887200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  <a:p>
            <a:pPr algn="ctr"/>
            <a:r>
              <a:rPr lang="it-IT" sz="40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(Istanze small)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4FA7790-7889-0282-6660-10F12A96F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92"/>
          <a:stretch>
            <a:fillRect/>
          </a:stretch>
        </p:blipFill>
        <p:spPr>
          <a:xfrm>
            <a:off x="1295400" y="3163732"/>
            <a:ext cx="8915413" cy="582840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E86811C-4A9D-E8FE-4243-137E3723DFA0}"/>
              </a:ext>
            </a:extLst>
          </p:cNvPr>
          <p:cNvSpPr txBox="1"/>
          <p:nvPr/>
        </p:nvSpPr>
        <p:spPr>
          <a:xfrm>
            <a:off x="2092465" y="3695700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3</a:t>
            </a:r>
            <a:br>
              <a:rPr lang="en-US" dirty="0"/>
            </a:br>
            <a:r>
              <a:rPr lang="en-US" dirty="0"/>
              <a:t>- Opened Facilities (IDs): [1, 11, 20]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5DCC644-1B8E-0FFE-4ECB-11F256A35C7C}"/>
              </a:ext>
            </a:extLst>
          </p:cNvPr>
          <p:cNvSpPr txBox="1"/>
          <p:nvPr/>
        </p:nvSpPr>
        <p:spPr>
          <a:xfrm>
            <a:off x="2092465" y="4533900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3</a:t>
            </a:r>
            <a:br>
              <a:rPr lang="en-US" dirty="0"/>
            </a:br>
            <a:r>
              <a:rPr lang="en-US" dirty="0"/>
              <a:t>- Opened Facilities (IDs): [1, 11, 20]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1D4F40B-82A5-0CBB-DB89-1BB2EBF54F68}"/>
              </a:ext>
            </a:extLst>
          </p:cNvPr>
          <p:cNvSpPr txBox="1"/>
          <p:nvPr/>
        </p:nvSpPr>
        <p:spPr>
          <a:xfrm>
            <a:off x="2092465" y="5372100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4</a:t>
            </a:r>
            <a:br>
              <a:rPr lang="en-US" dirty="0"/>
            </a:br>
            <a:r>
              <a:rPr lang="en-US" dirty="0"/>
              <a:t>- Opened Facilities (IDs): [0, 11, 14, 21]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5D19E25-2263-F8C1-FEF5-188CAD0FE332}"/>
              </a:ext>
            </a:extLst>
          </p:cNvPr>
          <p:cNvSpPr txBox="1"/>
          <p:nvPr/>
        </p:nvSpPr>
        <p:spPr>
          <a:xfrm>
            <a:off x="10856516" y="3233235"/>
            <a:ext cx="5029200" cy="1039195"/>
          </a:xfrm>
          <a:prstGeom prst="rect">
            <a:avLst/>
          </a:prstGeom>
          <a:noFill/>
          <a:ln>
            <a:noFill/>
          </a:ln>
          <a:scene3d>
            <a:camera prst="isometricOffAxis2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24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S Qamus Bold"/>
              </a:rPr>
              <a:t>Gerarchia in base alle prestazioni:</a:t>
            </a:r>
          </a:p>
        </p:txBody>
      </p:sp>
      <p:graphicFrame>
        <p:nvGraphicFramePr>
          <p:cNvPr id="8" name="Diagramma 7">
            <a:extLst>
              <a:ext uri="{FF2B5EF4-FFF2-40B4-BE49-F238E27FC236}">
                <a16:creationId xmlns:a16="http://schemas.microsoft.com/office/drawing/2014/main" id="{442D2086-7F65-96F0-CB10-D3C438ACB7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8382371"/>
              </p:ext>
            </p:extLst>
          </p:nvPr>
        </p:nvGraphicFramePr>
        <p:xfrm>
          <a:off x="9753600" y="4610100"/>
          <a:ext cx="5257799" cy="4139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1452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6" grpId="0"/>
      <p:bldGraphic spid="8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51ED9-79B0-609D-612C-4597434A1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968CF505-2803-7B17-8282-B473D8B731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2EAAFFD-C3AA-2B65-D9F1-88E3938CF1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F39AB888-0008-B105-1695-4471D00B00FA}"/>
              </a:ext>
            </a:extLst>
          </p:cNvPr>
          <p:cNvSpPr txBox="1"/>
          <p:nvPr/>
        </p:nvSpPr>
        <p:spPr>
          <a:xfrm>
            <a:off x="3200400" y="457798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Gap per le istanze small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9D46A6C0-8212-3EB0-2044-414A01FB8026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22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9" name="Immagine 8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2F8773E-F4B3-7BCE-B497-11B2FF43D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643" y="1958324"/>
            <a:ext cx="13066802" cy="8138176"/>
          </a:xfrm>
          <a:prstGeom prst="rect">
            <a:avLst/>
          </a:prstGeom>
        </p:spPr>
      </p:pic>
      <p:sp>
        <p:nvSpPr>
          <p:cNvPr id="10" name="Ovale 9">
            <a:extLst>
              <a:ext uri="{FF2B5EF4-FFF2-40B4-BE49-F238E27FC236}">
                <a16:creationId xmlns:a16="http://schemas.microsoft.com/office/drawing/2014/main" id="{EFB68481-9DB5-F29A-4EBB-A0D03B8562A1}"/>
              </a:ext>
            </a:extLst>
          </p:cNvPr>
          <p:cNvSpPr/>
          <p:nvPr/>
        </p:nvSpPr>
        <p:spPr>
          <a:xfrm>
            <a:off x="2743200" y="2552700"/>
            <a:ext cx="1087757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802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D8264-A3ED-B95C-B6E4-DF1329914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E4AB9942-69AC-B3CF-00BA-3EEA6E60E4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BFB62BE-B4ED-8FBD-E11E-64654A2C84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AD5C15F-2881-B33D-C168-320F3DB43FCC}"/>
              </a:ext>
            </a:extLst>
          </p:cNvPr>
          <p:cNvSpPr txBox="1"/>
          <p:nvPr/>
        </p:nvSpPr>
        <p:spPr>
          <a:xfrm>
            <a:off x="3200400" y="495300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Distribuzione di Gap per le istanze small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9CC770AE-E4CF-EB13-A161-EBAD6BA63D1B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23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9" name="Immagine 8" descr="Immagine che contiene testo, schermata, linea, schermo&#10;&#10;Il contenuto generato dall'IA potrebbe non essere corretto.">
            <a:extLst>
              <a:ext uri="{FF2B5EF4-FFF2-40B4-BE49-F238E27FC236}">
                <a16:creationId xmlns:a16="http://schemas.microsoft.com/office/drawing/2014/main" id="{E8927C39-EE89-168F-F1D3-A77FFA05E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1971" y="2018702"/>
            <a:ext cx="10872238" cy="7223774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B646D35-1A4F-892F-23F3-81DA7CFBD7B8}"/>
              </a:ext>
            </a:extLst>
          </p:cNvPr>
          <p:cNvSpPr txBox="1"/>
          <p:nvPr/>
        </p:nvSpPr>
        <p:spPr>
          <a:xfrm>
            <a:off x="10744200" y="2552700"/>
            <a:ext cx="6698009" cy="37856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rgbClr val="0F3FD4"/>
                </a:solidFill>
              </a:rPr>
              <a:t>In conclusione, possiamo osservare:</a:t>
            </a:r>
          </a:p>
          <a:p>
            <a:endParaRPr lang="it-IT" sz="2000" dirty="0">
              <a:solidFill>
                <a:srgbClr val="0F3FD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>
                <a:solidFill>
                  <a:srgbClr val="0F3FD4"/>
                </a:solidFill>
              </a:rPr>
              <a:t>strong_rl e Erlenkotter:</a:t>
            </a:r>
            <a:r>
              <a:rPr lang="it-IT" sz="2000" dirty="0">
                <a:solidFill>
                  <a:srgbClr val="0F3FD4"/>
                </a:solidFill>
              </a:rPr>
              <a:t> In quasi tutti i casi, entrambi calcolano un </a:t>
            </a:r>
            <a:r>
              <a:rPr lang="it-IT" sz="2000" b="1" dirty="0">
                <a:solidFill>
                  <a:srgbClr val="0F3FD4"/>
                </a:solidFill>
              </a:rPr>
              <a:t>lower bound perfetto</a:t>
            </a:r>
            <a:r>
              <a:rPr lang="it-IT" sz="2000" dirty="0">
                <a:solidFill>
                  <a:srgbClr val="0F3FD4"/>
                </a:solidFill>
              </a:rPr>
              <a:t>, il cui valore coincide con la soluzione ottima. Questo dimostra la loro eccezionale accuratezza.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>
                <a:solidFill>
                  <a:srgbClr val="0F3FD4"/>
                </a:solidFill>
              </a:rPr>
              <a:t>weak_rl:</a:t>
            </a:r>
            <a:r>
              <a:rPr lang="it-IT" sz="2000" dirty="0">
                <a:solidFill>
                  <a:srgbClr val="0F3FD4"/>
                </a:solidFill>
              </a:rPr>
              <a:t> Produce un </a:t>
            </a:r>
            <a:r>
              <a:rPr lang="it-IT" sz="2000" b="1" dirty="0">
                <a:solidFill>
                  <a:srgbClr val="0F3FD4"/>
                </a:solidFill>
              </a:rPr>
              <a:t>lower bound di scarsa qualità</a:t>
            </a:r>
            <a:r>
              <a:rPr lang="it-IT" sz="2000" dirty="0">
                <a:solidFill>
                  <a:srgbClr val="0F3FD4"/>
                </a:solidFill>
              </a:rPr>
              <a:t>, con un gap di dualità che varia dal 15% al 30%. È un limite molto "lontano" dall'ottimo e quindi poco informativo.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>
                <a:solidFill>
                  <a:srgbClr val="0F3FD4"/>
                </a:solidFill>
              </a:rPr>
              <a:t>Euristica Greedy:</a:t>
            </a:r>
            <a:r>
              <a:rPr lang="it-IT" sz="2000" dirty="0">
                <a:solidFill>
                  <a:srgbClr val="0F3FD4"/>
                </a:solidFill>
              </a:rPr>
              <a:t> Fornisce un </a:t>
            </a:r>
            <a:r>
              <a:rPr lang="it-IT" sz="2000" b="1" dirty="0">
                <a:solidFill>
                  <a:srgbClr val="0F3FD4"/>
                </a:solidFill>
              </a:rPr>
              <a:t>upper bound di buona qualità</a:t>
            </a:r>
            <a:r>
              <a:rPr lang="it-IT" sz="2000" dirty="0">
                <a:solidFill>
                  <a:srgbClr val="0F3FD4"/>
                </a:solidFill>
              </a:rPr>
              <a:t>, con un gap di </a:t>
            </a:r>
            <a:r>
              <a:rPr lang="it-IT" sz="2000" dirty="0" err="1">
                <a:solidFill>
                  <a:srgbClr val="0F3FD4"/>
                </a:solidFill>
              </a:rPr>
              <a:t>ottimalità</a:t>
            </a:r>
            <a:r>
              <a:rPr lang="it-IT" sz="2000" dirty="0">
                <a:solidFill>
                  <a:srgbClr val="0F3FD4"/>
                </a:solidFill>
              </a:rPr>
              <a:t> quasi sempre inferiore al 2%. In molti casi, trova la soluzione ottima.</a:t>
            </a:r>
          </a:p>
        </p:txBody>
      </p:sp>
    </p:spTree>
    <p:extLst>
      <p:ext uri="{BB962C8B-B14F-4D97-AF65-F5344CB8AC3E}">
        <p14:creationId xmlns:p14="http://schemas.microsoft.com/office/powerpoint/2010/main" val="252473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A1DD7-CD41-69E3-22ED-8DC8FEAC7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E3C81E65-A36E-6217-6652-6E88FCC35C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1F76B7F-97C7-89F5-01FA-D31B5E142E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2954E0D5-38EB-C0C4-BB87-5C18F590B2AB}"/>
              </a:ext>
            </a:extLst>
          </p:cNvPr>
          <p:cNvSpPr txBox="1"/>
          <p:nvPr/>
        </p:nvSpPr>
        <p:spPr>
          <a:xfrm>
            <a:off x="2552700" y="3984625"/>
            <a:ext cx="13182600" cy="2317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8800" b="1" u="sng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</a:t>
            </a:r>
          </a:p>
          <a:p>
            <a:pPr algn="ctr">
              <a:lnSpc>
                <a:spcPts val="9000"/>
              </a:lnSpc>
            </a:pPr>
            <a:r>
              <a:rPr lang="it-IT" sz="8800" b="1" u="sng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per le singole istanze medio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1DE0C6A0-2330-9A84-05EB-7A1AFFFDE0D4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24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661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525BE-D543-7C4A-AC11-3AF80688D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EBA90564-F4B2-F299-3CC4-776A89EBA2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F074D06-0A27-C5DC-EB07-30344B1B8A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2AFD9B5C-E6EF-7550-D744-3E0B3011067B}"/>
              </a:ext>
            </a:extLst>
          </p:cNvPr>
          <p:cNvSpPr txBox="1"/>
          <p:nvPr/>
        </p:nvSpPr>
        <p:spPr>
          <a:xfrm>
            <a:off x="3200400" y="495300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07A35EF2-118E-6748-261F-D0823B5B3D1C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25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44E70-AE99-49E8-E2B2-D00FB3BAA9B9}"/>
              </a:ext>
            </a:extLst>
          </p:cNvPr>
          <p:cNvSpPr txBox="1"/>
          <p:nvPr/>
        </p:nvSpPr>
        <p:spPr>
          <a:xfrm>
            <a:off x="3200400" y="495300"/>
            <a:ext cx="11887200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  <a:p>
            <a:pPr algn="ctr"/>
            <a:r>
              <a:rPr lang="it-IT" sz="40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(Istanze medio)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156992D-5542-FF14-46E2-5AA02AD11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754"/>
          <a:stretch>
            <a:fillRect/>
          </a:stretch>
        </p:blipFill>
        <p:spPr>
          <a:xfrm>
            <a:off x="143149" y="3233235"/>
            <a:ext cx="9000851" cy="5828400"/>
          </a:xfrm>
          <a:prstGeom prst="rect">
            <a:avLst/>
          </a:prstGeom>
        </p:spPr>
      </p:pic>
      <p:pic>
        <p:nvPicPr>
          <p:cNvPr id="12" name="Immagine 11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7F560F1F-F3CC-9AC3-B761-9A3927A63A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92"/>
          <a:stretch>
            <a:fillRect/>
          </a:stretch>
        </p:blipFill>
        <p:spPr>
          <a:xfrm>
            <a:off x="9305651" y="3236078"/>
            <a:ext cx="8915413" cy="58284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F407590-AF32-46CB-E9E8-C0B4FDBC4FE3}"/>
              </a:ext>
            </a:extLst>
          </p:cNvPr>
          <p:cNvSpPr txBox="1"/>
          <p:nvPr/>
        </p:nvSpPr>
        <p:spPr>
          <a:xfrm>
            <a:off x="914400" y="3771900"/>
            <a:ext cx="632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11</a:t>
            </a:r>
            <a:br>
              <a:rPr lang="en-US" dirty="0"/>
            </a:br>
            <a:r>
              <a:rPr lang="en-US" dirty="0"/>
              <a:t>- Opened Facilities (IDs): [5, 10, 12, 14, 22, 24, 26, 33, 44, 45, 48]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BE92FF5-4AB7-01A6-DF8D-75C983ECC270}"/>
              </a:ext>
            </a:extLst>
          </p:cNvPr>
          <p:cNvSpPr txBox="1"/>
          <p:nvPr/>
        </p:nvSpPr>
        <p:spPr>
          <a:xfrm>
            <a:off x="948519" y="4610100"/>
            <a:ext cx="632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11</a:t>
            </a:r>
            <a:br>
              <a:rPr lang="en-US" dirty="0"/>
            </a:br>
            <a:r>
              <a:rPr lang="en-US" dirty="0"/>
              <a:t>- Opened Facilities (IDs): [5, 10, 12, 14, 22, 24, 26, 33, 44, 45, 48]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AEBEF1D-3E54-6A0D-AA00-D4C669D62C0A}"/>
              </a:ext>
            </a:extLst>
          </p:cNvPr>
          <p:cNvSpPr txBox="1"/>
          <p:nvPr/>
        </p:nvSpPr>
        <p:spPr>
          <a:xfrm>
            <a:off x="914400" y="54483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12</a:t>
            </a:r>
            <a:br>
              <a:rPr lang="en-US" dirty="0"/>
            </a:br>
            <a:r>
              <a:rPr lang="en-US" dirty="0"/>
              <a:t>- Opened Facilities (IDs): [0, 5, 10, 12, 14, 22, 24, 26, 33, 36, 44, 45]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0184ADE-4D3B-C0AC-CA83-969ECC6AF1F7}"/>
              </a:ext>
            </a:extLst>
          </p:cNvPr>
          <p:cNvSpPr txBox="1"/>
          <p:nvPr/>
        </p:nvSpPr>
        <p:spPr>
          <a:xfrm>
            <a:off x="10058400" y="3765645"/>
            <a:ext cx="632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8</a:t>
            </a:r>
            <a:br>
              <a:rPr lang="en-US" dirty="0"/>
            </a:br>
            <a:r>
              <a:rPr lang="en-US" dirty="0"/>
              <a:t>- Opened Facilities (IDs): [5, 22, 24, 26, 33, 44, 45, 48]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0C358DF-F1BE-AE51-F3EA-1388B3A044EC}"/>
              </a:ext>
            </a:extLst>
          </p:cNvPr>
          <p:cNvSpPr txBox="1"/>
          <p:nvPr/>
        </p:nvSpPr>
        <p:spPr>
          <a:xfrm>
            <a:off x="10058400" y="4610100"/>
            <a:ext cx="632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8</a:t>
            </a:r>
            <a:br>
              <a:rPr lang="en-US" dirty="0"/>
            </a:br>
            <a:r>
              <a:rPr lang="en-US" dirty="0"/>
              <a:t>- Opened Facilities (IDs): [5, 22, 24, 26, 33, 44, 45, 48]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902AED9-0450-C9C6-0E60-7741C3AA1098}"/>
              </a:ext>
            </a:extLst>
          </p:cNvPr>
          <p:cNvSpPr txBox="1"/>
          <p:nvPr/>
        </p:nvSpPr>
        <p:spPr>
          <a:xfrm>
            <a:off x="10058400" y="5454555"/>
            <a:ext cx="632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8</a:t>
            </a:r>
            <a:br>
              <a:rPr lang="en-US" dirty="0"/>
            </a:br>
            <a:r>
              <a:rPr lang="en-US" dirty="0"/>
              <a:t>- Opened Facilities (IDs): [0, 5, 22, 24, 26, 36, 44, 45]</a:t>
            </a:r>
          </a:p>
        </p:txBody>
      </p:sp>
    </p:spTree>
    <p:extLst>
      <p:ext uri="{BB962C8B-B14F-4D97-AF65-F5344CB8AC3E}">
        <p14:creationId xmlns:p14="http://schemas.microsoft.com/office/powerpoint/2010/main" val="191741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4349F-FCDB-65AA-9744-D8A5481A3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2122BBD-4A85-5BA6-57C4-B2799450C4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CF89F3E-AC51-6DE5-4820-16F06C8547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4AA7CE7D-DD9E-4B06-2791-0DF5E1B97C7A}"/>
              </a:ext>
            </a:extLst>
          </p:cNvPr>
          <p:cNvSpPr txBox="1"/>
          <p:nvPr/>
        </p:nvSpPr>
        <p:spPr>
          <a:xfrm>
            <a:off x="3200400" y="495300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6FFDAA97-F76F-3652-9FFC-35182D52AADC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26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857DF-9817-4DEC-1142-C22A495F138A}"/>
              </a:ext>
            </a:extLst>
          </p:cNvPr>
          <p:cNvSpPr txBox="1"/>
          <p:nvPr/>
        </p:nvSpPr>
        <p:spPr>
          <a:xfrm>
            <a:off x="3200400" y="495300"/>
            <a:ext cx="11887200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  <a:p>
            <a:pPr algn="ctr"/>
            <a:r>
              <a:rPr lang="it-IT" sz="40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(Istanze medio)</a:t>
            </a:r>
          </a:p>
        </p:txBody>
      </p:sp>
      <p:pic>
        <p:nvPicPr>
          <p:cNvPr id="8" name="Immagine 7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13001C13-AEF9-B8BE-5871-235B4F041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92"/>
          <a:stretch>
            <a:fillRect/>
          </a:stretch>
        </p:blipFill>
        <p:spPr>
          <a:xfrm>
            <a:off x="152401" y="3233235"/>
            <a:ext cx="8915400" cy="5828400"/>
          </a:xfrm>
          <a:prstGeom prst="rect">
            <a:avLst/>
          </a:prstGeom>
        </p:spPr>
      </p:pic>
      <p:pic>
        <p:nvPicPr>
          <p:cNvPr id="10" name="Immagine 9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16B34B90-2474-9699-CB96-3B07BF81E2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92"/>
          <a:stretch>
            <a:fillRect/>
          </a:stretch>
        </p:blipFill>
        <p:spPr>
          <a:xfrm>
            <a:off x="9220200" y="3233235"/>
            <a:ext cx="8915400" cy="58284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73485C9-BF18-DDDE-50B0-A3877201CA30}"/>
              </a:ext>
            </a:extLst>
          </p:cNvPr>
          <p:cNvSpPr txBox="1"/>
          <p:nvPr/>
        </p:nvSpPr>
        <p:spPr>
          <a:xfrm>
            <a:off x="914400" y="54483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5</a:t>
            </a:r>
            <a:br>
              <a:rPr lang="en-US" dirty="0"/>
            </a:br>
            <a:r>
              <a:rPr lang="en-US" dirty="0"/>
              <a:t>- Opened Facilities (IDs): [0, 22, 26, 36, 45]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44018D3-E255-5E97-F909-B736C74BDE04}"/>
              </a:ext>
            </a:extLst>
          </p:cNvPr>
          <p:cNvSpPr txBox="1"/>
          <p:nvPr/>
        </p:nvSpPr>
        <p:spPr>
          <a:xfrm>
            <a:off x="914400" y="46101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4</a:t>
            </a:r>
            <a:br>
              <a:rPr lang="en-US" dirty="0"/>
            </a:br>
            <a:r>
              <a:rPr lang="en-US" dirty="0"/>
              <a:t>- Opened Facilities (IDs): [22, 26, 36, 45]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B66D69C-3166-7832-4B67-991A41CFC389}"/>
              </a:ext>
            </a:extLst>
          </p:cNvPr>
          <p:cNvSpPr txBox="1"/>
          <p:nvPr/>
        </p:nvSpPr>
        <p:spPr>
          <a:xfrm>
            <a:off x="914400" y="37719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4</a:t>
            </a:r>
            <a:br>
              <a:rPr lang="en-US" dirty="0"/>
            </a:br>
            <a:r>
              <a:rPr lang="en-US" dirty="0"/>
              <a:t>- Opened Facilities (IDs): [22, 26, 36, 45]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366F7B4-10ED-4EC3-5453-8A0E0B0BBB99}"/>
              </a:ext>
            </a:extLst>
          </p:cNvPr>
          <p:cNvSpPr txBox="1"/>
          <p:nvPr/>
        </p:nvSpPr>
        <p:spPr>
          <a:xfrm>
            <a:off x="9982200" y="3791271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15</a:t>
            </a:r>
            <a:br>
              <a:rPr lang="en-US" dirty="0"/>
            </a:br>
            <a:r>
              <a:rPr lang="en-US" dirty="0"/>
              <a:t>- Opened Facilities (IDs): [5, 6, 10, 12, 14, 15, 17, 22, 26, 33, 36, 40, 44, 45, 48]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2A1EEEF-92D2-270A-50EB-6B6222679213}"/>
              </a:ext>
            </a:extLst>
          </p:cNvPr>
          <p:cNvSpPr txBox="1"/>
          <p:nvPr/>
        </p:nvSpPr>
        <p:spPr>
          <a:xfrm>
            <a:off x="9982200" y="4610100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15</a:t>
            </a:r>
            <a:br>
              <a:rPr lang="en-US" dirty="0"/>
            </a:br>
            <a:r>
              <a:rPr lang="en-US" dirty="0"/>
              <a:t>- Opened Facilities (IDs): [5, 6, 10, 12, 14, 15, 17, 22, 26, 33, 36, 40, 44, 45, 48]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5B8E4BA-D2B6-E838-17A8-CD953325E5E8}"/>
              </a:ext>
            </a:extLst>
          </p:cNvPr>
          <p:cNvSpPr txBox="1"/>
          <p:nvPr/>
        </p:nvSpPr>
        <p:spPr>
          <a:xfrm>
            <a:off x="9982200" y="5428929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15</a:t>
            </a:r>
            <a:br>
              <a:rPr lang="en-US" dirty="0"/>
            </a:br>
            <a:r>
              <a:rPr lang="en-US" dirty="0"/>
              <a:t>- Opened Facilities (IDs): [0, 5, 6, 10, 12, 14, 17, 22, 24, 26, 33, 36, 44, 45, 48]</a:t>
            </a:r>
          </a:p>
        </p:txBody>
      </p:sp>
    </p:spTree>
    <p:extLst>
      <p:ext uri="{BB962C8B-B14F-4D97-AF65-F5344CB8AC3E}">
        <p14:creationId xmlns:p14="http://schemas.microsoft.com/office/powerpoint/2010/main" val="357456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7BF14-19A0-14ED-48A2-2F5CF63C1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211DEF3-02F7-D508-1942-D39E598F5F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72865EF-CFC8-D38F-210C-D44FF5D76D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85A68F4D-BDF2-BC72-26D2-E7B76B1D64C5}"/>
              </a:ext>
            </a:extLst>
          </p:cNvPr>
          <p:cNvSpPr txBox="1"/>
          <p:nvPr/>
        </p:nvSpPr>
        <p:spPr>
          <a:xfrm>
            <a:off x="3200400" y="495300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B572CA5E-2DAF-C575-EED5-9F30CAB8C3D2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27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3E5210-2313-6D41-B669-E70E4942DE98}"/>
              </a:ext>
            </a:extLst>
          </p:cNvPr>
          <p:cNvSpPr txBox="1"/>
          <p:nvPr/>
        </p:nvSpPr>
        <p:spPr>
          <a:xfrm>
            <a:off x="3200400" y="495300"/>
            <a:ext cx="11887200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  <a:p>
            <a:pPr algn="ctr"/>
            <a:r>
              <a:rPr lang="it-IT" sz="40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(Istanze medio)</a:t>
            </a:r>
          </a:p>
        </p:txBody>
      </p:sp>
      <p:pic>
        <p:nvPicPr>
          <p:cNvPr id="8" name="Immagine 7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22133429-6A64-E448-B4C8-24C4B5ED5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92"/>
          <a:stretch>
            <a:fillRect/>
          </a:stretch>
        </p:blipFill>
        <p:spPr>
          <a:xfrm>
            <a:off x="228600" y="3233235"/>
            <a:ext cx="8915400" cy="5828400"/>
          </a:xfrm>
          <a:prstGeom prst="rect">
            <a:avLst/>
          </a:prstGeom>
        </p:spPr>
      </p:pic>
      <p:pic>
        <p:nvPicPr>
          <p:cNvPr id="10" name="Immagine 9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E8CB3FFB-F0F0-315B-102B-FD1ECB8940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92"/>
          <a:stretch>
            <a:fillRect/>
          </a:stretch>
        </p:blipFill>
        <p:spPr>
          <a:xfrm>
            <a:off x="9296399" y="3233235"/>
            <a:ext cx="8915401" cy="58284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4C76FA86-4DA0-5A0F-6B19-A89E9DE9BC58}"/>
              </a:ext>
            </a:extLst>
          </p:cNvPr>
          <p:cNvSpPr txBox="1"/>
          <p:nvPr/>
        </p:nvSpPr>
        <p:spPr>
          <a:xfrm>
            <a:off x="982638" y="37719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11</a:t>
            </a:r>
            <a:br>
              <a:rPr lang="en-US" dirty="0"/>
            </a:br>
            <a:r>
              <a:rPr lang="en-US" dirty="0"/>
              <a:t>- Opened Facilities (IDs): [5, 10, 12, 14, 22, 24, 26, 33, 44, 45, 48]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977B557-D479-52C5-9DA8-17D4FF49AA57}"/>
              </a:ext>
            </a:extLst>
          </p:cNvPr>
          <p:cNvSpPr txBox="1"/>
          <p:nvPr/>
        </p:nvSpPr>
        <p:spPr>
          <a:xfrm>
            <a:off x="987187" y="4601314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11</a:t>
            </a:r>
            <a:br>
              <a:rPr lang="en-US" dirty="0"/>
            </a:br>
            <a:r>
              <a:rPr lang="en-US" dirty="0"/>
              <a:t>- Opened Facilities (IDs): [5, 10, 12, 14, 22, 24, 26, 33, 44, 45, 48]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448092C-AB49-C9A0-C466-2B1108A49FD2}"/>
              </a:ext>
            </a:extLst>
          </p:cNvPr>
          <p:cNvSpPr txBox="1"/>
          <p:nvPr/>
        </p:nvSpPr>
        <p:spPr>
          <a:xfrm>
            <a:off x="991736" y="5430728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12</a:t>
            </a:r>
            <a:br>
              <a:rPr lang="en-US" dirty="0"/>
            </a:br>
            <a:r>
              <a:rPr lang="en-US" dirty="0"/>
              <a:t>- Opened Facilities (IDs): [0, 5, 10, 12, 14, 22, 24, 26, 33, 36, 44, 45]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8FDDBFE-BC87-BF83-47E2-404A369A688D}"/>
              </a:ext>
            </a:extLst>
          </p:cNvPr>
          <p:cNvSpPr txBox="1"/>
          <p:nvPr/>
        </p:nvSpPr>
        <p:spPr>
          <a:xfrm>
            <a:off x="10067500" y="3791271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8</a:t>
            </a:r>
            <a:br>
              <a:rPr lang="en-US" dirty="0"/>
            </a:br>
            <a:r>
              <a:rPr lang="en-US" dirty="0"/>
              <a:t>- Opened Facilities (IDs): [5, 22, 24, 26, 33, 44, 45, 48]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70CCDF3-F9DA-8D08-BC5C-1B70C0B1B976}"/>
              </a:ext>
            </a:extLst>
          </p:cNvPr>
          <p:cNvSpPr txBox="1"/>
          <p:nvPr/>
        </p:nvSpPr>
        <p:spPr>
          <a:xfrm>
            <a:off x="10067500" y="4598904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8</a:t>
            </a:r>
            <a:br>
              <a:rPr lang="en-US" dirty="0"/>
            </a:br>
            <a:r>
              <a:rPr lang="en-US" dirty="0"/>
              <a:t>- Opened Facilities (IDs): [5, 22, 24, 26, 33, 44, 45, 48]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1C3A4F5-0647-AEB3-393F-BB499738DEB1}"/>
              </a:ext>
            </a:extLst>
          </p:cNvPr>
          <p:cNvSpPr txBox="1"/>
          <p:nvPr/>
        </p:nvSpPr>
        <p:spPr>
          <a:xfrm>
            <a:off x="10089109" y="5430727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8</a:t>
            </a:r>
            <a:br>
              <a:rPr lang="en-US" dirty="0"/>
            </a:br>
            <a:r>
              <a:rPr lang="en-US" dirty="0"/>
              <a:t>- Opened Facilities (IDs): [0, 5, 22, 24, 26, 36, 44, 45]</a:t>
            </a:r>
          </a:p>
        </p:txBody>
      </p:sp>
    </p:spTree>
    <p:extLst>
      <p:ext uri="{BB962C8B-B14F-4D97-AF65-F5344CB8AC3E}">
        <p14:creationId xmlns:p14="http://schemas.microsoft.com/office/powerpoint/2010/main" val="301393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15134-C0F6-216D-9E20-31C8586D3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7A8E0754-88E7-549E-ACEB-BD94FB103D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1C1DDB4-0785-35FA-CDA4-34957620FF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8171DE9A-B08B-A608-A0EA-02B231941E16}"/>
              </a:ext>
            </a:extLst>
          </p:cNvPr>
          <p:cNvSpPr txBox="1"/>
          <p:nvPr/>
        </p:nvSpPr>
        <p:spPr>
          <a:xfrm>
            <a:off x="3200400" y="495300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807CDF51-3AA2-DDF1-B066-AA4E1EE4C224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28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695A1-A947-3A57-C6CB-6E1052248AC9}"/>
              </a:ext>
            </a:extLst>
          </p:cNvPr>
          <p:cNvSpPr txBox="1"/>
          <p:nvPr/>
        </p:nvSpPr>
        <p:spPr>
          <a:xfrm>
            <a:off x="3200400" y="495300"/>
            <a:ext cx="11887200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  <a:p>
            <a:pPr algn="ctr"/>
            <a:r>
              <a:rPr lang="it-IT" sz="40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(Istanze medio)</a:t>
            </a:r>
          </a:p>
        </p:txBody>
      </p:sp>
      <p:pic>
        <p:nvPicPr>
          <p:cNvPr id="8" name="Immagine 7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6EAD0B30-E19E-83D5-AA80-F66B11F0C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72" y="3233235"/>
            <a:ext cx="10199699" cy="58284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68E4CF8D-4FA7-76B9-C12F-82DBA475D782}"/>
              </a:ext>
            </a:extLst>
          </p:cNvPr>
          <p:cNvSpPr txBox="1"/>
          <p:nvPr/>
        </p:nvSpPr>
        <p:spPr>
          <a:xfrm>
            <a:off x="1600200" y="37719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4</a:t>
            </a:r>
            <a:br>
              <a:rPr lang="en-US" dirty="0"/>
            </a:br>
            <a:r>
              <a:rPr lang="en-US" dirty="0"/>
              <a:t>- Opened Facilities (IDs): [22, 26, 36, 45]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8706A8C-F1DF-7583-95A7-EE60FB07B86A}"/>
              </a:ext>
            </a:extLst>
          </p:cNvPr>
          <p:cNvSpPr txBox="1"/>
          <p:nvPr/>
        </p:nvSpPr>
        <p:spPr>
          <a:xfrm>
            <a:off x="1600200" y="46101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4</a:t>
            </a:r>
            <a:br>
              <a:rPr lang="en-US" dirty="0"/>
            </a:br>
            <a:r>
              <a:rPr lang="en-US" dirty="0"/>
              <a:t>- Opened Facilities (IDs): [22, 26, 36, 45]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F13398D-6000-8C0A-A9B5-C9F64469CEFD}"/>
              </a:ext>
            </a:extLst>
          </p:cNvPr>
          <p:cNvSpPr txBox="1"/>
          <p:nvPr/>
        </p:nvSpPr>
        <p:spPr>
          <a:xfrm>
            <a:off x="1600200" y="5447731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5</a:t>
            </a:r>
            <a:br>
              <a:rPr lang="en-US" dirty="0"/>
            </a:br>
            <a:r>
              <a:rPr lang="en-US" dirty="0"/>
              <a:t>- Opened Facilities (IDs): [0, 22, 26, 36, 45]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FD43DD2-AC7C-D443-4D0E-A9D994BF9102}"/>
              </a:ext>
            </a:extLst>
          </p:cNvPr>
          <p:cNvSpPr txBox="1"/>
          <p:nvPr/>
        </p:nvSpPr>
        <p:spPr>
          <a:xfrm>
            <a:off x="10856516" y="3233235"/>
            <a:ext cx="5029200" cy="1039195"/>
          </a:xfrm>
          <a:prstGeom prst="rect">
            <a:avLst/>
          </a:prstGeom>
          <a:noFill/>
          <a:ln>
            <a:noFill/>
          </a:ln>
          <a:scene3d>
            <a:camera prst="isometricOffAxis2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24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S Qamus Bold"/>
              </a:rPr>
              <a:t>Gerarchia in base alle prestazioni:</a:t>
            </a:r>
          </a:p>
        </p:txBody>
      </p:sp>
      <p:graphicFrame>
        <p:nvGraphicFramePr>
          <p:cNvPr id="12" name="Diagramma 11">
            <a:extLst>
              <a:ext uri="{FF2B5EF4-FFF2-40B4-BE49-F238E27FC236}">
                <a16:creationId xmlns:a16="http://schemas.microsoft.com/office/drawing/2014/main" id="{11D2DC72-81C0-8D42-258D-66C0359102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7995366"/>
              </p:ext>
            </p:extLst>
          </p:nvPr>
        </p:nvGraphicFramePr>
        <p:xfrm>
          <a:off x="9753600" y="4610100"/>
          <a:ext cx="5257799" cy="4139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1865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  <p:bldGraphic spid="12" grpId="0">
        <p:bldAsOne/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70321-2A78-E161-0C24-32F212513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ACFC3E4-1364-9EF0-AF05-B6467FAA70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34682D0-1A73-E8A6-6BCC-6FFE2C4072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40B8F184-2432-2D3B-1964-F13A684F0C94}"/>
              </a:ext>
            </a:extLst>
          </p:cNvPr>
          <p:cNvSpPr txBox="1"/>
          <p:nvPr/>
        </p:nvSpPr>
        <p:spPr>
          <a:xfrm>
            <a:off x="3200400" y="495300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Gap per le istanze medio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8A6FAD9A-8751-5A4A-54F4-5200D9618170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29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6" name="Immagine 5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A89CE27D-7BF6-91B4-0AE8-F0E688A24F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599" y="1920325"/>
            <a:ext cx="13066802" cy="8138176"/>
          </a:xfrm>
          <a:prstGeom prst="rect">
            <a:avLst/>
          </a:prstGeom>
        </p:spPr>
      </p:pic>
      <p:sp>
        <p:nvSpPr>
          <p:cNvPr id="8" name="Ovale 7">
            <a:extLst>
              <a:ext uri="{FF2B5EF4-FFF2-40B4-BE49-F238E27FC236}">
                <a16:creationId xmlns:a16="http://schemas.microsoft.com/office/drawing/2014/main" id="{DB291014-6F34-651C-95D6-C2907A2E3EDB}"/>
              </a:ext>
            </a:extLst>
          </p:cNvPr>
          <p:cNvSpPr/>
          <p:nvPr/>
        </p:nvSpPr>
        <p:spPr>
          <a:xfrm>
            <a:off x="2438400" y="2247900"/>
            <a:ext cx="1087757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167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0B81C-2A70-19D9-4697-7865B5BF9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44CC2892-3B71-884C-AFF8-7CC901177C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CF9CC3C-427B-2C04-644A-4EDB4CD19F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81B7B1D4-6834-33D1-D8C9-DD432B551B97}"/>
              </a:ext>
            </a:extLst>
          </p:cNvPr>
          <p:cNvSpPr txBox="1"/>
          <p:nvPr/>
        </p:nvSpPr>
        <p:spPr>
          <a:xfrm>
            <a:off x="3200400" y="495300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Distribuzione di Gap per le istanze medio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98E95FDA-1B26-B97A-77B8-3EDB5B642C44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30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6" name="Immagine 5" descr="Immagine che contiene testo, schermata, linea, numero&#10;&#10;Il contenuto generato dall'IA potrebbe non essere corretto.">
            <a:extLst>
              <a:ext uri="{FF2B5EF4-FFF2-40B4-BE49-F238E27FC236}">
                <a16:creationId xmlns:a16="http://schemas.microsoft.com/office/drawing/2014/main" id="{32A9672F-46E6-18E1-1E49-DAA054B130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881" y="2069782"/>
            <a:ext cx="10872238" cy="722377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59821221-B47C-2A82-B50D-87B9B20C967C}"/>
              </a:ext>
            </a:extLst>
          </p:cNvPr>
          <p:cNvSpPr txBox="1"/>
          <p:nvPr/>
        </p:nvSpPr>
        <p:spPr>
          <a:xfrm>
            <a:off x="10744200" y="2552700"/>
            <a:ext cx="6698009" cy="40934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rgbClr val="0F3FD4"/>
                </a:solidFill>
              </a:rPr>
              <a:t>In conclusione, possiamo osservare:</a:t>
            </a:r>
          </a:p>
          <a:p>
            <a:endParaRPr lang="it-IT" sz="2000" dirty="0">
              <a:solidFill>
                <a:srgbClr val="0F3FD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 err="1">
                <a:solidFill>
                  <a:srgbClr val="0F3FD4"/>
                </a:solidFill>
              </a:rPr>
              <a:t>strong_rl</a:t>
            </a:r>
            <a:r>
              <a:rPr lang="it-IT" sz="2000" b="1" dirty="0">
                <a:solidFill>
                  <a:srgbClr val="0F3FD4"/>
                </a:solidFill>
              </a:rPr>
              <a:t> </a:t>
            </a:r>
            <a:r>
              <a:rPr lang="it-IT" sz="2000" dirty="0">
                <a:solidFill>
                  <a:srgbClr val="0F3FD4"/>
                </a:solidFill>
              </a:rPr>
              <a:t>e </a:t>
            </a:r>
            <a:r>
              <a:rPr lang="it-IT" sz="2000" b="1" dirty="0">
                <a:solidFill>
                  <a:srgbClr val="0F3FD4"/>
                </a:solidFill>
              </a:rPr>
              <a:t>erlenkotter</a:t>
            </a:r>
            <a:r>
              <a:rPr lang="it-IT" sz="2000" dirty="0">
                <a:solidFill>
                  <a:srgbClr val="0F3FD4"/>
                </a:solidFill>
              </a:rPr>
              <a:t> (I Migliori Lower Bounds): Il loro gap di dualità è quasi sempre nullo o inferiore all'1%. Forniscono stime dal basso estremamente accurate e affidabili.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>
                <a:solidFill>
                  <a:srgbClr val="0F3FD4"/>
                </a:solidFill>
              </a:rPr>
              <a:t>greedy</a:t>
            </a:r>
            <a:r>
              <a:rPr lang="it-IT" sz="2000" dirty="0">
                <a:solidFill>
                  <a:srgbClr val="0F3FD4"/>
                </a:solidFill>
              </a:rPr>
              <a:t> (L'Upper Bound): L'euristica greedy ha un gap di </a:t>
            </a:r>
            <a:r>
              <a:rPr lang="it-IT" sz="2000" dirty="0" err="1">
                <a:solidFill>
                  <a:srgbClr val="0F3FD4"/>
                </a:solidFill>
              </a:rPr>
              <a:t>ottimalità</a:t>
            </a:r>
            <a:r>
              <a:rPr lang="it-IT" sz="2000" dirty="0">
                <a:solidFill>
                  <a:srgbClr val="0F3FD4"/>
                </a:solidFill>
              </a:rPr>
              <a:t> contenuto tra l'1% e il 2.5%. La sua qualità è buona.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 err="1">
                <a:solidFill>
                  <a:srgbClr val="0F3FD4"/>
                </a:solidFill>
              </a:rPr>
              <a:t>weak_rl</a:t>
            </a:r>
            <a:r>
              <a:rPr lang="it-IT" sz="2000" b="1" dirty="0">
                <a:solidFill>
                  <a:srgbClr val="0F3FD4"/>
                </a:solidFill>
              </a:rPr>
              <a:t> </a:t>
            </a:r>
            <a:r>
              <a:rPr lang="it-IT" sz="2000" dirty="0">
                <a:solidFill>
                  <a:srgbClr val="0F3FD4"/>
                </a:solidFill>
              </a:rPr>
              <a:t>(Il Peggiore): Il rilassamento debole si dimostra completamente inefficace su queste istanze. Il box plot mostra un gap di dualità mediano di circa il 28%, con valori che superano il 30%. È un limite troppo "lontano" per essere utile.</a:t>
            </a:r>
          </a:p>
        </p:txBody>
      </p:sp>
    </p:spTree>
    <p:extLst>
      <p:ext uri="{BB962C8B-B14F-4D97-AF65-F5344CB8AC3E}">
        <p14:creationId xmlns:p14="http://schemas.microsoft.com/office/powerpoint/2010/main" val="123024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C8F25-6AAE-6FE5-9FD7-6CED994D8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DD7B6F19-5886-F03A-8D36-6936EEE1F0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A67386F-A2C8-1740-4445-BDB22BD739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75881DE0-56F3-7FDD-193B-F446B2B63C60}"/>
              </a:ext>
            </a:extLst>
          </p:cNvPr>
          <p:cNvSpPr txBox="1"/>
          <p:nvPr/>
        </p:nvSpPr>
        <p:spPr>
          <a:xfrm>
            <a:off x="2552700" y="3984625"/>
            <a:ext cx="13182600" cy="2317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8800" b="1" u="sng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</a:t>
            </a:r>
          </a:p>
          <a:p>
            <a:pPr algn="ctr">
              <a:lnSpc>
                <a:spcPts val="9000"/>
              </a:lnSpc>
            </a:pPr>
            <a:r>
              <a:rPr lang="it-IT" sz="8800" b="1" u="sng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per le singole istanze big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C1B0B7E8-CD1E-AA24-8CFF-6D8AE97473EA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31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878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A91CC-EF22-3665-DB52-F736ED0CA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6B34ED9D-48F1-D57D-5A6F-D930799AFD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5CF0226-0572-AEF1-CEA8-E91431C13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42C365AC-A33B-E924-38AC-9156971F4B09}"/>
              </a:ext>
            </a:extLst>
          </p:cNvPr>
          <p:cNvSpPr txBox="1"/>
          <p:nvPr/>
        </p:nvSpPr>
        <p:spPr>
          <a:xfrm>
            <a:off x="3200400" y="495300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5D8A038C-34FC-0E20-9D0C-3D9B5FBF3DF7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32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2FFDB9-D469-FABA-BE37-D8FDBC099708}"/>
              </a:ext>
            </a:extLst>
          </p:cNvPr>
          <p:cNvSpPr txBox="1"/>
          <p:nvPr/>
        </p:nvSpPr>
        <p:spPr>
          <a:xfrm>
            <a:off x="3200400" y="495300"/>
            <a:ext cx="11887200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  <a:p>
            <a:pPr algn="ctr"/>
            <a:r>
              <a:rPr lang="it-IT" sz="40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(Istanze big)</a:t>
            </a:r>
          </a:p>
        </p:txBody>
      </p:sp>
      <p:pic>
        <p:nvPicPr>
          <p:cNvPr id="8" name="Immagine 7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6916BE5A-9DCD-B4E8-D33A-9069B6354E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92"/>
          <a:stretch>
            <a:fillRect/>
          </a:stretch>
        </p:blipFill>
        <p:spPr>
          <a:xfrm>
            <a:off x="152400" y="3233235"/>
            <a:ext cx="8915400" cy="5828400"/>
          </a:xfrm>
          <a:prstGeom prst="rect">
            <a:avLst/>
          </a:prstGeom>
        </p:spPr>
      </p:pic>
      <p:pic>
        <p:nvPicPr>
          <p:cNvPr id="10" name="Immagine 9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040FE408-3E16-FA27-4EDB-11E56EF0D5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92"/>
          <a:stretch>
            <a:fillRect/>
          </a:stretch>
        </p:blipFill>
        <p:spPr>
          <a:xfrm>
            <a:off x="9220200" y="3233235"/>
            <a:ext cx="8915401" cy="58284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8FC0BDC9-F18B-6DD0-23FC-41A4A5C840EA}"/>
              </a:ext>
            </a:extLst>
          </p:cNvPr>
          <p:cNvSpPr txBox="1"/>
          <p:nvPr/>
        </p:nvSpPr>
        <p:spPr>
          <a:xfrm>
            <a:off x="914400" y="37719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3</a:t>
            </a:r>
            <a:br>
              <a:rPr lang="en-US" dirty="0"/>
            </a:br>
            <a:r>
              <a:rPr lang="en-US" dirty="0"/>
              <a:t>- Opened Facilities (IDs): [24, 34, 65]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875555A-4A6C-4E02-4EDF-A7F3525222C3}"/>
              </a:ext>
            </a:extLst>
          </p:cNvPr>
          <p:cNvSpPr txBox="1"/>
          <p:nvPr/>
        </p:nvSpPr>
        <p:spPr>
          <a:xfrm>
            <a:off x="914400" y="46101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3</a:t>
            </a:r>
            <a:br>
              <a:rPr lang="en-US" dirty="0"/>
            </a:br>
            <a:r>
              <a:rPr lang="en-US" dirty="0"/>
              <a:t>- Opened Facilities (IDs): [24, 34, 65]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319671A-2321-C815-0053-0B2ECFE0C4A2}"/>
              </a:ext>
            </a:extLst>
          </p:cNvPr>
          <p:cNvSpPr txBox="1"/>
          <p:nvPr/>
        </p:nvSpPr>
        <p:spPr>
          <a:xfrm>
            <a:off x="914400" y="54483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3</a:t>
            </a:r>
            <a:br>
              <a:rPr lang="en-US" dirty="0"/>
            </a:br>
            <a:r>
              <a:rPr lang="en-US" dirty="0"/>
              <a:t>- Opened Facilities (IDs): [0, 24, 34]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FA04E39-79D7-1AFD-FC8E-5FD2155481F1}"/>
              </a:ext>
            </a:extLst>
          </p:cNvPr>
          <p:cNvSpPr txBox="1"/>
          <p:nvPr/>
        </p:nvSpPr>
        <p:spPr>
          <a:xfrm>
            <a:off x="9982200" y="3771899"/>
            <a:ext cx="739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14</a:t>
            </a:r>
            <a:br>
              <a:rPr lang="en-US" dirty="0"/>
            </a:br>
            <a:r>
              <a:rPr lang="en-US" dirty="0"/>
              <a:t>- Opened Facilities (IDs): [19, 33, 39, 41, 48, 50, 51, 55, 56, 64, 68, 72, 73, 74]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88A8098-A95A-5315-8DFC-242B9EB21737}"/>
              </a:ext>
            </a:extLst>
          </p:cNvPr>
          <p:cNvSpPr txBox="1"/>
          <p:nvPr/>
        </p:nvSpPr>
        <p:spPr>
          <a:xfrm>
            <a:off x="9982200" y="4610100"/>
            <a:ext cx="739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14</a:t>
            </a:r>
            <a:br>
              <a:rPr lang="en-US" dirty="0"/>
            </a:br>
            <a:r>
              <a:rPr lang="en-US" dirty="0"/>
              <a:t>- Opened Facilities (IDs): [19, 33, 39, 41, 48, 50, 51, 55, 56, 64, 68, 72, 73, 74]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D6EDD2F-D8DC-E73C-547E-6617CA5C2205}"/>
              </a:ext>
            </a:extLst>
          </p:cNvPr>
          <p:cNvSpPr txBox="1"/>
          <p:nvPr/>
        </p:nvSpPr>
        <p:spPr>
          <a:xfrm>
            <a:off x="9982200" y="5448301"/>
            <a:ext cx="7625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15</a:t>
            </a:r>
            <a:br>
              <a:rPr lang="en-US" dirty="0"/>
            </a:br>
            <a:r>
              <a:rPr lang="en-US" dirty="0"/>
              <a:t>- Opened Facilities (IDs): [0, 19, 39, 40, 41, 48, 50, 51, 55, 56, 60, 68, 72, 73, 74]</a:t>
            </a:r>
          </a:p>
        </p:txBody>
      </p:sp>
    </p:spTree>
    <p:extLst>
      <p:ext uri="{BB962C8B-B14F-4D97-AF65-F5344CB8AC3E}">
        <p14:creationId xmlns:p14="http://schemas.microsoft.com/office/powerpoint/2010/main" val="80539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32C7F-8F74-C276-C674-D876D05D7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B3FBB52A-E191-9836-08DE-C292B19350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57D7B3A-96CB-4818-7BDB-C02F22C255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984E9D0D-95E3-ED4F-B0D1-D3C76D101FE8}"/>
              </a:ext>
            </a:extLst>
          </p:cNvPr>
          <p:cNvSpPr txBox="1"/>
          <p:nvPr/>
        </p:nvSpPr>
        <p:spPr>
          <a:xfrm>
            <a:off x="3200400" y="495300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0AB53D4D-BDE0-E31E-5D16-5ED539D2E090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33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045A46-B8EB-BCD7-6E1B-D235663C2EC0}"/>
              </a:ext>
            </a:extLst>
          </p:cNvPr>
          <p:cNvSpPr txBox="1"/>
          <p:nvPr/>
        </p:nvSpPr>
        <p:spPr>
          <a:xfrm>
            <a:off x="3200400" y="495300"/>
            <a:ext cx="11887200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  <a:p>
            <a:pPr algn="ctr"/>
            <a:r>
              <a:rPr lang="it-IT" sz="40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(Istanze big)</a:t>
            </a:r>
          </a:p>
        </p:txBody>
      </p:sp>
      <p:pic>
        <p:nvPicPr>
          <p:cNvPr id="8" name="Immagine 7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C53762D8-648B-9636-EA5A-FF17B0CBB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664"/>
          <a:stretch>
            <a:fillRect/>
          </a:stretch>
        </p:blipFill>
        <p:spPr>
          <a:xfrm>
            <a:off x="218951" y="3233235"/>
            <a:ext cx="8907989" cy="5828400"/>
          </a:xfrm>
          <a:prstGeom prst="rect">
            <a:avLst/>
          </a:prstGeom>
        </p:spPr>
      </p:pic>
      <p:pic>
        <p:nvPicPr>
          <p:cNvPr id="10" name="Immagine 9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469C9A65-1CB9-EBF8-6AC8-E9FEFB8164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664"/>
          <a:stretch>
            <a:fillRect/>
          </a:stretch>
        </p:blipFill>
        <p:spPr>
          <a:xfrm>
            <a:off x="9227611" y="3233235"/>
            <a:ext cx="8907989" cy="58284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D9D26AD-3118-89C1-15AB-A2D92E3240F5}"/>
              </a:ext>
            </a:extLst>
          </p:cNvPr>
          <p:cNvSpPr txBox="1"/>
          <p:nvPr/>
        </p:nvSpPr>
        <p:spPr>
          <a:xfrm>
            <a:off x="982638" y="37719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3</a:t>
            </a:r>
            <a:br>
              <a:rPr lang="en-US" dirty="0"/>
            </a:br>
            <a:r>
              <a:rPr lang="en-US" dirty="0"/>
              <a:t>- Opened Facilities (IDs): [14, 42, 65]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A099091-4E18-3310-D4F5-68A0AA87C1CA}"/>
              </a:ext>
            </a:extLst>
          </p:cNvPr>
          <p:cNvSpPr txBox="1"/>
          <p:nvPr/>
        </p:nvSpPr>
        <p:spPr>
          <a:xfrm>
            <a:off x="990600" y="46101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3</a:t>
            </a:r>
            <a:br>
              <a:rPr lang="en-US" dirty="0"/>
            </a:br>
            <a:r>
              <a:rPr lang="en-US" dirty="0"/>
              <a:t>- Opened Facilities (IDs): [14, 42, 65]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54E376E-C36F-49E5-C5B6-FB3F84101F24}"/>
              </a:ext>
            </a:extLst>
          </p:cNvPr>
          <p:cNvSpPr txBox="1"/>
          <p:nvPr/>
        </p:nvSpPr>
        <p:spPr>
          <a:xfrm>
            <a:off x="990600" y="5447731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3</a:t>
            </a:r>
            <a:br>
              <a:rPr lang="en-US" dirty="0"/>
            </a:br>
            <a:r>
              <a:rPr lang="en-US" dirty="0"/>
              <a:t>- Opened Facilities (IDs): [0, 14, 42]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23BD0C8-BEDE-2AED-9C11-03B7005F075B}"/>
              </a:ext>
            </a:extLst>
          </p:cNvPr>
          <p:cNvSpPr txBox="1"/>
          <p:nvPr/>
        </p:nvSpPr>
        <p:spPr>
          <a:xfrm>
            <a:off x="9982200" y="3771899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4</a:t>
            </a:r>
            <a:br>
              <a:rPr lang="en-US" dirty="0"/>
            </a:br>
            <a:r>
              <a:rPr lang="en-US" dirty="0"/>
              <a:t>- Opened Facilities (IDs): [5, 49, 65, 84]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20A4838-D7AE-241C-56BE-18BD045781A6}"/>
              </a:ext>
            </a:extLst>
          </p:cNvPr>
          <p:cNvSpPr txBox="1"/>
          <p:nvPr/>
        </p:nvSpPr>
        <p:spPr>
          <a:xfrm>
            <a:off x="9982200" y="46101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4</a:t>
            </a:r>
            <a:br>
              <a:rPr lang="en-US" dirty="0"/>
            </a:br>
            <a:r>
              <a:rPr lang="en-US" dirty="0"/>
              <a:t>- Opened Facilities (IDs): [5, 49, 65, 84]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26AF0E-F60F-F283-7579-F7390C36216D}"/>
              </a:ext>
            </a:extLst>
          </p:cNvPr>
          <p:cNvSpPr txBox="1"/>
          <p:nvPr/>
        </p:nvSpPr>
        <p:spPr>
          <a:xfrm>
            <a:off x="9982200" y="5448301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4</a:t>
            </a:r>
            <a:br>
              <a:rPr lang="en-US" dirty="0"/>
            </a:br>
            <a:r>
              <a:rPr lang="en-US" dirty="0"/>
              <a:t>- Opened Facilities (IDs): [0, 5, 49, 84]</a:t>
            </a:r>
          </a:p>
        </p:txBody>
      </p:sp>
    </p:spTree>
    <p:extLst>
      <p:ext uri="{BB962C8B-B14F-4D97-AF65-F5344CB8AC3E}">
        <p14:creationId xmlns:p14="http://schemas.microsoft.com/office/powerpoint/2010/main" val="380180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4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0E247-5EC7-2599-14C7-87162B3CC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19D2144E-2378-5206-5270-EEE3D6B4E6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B5EF43A-7B42-C9C4-294D-995311F25F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7AF8358E-1782-2ACA-D320-811C715B23AB}"/>
              </a:ext>
            </a:extLst>
          </p:cNvPr>
          <p:cNvSpPr txBox="1"/>
          <p:nvPr/>
        </p:nvSpPr>
        <p:spPr>
          <a:xfrm>
            <a:off x="3200400" y="495300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33EAEE61-74B8-FA21-055F-ADB211DC71DC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34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886C0-51E3-F78C-D9D6-DFB9B1ABB9FD}"/>
              </a:ext>
            </a:extLst>
          </p:cNvPr>
          <p:cNvSpPr txBox="1"/>
          <p:nvPr/>
        </p:nvSpPr>
        <p:spPr>
          <a:xfrm>
            <a:off x="3200400" y="495300"/>
            <a:ext cx="11887200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  <a:p>
            <a:pPr algn="ctr"/>
            <a:r>
              <a:rPr lang="it-IT" sz="40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(Istanze big)</a:t>
            </a:r>
          </a:p>
        </p:txBody>
      </p:sp>
      <p:pic>
        <p:nvPicPr>
          <p:cNvPr id="8" name="Immagine 7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14359B26-8555-AFB5-361A-5373E245F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92"/>
          <a:stretch>
            <a:fillRect/>
          </a:stretch>
        </p:blipFill>
        <p:spPr>
          <a:xfrm>
            <a:off x="152400" y="3233235"/>
            <a:ext cx="8915400" cy="5828400"/>
          </a:xfrm>
          <a:prstGeom prst="rect">
            <a:avLst/>
          </a:prstGeom>
        </p:spPr>
      </p:pic>
      <p:pic>
        <p:nvPicPr>
          <p:cNvPr id="10" name="Immagine 9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66C88CDD-E242-48F1-2340-F2DE945BD4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92"/>
          <a:stretch>
            <a:fillRect/>
          </a:stretch>
        </p:blipFill>
        <p:spPr>
          <a:xfrm>
            <a:off x="9220200" y="3234941"/>
            <a:ext cx="8915400" cy="58284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1E70B0E-3E52-1C8B-72A6-7F1C07906D60}"/>
              </a:ext>
            </a:extLst>
          </p:cNvPr>
          <p:cNvSpPr txBox="1"/>
          <p:nvPr/>
        </p:nvSpPr>
        <p:spPr>
          <a:xfrm>
            <a:off x="914400" y="37719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3</a:t>
            </a:r>
            <a:br>
              <a:rPr lang="en-US" dirty="0"/>
            </a:br>
            <a:r>
              <a:rPr lang="en-US" dirty="0"/>
              <a:t>- Opened Facilities (IDs): [5, 12, 88]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4FD8E58-27B7-9BD8-7DBF-FF0AA2B90D5D}"/>
              </a:ext>
            </a:extLst>
          </p:cNvPr>
          <p:cNvSpPr txBox="1"/>
          <p:nvPr/>
        </p:nvSpPr>
        <p:spPr>
          <a:xfrm>
            <a:off x="914400" y="46101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3</a:t>
            </a:r>
            <a:br>
              <a:rPr lang="en-US" dirty="0"/>
            </a:br>
            <a:r>
              <a:rPr lang="en-US" dirty="0"/>
              <a:t>- Opened Facilities (IDs): [5, 12, 88]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A9D7633-3C21-EF60-2E4E-329AEA75E0C2}"/>
              </a:ext>
            </a:extLst>
          </p:cNvPr>
          <p:cNvSpPr txBox="1"/>
          <p:nvPr/>
        </p:nvSpPr>
        <p:spPr>
          <a:xfrm>
            <a:off x="914400" y="54483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3</a:t>
            </a:r>
            <a:br>
              <a:rPr lang="en-US" dirty="0"/>
            </a:br>
            <a:r>
              <a:rPr lang="en-US" dirty="0"/>
              <a:t>- Opened Facilities (IDs): [0, 5, 88]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A20D3F7-5957-1624-7C68-EDBB6E23FDDE}"/>
              </a:ext>
            </a:extLst>
          </p:cNvPr>
          <p:cNvSpPr txBox="1"/>
          <p:nvPr/>
        </p:nvSpPr>
        <p:spPr>
          <a:xfrm>
            <a:off x="9982200" y="37719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9</a:t>
            </a:r>
            <a:br>
              <a:rPr lang="en-US" dirty="0"/>
            </a:br>
            <a:r>
              <a:rPr lang="en-US" dirty="0"/>
              <a:t>- Opened Facilities (IDs): [22, 28, 41, 49, 51, 78, 86, 90, 91]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F91ED42-F5B7-9B8F-95EC-1867DBA9E264}"/>
              </a:ext>
            </a:extLst>
          </p:cNvPr>
          <p:cNvSpPr txBox="1"/>
          <p:nvPr/>
        </p:nvSpPr>
        <p:spPr>
          <a:xfrm>
            <a:off x="9982200" y="46101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9</a:t>
            </a:r>
            <a:br>
              <a:rPr lang="en-US" dirty="0"/>
            </a:br>
            <a:r>
              <a:rPr lang="en-US" dirty="0"/>
              <a:t>- Opened Facilities (IDs): [22, 28, 41, 49, 51, 78, 86, 90, 91]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6806439-F8C4-B6BA-A7E2-6E86648A04A8}"/>
              </a:ext>
            </a:extLst>
          </p:cNvPr>
          <p:cNvSpPr txBox="1"/>
          <p:nvPr/>
        </p:nvSpPr>
        <p:spPr>
          <a:xfrm>
            <a:off x="9982200" y="54483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9</a:t>
            </a:r>
            <a:br>
              <a:rPr lang="en-US" dirty="0"/>
            </a:br>
            <a:r>
              <a:rPr lang="en-US" dirty="0"/>
              <a:t>- Opened Facilities (IDs): [0, 22, 49, 51, 52, 78, 86, 90, 91]</a:t>
            </a:r>
          </a:p>
        </p:txBody>
      </p:sp>
    </p:spTree>
    <p:extLst>
      <p:ext uri="{BB962C8B-B14F-4D97-AF65-F5344CB8AC3E}">
        <p14:creationId xmlns:p14="http://schemas.microsoft.com/office/powerpoint/2010/main" val="49420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DEBFC-7507-20F1-F7E4-B16E1FF15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4E884F3D-4F07-8EBC-BB8D-DB7625274E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18CE95C-2624-0E98-9DB6-1812CD70FA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35855FC1-A9D4-9B08-F0B2-0772A99F7972}"/>
              </a:ext>
            </a:extLst>
          </p:cNvPr>
          <p:cNvSpPr txBox="1"/>
          <p:nvPr/>
        </p:nvSpPr>
        <p:spPr>
          <a:xfrm>
            <a:off x="3200400" y="495300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5EDCA435-F21D-8785-94FC-D9FC921B772F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35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318F0E-981A-3B17-B5C3-CE05EFD07C7A}"/>
              </a:ext>
            </a:extLst>
          </p:cNvPr>
          <p:cNvSpPr txBox="1"/>
          <p:nvPr/>
        </p:nvSpPr>
        <p:spPr>
          <a:xfrm>
            <a:off x="3200400" y="495300"/>
            <a:ext cx="11887200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Performance per le singole istanze</a:t>
            </a:r>
          </a:p>
          <a:p>
            <a:pPr algn="ctr"/>
            <a:r>
              <a:rPr lang="it-IT" sz="40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(Istanze big)</a:t>
            </a:r>
          </a:p>
        </p:txBody>
      </p:sp>
      <p:pic>
        <p:nvPicPr>
          <p:cNvPr id="8" name="Immagine 7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3E11D932-7380-306D-9D99-F8586E9B42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01" y="3233235"/>
            <a:ext cx="10199699" cy="58284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92F83F8-0910-D8B1-2E13-678085D93FDB}"/>
              </a:ext>
            </a:extLst>
          </p:cNvPr>
          <p:cNvSpPr txBox="1"/>
          <p:nvPr/>
        </p:nvSpPr>
        <p:spPr>
          <a:xfrm>
            <a:off x="1382701" y="37719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5</a:t>
            </a:r>
            <a:br>
              <a:rPr lang="en-US" dirty="0"/>
            </a:br>
            <a:r>
              <a:rPr lang="en-US" dirty="0"/>
              <a:t>- Opened Facilities (IDs): [0, 45, 70, 75, 96]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EF4B54F-6894-86E4-0D07-6251BA088370}"/>
              </a:ext>
            </a:extLst>
          </p:cNvPr>
          <p:cNvSpPr txBox="1"/>
          <p:nvPr/>
        </p:nvSpPr>
        <p:spPr>
          <a:xfrm>
            <a:off x="1382701" y="46101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5</a:t>
            </a:r>
            <a:br>
              <a:rPr lang="en-US" dirty="0"/>
            </a:br>
            <a:r>
              <a:rPr lang="en-US" dirty="0"/>
              <a:t>- Opened Facilities (IDs): [0, 45, 70, 75, 96]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CC200A1-3851-DB67-C579-E806D514BD73}"/>
              </a:ext>
            </a:extLst>
          </p:cNvPr>
          <p:cNvSpPr txBox="1"/>
          <p:nvPr/>
        </p:nvSpPr>
        <p:spPr>
          <a:xfrm>
            <a:off x="1382701" y="5448300"/>
            <a:ext cx="648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Opened Facilities Count: 5</a:t>
            </a:r>
            <a:br>
              <a:rPr lang="en-US" dirty="0"/>
            </a:br>
            <a:r>
              <a:rPr lang="en-US" dirty="0"/>
              <a:t>- Opened Facilities (IDs): [0, 45, 70, 75, 96]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E7AE576-3465-F35D-AA97-284F57BF237B}"/>
              </a:ext>
            </a:extLst>
          </p:cNvPr>
          <p:cNvSpPr txBox="1"/>
          <p:nvPr/>
        </p:nvSpPr>
        <p:spPr>
          <a:xfrm>
            <a:off x="10856516" y="3233235"/>
            <a:ext cx="5029200" cy="1039195"/>
          </a:xfrm>
          <a:prstGeom prst="rect">
            <a:avLst/>
          </a:prstGeom>
          <a:noFill/>
          <a:ln>
            <a:noFill/>
          </a:ln>
          <a:scene3d>
            <a:camera prst="isometricOffAxis2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24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S Qamus Bold"/>
              </a:rPr>
              <a:t>Gerarchia in base alle prestazioni:</a:t>
            </a:r>
          </a:p>
        </p:txBody>
      </p:sp>
      <p:graphicFrame>
        <p:nvGraphicFramePr>
          <p:cNvPr id="12" name="Diagramma 11">
            <a:extLst>
              <a:ext uri="{FF2B5EF4-FFF2-40B4-BE49-F238E27FC236}">
                <a16:creationId xmlns:a16="http://schemas.microsoft.com/office/drawing/2014/main" id="{11EEB8E1-26D7-EDF3-14C7-2AC53790D8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4247060"/>
              </p:ext>
            </p:extLst>
          </p:nvPr>
        </p:nvGraphicFramePr>
        <p:xfrm>
          <a:off x="9753600" y="4610100"/>
          <a:ext cx="5257799" cy="4139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8562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Graphic spid="12" grpId="0">
        <p:bldAsOne/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BB0B7-FF3D-553E-EED3-EC70C11EB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94FDB3B3-48E5-FE30-97DB-7184ADF4B4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A9BE20F-E263-34C2-28B9-5D59F2CD3D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7EA9E8B5-A93A-F7EF-0687-DCE910888E59}"/>
              </a:ext>
            </a:extLst>
          </p:cNvPr>
          <p:cNvSpPr txBox="1"/>
          <p:nvPr/>
        </p:nvSpPr>
        <p:spPr>
          <a:xfrm>
            <a:off x="3200400" y="495300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di Gap per le istanze big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7CEE3542-5030-8784-4337-6A221D76CA5D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36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6" name="Immagine 5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E39AAF42-9EFE-181D-951B-9B3F9E1F82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866900"/>
            <a:ext cx="13066802" cy="8138176"/>
          </a:xfrm>
          <a:prstGeom prst="rect">
            <a:avLst/>
          </a:prstGeom>
        </p:spPr>
      </p:pic>
      <p:sp>
        <p:nvSpPr>
          <p:cNvPr id="8" name="Ovale 7">
            <a:extLst>
              <a:ext uri="{FF2B5EF4-FFF2-40B4-BE49-F238E27FC236}">
                <a16:creationId xmlns:a16="http://schemas.microsoft.com/office/drawing/2014/main" id="{D28E1FCE-54CC-473D-696A-30BF7EC79F67}"/>
              </a:ext>
            </a:extLst>
          </p:cNvPr>
          <p:cNvSpPr/>
          <p:nvPr/>
        </p:nvSpPr>
        <p:spPr>
          <a:xfrm>
            <a:off x="2646043" y="2019300"/>
            <a:ext cx="1087757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406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6C942-9C81-72D1-E133-C6D5EF532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62E8E83D-FAE9-3BC0-70B8-D7BADE6E6E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4AA47DF-D376-9DC5-A4BB-B0C55CE5D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ECAA4FAB-FF3A-D126-9DBE-308BC909BA86}"/>
              </a:ext>
            </a:extLst>
          </p:cNvPr>
          <p:cNvSpPr txBox="1"/>
          <p:nvPr/>
        </p:nvSpPr>
        <p:spPr>
          <a:xfrm>
            <a:off x="3200400" y="495300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Distribuzione di Gap per le istanze big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F6CDBBCE-CF8F-5D0F-DD47-D8A0B44DC0E3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37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8" name="Immagine 7" descr="Immagine che contiene testo, schermata, numero, linea&#10;&#10;Il contenuto generato dall'IA potrebbe non essere corretto.">
            <a:extLst>
              <a:ext uri="{FF2B5EF4-FFF2-40B4-BE49-F238E27FC236}">
                <a16:creationId xmlns:a16="http://schemas.microsoft.com/office/drawing/2014/main" id="{90F3362C-E647-8F4F-95D0-64FD5165A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881" y="2247900"/>
            <a:ext cx="10872238" cy="722377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7C8E5DF-B408-1C1D-A8F5-EA7DC726048F}"/>
              </a:ext>
            </a:extLst>
          </p:cNvPr>
          <p:cNvSpPr txBox="1"/>
          <p:nvPr/>
        </p:nvSpPr>
        <p:spPr>
          <a:xfrm>
            <a:off x="10287000" y="2743853"/>
            <a:ext cx="7307609" cy="47089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rgbClr val="0F3FD4"/>
                </a:solidFill>
              </a:rPr>
              <a:t>In conclusione, possiamo osservare:</a:t>
            </a:r>
          </a:p>
          <a:p>
            <a:endParaRPr lang="it-IT" sz="2000" dirty="0">
              <a:solidFill>
                <a:srgbClr val="0F3FD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 err="1">
                <a:solidFill>
                  <a:srgbClr val="0F3FD4"/>
                </a:solidFill>
              </a:rPr>
              <a:t>strong_rl</a:t>
            </a:r>
            <a:r>
              <a:rPr lang="it-IT" sz="2000" b="1" dirty="0">
                <a:solidFill>
                  <a:srgbClr val="0F3FD4"/>
                </a:solidFill>
              </a:rPr>
              <a:t> </a:t>
            </a:r>
            <a:r>
              <a:rPr lang="it-IT" sz="2000" dirty="0">
                <a:solidFill>
                  <a:srgbClr val="0F3FD4"/>
                </a:solidFill>
              </a:rPr>
              <a:t>e </a:t>
            </a:r>
            <a:r>
              <a:rPr lang="it-IT" sz="2000" b="1" dirty="0">
                <a:solidFill>
                  <a:srgbClr val="0F3FD4"/>
                </a:solidFill>
              </a:rPr>
              <a:t>erlenkotter</a:t>
            </a:r>
            <a:r>
              <a:rPr lang="it-IT" sz="2000" dirty="0">
                <a:solidFill>
                  <a:srgbClr val="0F3FD4"/>
                </a:solidFill>
              </a:rPr>
              <a:t> (I Migliori): I grafici mostrano che entrambi continuano a produrre lower bound di altissima qualità, con un gap di dualità quasi sempre inferiore al 2%. Sono stabili e affidabili anche su problemi complessi.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>
                <a:solidFill>
                  <a:srgbClr val="0F3FD4"/>
                </a:solidFill>
              </a:rPr>
              <a:t>greedy</a:t>
            </a:r>
            <a:r>
              <a:rPr lang="it-IT" sz="2000" dirty="0">
                <a:solidFill>
                  <a:srgbClr val="0F3FD4"/>
                </a:solidFill>
              </a:rPr>
              <a:t> (Peggioramento Visibile): La qualità dell'upper bound dell'euristica greedy si degrada significativamente. Il box plot mostra un gap di </a:t>
            </a:r>
            <a:r>
              <a:rPr lang="it-IT" sz="2000" dirty="0" err="1">
                <a:solidFill>
                  <a:srgbClr val="0F3FD4"/>
                </a:solidFill>
              </a:rPr>
              <a:t>ottimalità</a:t>
            </a:r>
            <a:r>
              <a:rPr lang="it-IT" sz="2000" dirty="0">
                <a:solidFill>
                  <a:srgbClr val="0F3FD4"/>
                </a:solidFill>
              </a:rPr>
              <a:t> mediano intorno al 10%, con picchi che superano il 20%. Questo dimostra che il suo approccio miope non scala bene in termini di qualità.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 err="1">
                <a:solidFill>
                  <a:srgbClr val="0F3FD4"/>
                </a:solidFill>
              </a:rPr>
              <a:t>weak_rl</a:t>
            </a:r>
            <a:r>
              <a:rPr lang="it-IT" sz="2000" b="1" dirty="0">
                <a:solidFill>
                  <a:srgbClr val="0F3FD4"/>
                </a:solidFill>
              </a:rPr>
              <a:t> </a:t>
            </a:r>
            <a:r>
              <a:rPr lang="it-IT" sz="2000" dirty="0">
                <a:solidFill>
                  <a:srgbClr val="0F3FD4"/>
                </a:solidFill>
              </a:rPr>
              <a:t>(Il Peggiore): Il rilassamento debole è completamente inutilizzabile. Il suo gap di dualità è enorme e stabile intorno al 60-70%. È un limite talmente basso da non fornire alcuna informazione utile sul valore ottimo.</a:t>
            </a:r>
          </a:p>
        </p:txBody>
      </p:sp>
    </p:spTree>
    <p:extLst>
      <p:ext uri="{BB962C8B-B14F-4D97-AF65-F5344CB8AC3E}">
        <p14:creationId xmlns:p14="http://schemas.microsoft.com/office/powerpoint/2010/main" val="271718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DA7C8-9FF1-9893-EEF1-24EB7831D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A84F7B13-9203-0050-9135-483D713F1F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6E773E8-2AA0-020B-C29D-809FA133A0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EB99EEFF-C2B3-FAE8-9E7C-037E53AB438A}"/>
              </a:ext>
            </a:extLst>
          </p:cNvPr>
          <p:cNvSpPr txBox="1"/>
          <p:nvPr/>
        </p:nvSpPr>
        <p:spPr>
          <a:xfrm>
            <a:off x="3200400" y="495300"/>
            <a:ext cx="11887200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Scalabilità di Gap rispetto alle istanze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781D6356-536A-B6C7-EF73-6F74D7D42AAF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38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6" name="Immagine 5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FA15C657-7C91-9C4A-91B2-D2C5772C8B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621" y="1797927"/>
            <a:ext cx="11692579" cy="7841373"/>
          </a:xfrm>
          <a:prstGeom prst="rect">
            <a:avLst/>
          </a:prstGeom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2E8122DD-132E-AD08-1DFF-25359930ED70}"/>
              </a:ext>
            </a:extLst>
          </p:cNvPr>
          <p:cNvSpPr/>
          <p:nvPr/>
        </p:nvSpPr>
        <p:spPr>
          <a:xfrm>
            <a:off x="3962400" y="8191500"/>
            <a:ext cx="9525000" cy="1066800"/>
          </a:xfrm>
          <a:prstGeom prst="ellipse">
            <a:avLst/>
          </a:prstGeom>
          <a:noFill/>
          <a:ln>
            <a:solidFill>
              <a:srgbClr val="0F3FD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FDB6BF1-D58D-3DF4-CB06-ABC73C7C33B4}"/>
              </a:ext>
            </a:extLst>
          </p:cNvPr>
          <p:cNvSpPr txBox="1"/>
          <p:nvPr/>
        </p:nvSpPr>
        <p:spPr>
          <a:xfrm>
            <a:off x="239114" y="7042617"/>
            <a:ext cx="29612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0F3FD4"/>
                </a:solidFill>
              </a:rPr>
              <a:t>Il </a:t>
            </a:r>
            <a:r>
              <a:rPr lang="it-IT" b="1" dirty="0">
                <a:solidFill>
                  <a:srgbClr val="0F3FD4"/>
                </a:solidFill>
              </a:rPr>
              <a:t>rilassamento forte </a:t>
            </a:r>
            <a:r>
              <a:rPr lang="it-IT" dirty="0">
                <a:solidFill>
                  <a:srgbClr val="0F3FD4"/>
                </a:solidFill>
              </a:rPr>
              <a:t>e </a:t>
            </a:r>
            <a:r>
              <a:rPr lang="it-IT" b="1" dirty="0">
                <a:solidFill>
                  <a:srgbClr val="00B050"/>
                </a:solidFill>
              </a:rPr>
              <a:t>l'ascesa duale di Erlenkotter </a:t>
            </a:r>
            <a:r>
              <a:rPr lang="it-IT" dirty="0">
                <a:solidFill>
                  <a:srgbClr val="0F3FD4"/>
                </a:solidFill>
              </a:rPr>
              <a:t>sono estremamente robusti. La qualità del loro lower bound non si degrada con l'aumentare della dimensione del problema, rimanendo quasi sempre entro il 2% dall'ottimo.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50B979B8-870E-A930-B679-E5F72D52132F}"/>
              </a:ext>
            </a:extLst>
          </p:cNvPr>
          <p:cNvCxnSpPr>
            <a:stCxn id="3" idx="2"/>
            <a:endCxn id="8" idx="3"/>
          </p:cNvCxnSpPr>
          <p:nvPr/>
        </p:nvCxnSpPr>
        <p:spPr>
          <a:xfrm flipH="1" flipV="1">
            <a:off x="3200399" y="8335279"/>
            <a:ext cx="762001" cy="389621"/>
          </a:xfrm>
          <a:prstGeom prst="straightConnector1">
            <a:avLst/>
          </a:prstGeom>
          <a:ln>
            <a:solidFill>
              <a:srgbClr val="0F3FD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Figura a mano libera: forma 14">
            <a:extLst>
              <a:ext uri="{FF2B5EF4-FFF2-40B4-BE49-F238E27FC236}">
                <a16:creationId xmlns:a16="http://schemas.microsoft.com/office/drawing/2014/main" id="{CA8B9EE6-F640-F6C5-078C-20245C2BD6ED}"/>
              </a:ext>
            </a:extLst>
          </p:cNvPr>
          <p:cNvSpPr/>
          <p:nvPr/>
        </p:nvSpPr>
        <p:spPr>
          <a:xfrm>
            <a:off x="3944203" y="2101755"/>
            <a:ext cx="9703558" cy="6168788"/>
          </a:xfrm>
          <a:custGeom>
            <a:avLst/>
            <a:gdLst>
              <a:gd name="connsiteX0" fmla="*/ 600501 w 9703558"/>
              <a:gd name="connsiteY0" fmla="*/ 1337481 h 6168788"/>
              <a:gd name="connsiteX1" fmla="*/ 600501 w 9703558"/>
              <a:gd name="connsiteY1" fmla="*/ 1337481 h 6168788"/>
              <a:gd name="connsiteX2" fmla="*/ 368490 w 9703558"/>
              <a:gd name="connsiteY2" fmla="*/ 1446663 h 6168788"/>
              <a:gd name="connsiteX3" fmla="*/ 313898 w 9703558"/>
              <a:gd name="connsiteY3" fmla="*/ 1583141 h 6168788"/>
              <a:gd name="connsiteX4" fmla="*/ 300251 w 9703558"/>
              <a:gd name="connsiteY4" fmla="*/ 1651379 h 6168788"/>
              <a:gd name="connsiteX5" fmla="*/ 286603 w 9703558"/>
              <a:gd name="connsiteY5" fmla="*/ 1746914 h 6168788"/>
              <a:gd name="connsiteX6" fmla="*/ 259307 w 9703558"/>
              <a:gd name="connsiteY6" fmla="*/ 1801505 h 6168788"/>
              <a:gd name="connsiteX7" fmla="*/ 204716 w 9703558"/>
              <a:gd name="connsiteY7" fmla="*/ 2006221 h 6168788"/>
              <a:gd name="connsiteX8" fmla="*/ 177421 w 9703558"/>
              <a:gd name="connsiteY8" fmla="*/ 2224585 h 6168788"/>
              <a:gd name="connsiteX9" fmla="*/ 163773 w 9703558"/>
              <a:gd name="connsiteY9" fmla="*/ 2538484 h 6168788"/>
              <a:gd name="connsiteX10" fmla="*/ 40943 w 9703558"/>
              <a:gd name="connsiteY10" fmla="*/ 3029803 h 6168788"/>
              <a:gd name="connsiteX11" fmla="*/ 0 w 9703558"/>
              <a:gd name="connsiteY11" fmla="*/ 3193576 h 6168788"/>
              <a:gd name="connsiteX12" fmla="*/ 27296 w 9703558"/>
              <a:gd name="connsiteY12" fmla="*/ 4449170 h 6168788"/>
              <a:gd name="connsiteX13" fmla="*/ 81887 w 9703558"/>
              <a:gd name="connsiteY13" fmla="*/ 4899546 h 6168788"/>
              <a:gd name="connsiteX14" fmla="*/ 150125 w 9703558"/>
              <a:gd name="connsiteY14" fmla="*/ 5063320 h 6168788"/>
              <a:gd name="connsiteX15" fmla="*/ 191069 w 9703558"/>
              <a:gd name="connsiteY15" fmla="*/ 5581935 h 6168788"/>
              <a:gd name="connsiteX16" fmla="*/ 300251 w 9703558"/>
              <a:gd name="connsiteY16" fmla="*/ 5841242 h 6168788"/>
              <a:gd name="connsiteX17" fmla="*/ 423081 w 9703558"/>
              <a:gd name="connsiteY17" fmla="*/ 6018663 h 6168788"/>
              <a:gd name="connsiteX18" fmla="*/ 614149 w 9703558"/>
              <a:gd name="connsiteY18" fmla="*/ 6168788 h 6168788"/>
              <a:gd name="connsiteX19" fmla="*/ 1255594 w 9703558"/>
              <a:gd name="connsiteY19" fmla="*/ 6073254 h 6168788"/>
              <a:gd name="connsiteX20" fmla="*/ 1487606 w 9703558"/>
              <a:gd name="connsiteY20" fmla="*/ 5936776 h 6168788"/>
              <a:gd name="connsiteX21" fmla="*/ 1801504 w 9703558"/>
              <a:gd name="connsiteY21" fmla="*/ 5636526 h 6168788"/>
              <a:gd name="connsiteX22" fmla="*/ 1992573 w 9703558"/>
              <a:gd name="connsiteY22" fmla="*/ 5363570 h 6168788"/>
              <a:gd name="connsiteX23" fmla="*/ 2197290 w 9703558"/>
              <a:gd name="connsiteY23" fmla="*/ 4817660 h 6168788"/>
              <a:gd name="connsiteX24" fmla="*/ 2224585 w 9703558"/>
              <a:gd name="connsiteY24" fmla="*/ 4572000 h 6168788"/>
              <a:gd name="connsiteX25" fmla="*/ 2265528 w 9703558"/>
              <a:gd name="connsiteY25" fmla="*/ 4285397 h 6168788"/>
              <a:gd name="connsiteX26" fmla="*/ 2320119 w 9703558"/>
              <a:gd name="connsiteY26" fmla="*/ 3630305 h 6168788"/>
              <a:gd name="connsiteX27" fmla="*/ 2456597 w 9703558"/>
              <a:gd name="connsiteY27" fmla="*/ 3193576 h 6168788"/>
              <a:gd name="connsiteX28" fmla="*/ 2579427 w 9703558"/>
              <a:gd name="connsiteY28" fmla="*/ 2893326 h 6168788"/>
              <a:gd name="connsiteX29" fmla="*/ 2743200 w 9703558"/>
              <a:gd name="connsiteY29" fmla="*/ 2647666 h 6168788"/>
              <a:gd name="connsiteX30" fmla="*/ 3289110 w 9703558"/>
              <a:gd name="connsiteY30" fmla="*/ 2183642 h 6168788"/>
              <a:gd name="connsiteX31" fmla="*/ 3985146 w 9703558"/>
              <a:gd name="connsiteY31" fmla="*/ 1978926 h 6168788"/>
              <a:gd name="connsiteX32" fmla="*/ 5336275 w 9703558"/>
              <a:gd name="connsiteY32" fmla="*/ 2088108 h 6168788"/>
              <a:gd name="connsiteX33" fmla="*/ 7683690 w 9703558"/>
              <a:gd name="connsiteY33" fmla="*/ 2074460 h 6168788"/>
              <a:gd name="connsiteX34" fmla="*/ 8052179 w 9703558"/>
              <a:gd name="connsiteY34" fmla="*/ 2033517 h 6168788"/>
              <a:gd name="connsiteX35" fmla="*/ 8311487 w 9703558"/>
              <a:gd name="connsiteY35" fmla="*/ 2019869 h 6168788"/>
              <a:gd name="connsiteX36" fmla="*/ 8761863 w 9703558"/>
              <a:gd name="connsiteY36" fmla="*/ 1869744 h 6168788"/>
              <a:gd name="connsiteX37" fmla="*/ 9294125 w 9703558"/>
              <a:gd name="connsiteY37" fmla="*/ 1610436 h 6168788"/>
              <a:gd name="connsiteX38" fmla="*/ 9580728 w 9703558"/>
              <a:gd name="connsiteY38" fmla="*/ 1405720 h 6168788"/>
              <a:gd name="connsiteX39" fmla="*/ 9635319 w 9703558"/>
              <a:gd name="connsiteY39" fmla="*/ 1269242 h 6168788"/>
              <a:gd name="connsiteX40" fmla="*/ 9703558 w 9703558"/>
              <a:gd name="connsiteY40" fmla="*/ 723332 h 6168788"/>
              <a:gd name="connsiteX41" fmla="*/ 9676263 w 9703558"/>
              <a:gd name="connsiteY41" fmla="*/ 464024 h 6168788"/>
              <a:gd name="connsiteX42" fmla="*/ 9648967 w 9703558"/>
              <a:gd name="connsiteY42" fmla="*/ 409433 h 6168788"/>
              <a:gd name="connsiteX43" fmla="*/ 9075761 w 9703558"/>
              <a:gd name="connsiteY43" fmla="*/ 191069 h 6168788"/>
              <a:gd name="connsiteX44" fmla="*/ 8693624 w 9703558"/>
              <a:gd name="connsiteY44" fmla="*/ 109182 h 6168788"/>
              <a:gd name="connsiteX45" fmla="*/ 8256896 w 9703558"/>
              <a:gd name="connsiteY45" fmla="*/ 13648 h 6168788"/>
              <a:gd name="connsiteX46" fmla="*/ 8065827 w 9703558"/>
              <a:gd name="connsiteY46" fmla="*/ 0 h 6168788"/>
              <a:gd name="connsiteX47" fmla="*/ 7710985 w 9703558"/>
              <a:gd name="connsiteY47" fmla="*/ 13648 h 6168788"/>
              <a:gd name="connsiteX48" fmla="*/ 6987654 w 9703558"/>
              <a:gd name="connsiteY48" fmla="*/ 191069 h 6168788"/>
              <a:gd name="connsiteX49" fmla="*/ 6728346 w 9703558"/>
              <a:gd name="connsiteY49" fmla="*/ 286603 h 6168788"/>
              <a:gd name="connsiteX50" fmla="*/ 5923128 w 9703558"/>
              <a:gd name="connsiteY50" fmla="*/ 477672 h 6168788"/>
              <a:gd name="connsiteX51" fmla="*/ 5322627 w 9703558"/>
              <a:gd name="connsiteY51" fmla="*/ 573206 h 6168788"/>
              <a:gd name="connsiteX52" fmla="*/ 3780430 w 9703558"/>
              <a:gd name="connsiteY52" fmla="*/ 764275 h 6168788"/>
              <a:gd name="connsiteX53" fmla="*/ 2101755 w 9703558"/>
              <a:gd name="connsiteY53" fmla="*/ 941696 h 6168788"/>
              <a:gd name="connsiteX54" fmla="*/ 928048 w 9703558"/>
              <a:gd name="connsiteY54" fmla="*/ 1023582 h 6168788"/>
              <a:gd name="connsiteX55" fmla="*/ 736979 w 9703558"/>
              <a:gd name="connsiteY55" fmla="*/ 1078173 h 6168788"/>
              <a:gd name="connsiteX56" fmla="*/ 614149 w 9703558"/>
              <a:gd name="connsiteY56" fmla="*/ 1119117 h 6168788"/>
              <a:gd name="connsiteX57" fmla="*/ 573206 w 9703558"/>
              <a:gd name="connsiteY57" fmla="*/ 1296538 h 6168788"/>
              <a:gd name="connsiteX58" fmla="*/ 600501 w 9703558"/>
              <a:gd name="connsiteY58" fmla="*/ 1337481 h 616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9703558" h="6168788">
                <a:moveTo>
                  <a:pt x="600501" y="1337481"/>
                </a:moveTo>
                <a:lnTo>
                  <a:pt x="600501" y="1337481"/>
                </a:lnTo>
                <a:cubicBezTo>
                  <a:pt x="523164" y="1373875"/>
                  <a:pt x="440756" y="1401021"/>
                  <a:pt x="368490" y="1446663"/>
                </a:cubicBezTo>
                <a:cubicBezTo>
                  <a:pt x="351674" y="1457284"/>
                  <a:pt x="314610" y="1580531"/>
                  <a:pt x="313898" y="1583141"/>
                </a:cubicBezTo>
                <a:cubicBezTo>
                  <a:pt x="307795" y="1605520"/>
                  <a:pt x="304064" y="1628498"/>
                  <a:pt x="300251" y="1651379"/>
                </a:cubicBezTo>
                <a:cubicBezTo>
                  <a:pt x="294963" y="1683110"/>
                  <a:pt x="295067" y="1715879"/>
                  <a:pt x="286603" y="1746914"/>
                </a:cubicBezTo>
                <a:cubicBezTo>
                  <a:pt x="281250" y="1766542"/>
                  <a:pt x="266260" y="1782385"/>
                  <a:pt x="259307" y="1801505"/>
                </a:cubicBezTo>
                <a:cubicBezTo>
                  <a:pt x="244270" y="1842857"/>
                  <a:pt x="214487" y="1967139"/>
                  <a:pt x="204716" y="2006221"/>
                </a:cubicBezTo>
                <a:cubicBezTo>
                  <a:pt x="195618" y="2079009"/>
                  <a:pt x="180607" y="2151300"/>
                  <a:pt x="177421" y="2224585"/>
                </a:cubicBezTo>
                <a:cubicBezTo>
                  <a:pt x="172872" y="2329218"/>
                  <a:pt x="172978" y="2434157"/>
                  <a:pt x="163773" y="2538484"/>
                </a:cubicBezTo>
                <a:cubicBezTo>
                  <a:pt x="151118" y="2681905"/>
                  <a:pt x="67138" y="2925024"/>
                  <a:pt x="40943" y="3029803"/>
                </a:cubicBezTo>
                <a:lnTo>
                  <a:pt x="0" y="3193576"/>
                </a:lnTo>
                <a:cubicBezTo>
                  <a:pt x="9099" y="3612107"/>
                  <a:pt x="15340" y="4030711"/>
                  <a:pt x="27296" y="4449170"/>
                </a:cubicBezTo>
                <a:cubicBezTo>
                  <a:pt x="30548" y="4563006"/>
                  <a:pt x="59211" y="4808843"/>
                  <a:pt x="81887" y="4899546"/>
                </a:cubicBezTo>
                <a:cubicBezTo>
                  <a:pt x="96231" y="4956921"/>
                  <a:pt x="127379" y="5008729"/>
                  <a:pt x="150125" y="5063320"/>
                </a:cubicBezTo>
                <a:cubicBezTo>
                  <a:pt x="163773" y="5236192"/>
                  <a:pt x="169560" y="5409865"/>
                  <a:pt x="191069" y="5581935"/>
                </a:cubicBezTo>
                <a:cubicBezTo>
                  <a:pt x="202687" y="5674881"/>
                  <a:pt x="251137" y="5764063"/>
                  <a:pt x="300251" y="5841242"/>
                </a:cubicBezTo>
                <a:cubicBezTo>
                  <a:pt x="338869" y="5901927"/>
                  <a:pt x="384958" y="5957666"/>
                  <a:pt x="423081" y="6018663"/>
                </a:cubicBezTo>
                <a:cubicBezTo>
                  <a:pt x="514193" y="6164443"/>
                  <a:pt x="450604" y="6114273"/>
                  <a:pt x="614149" y="6168788"/>
                </a:cubicBezTo>
                <a:cubicBezTo>
                  <a:pt x="827964" y="6136943"/>
                  <a:pt x="1046666" y="6128751"/>
                  <a:pt x="1255594" y="6073254"/>
                </a:cubicBezTo>
                <a:cubicBezTo>
                  <a:pt x="1342312" y="6050219"/>
                  <a:pt x="1412950" y="5986547"/>
                  <a:pt x="1487606" y="5936776"/>
                </a:cubicBezTo>
                <a:cubicBezTo>
                  <a:pt x="1646703" y="5830712"/>
                  <a:pt x="1688357" y="5787389"/>
                  <a:pt x="1801504" y="5636526"/>
                </a:cubicBezTo>
                <a:cubicBezTo>
                  <a:pt x="1868141" y="5547677"/>
                  <a:pt x="1944242" y="5463564"/>
                  <a:pt x="1992573" y="5363570"/>
                </a:cubicBezTo>
                <a:cubicBezTo>
                  <a:pt x="2077146" y="5188593"/>
                  <a:pt x="2197290" y="4817660"/>
                  <a:pt x="2197290" y="4817660"/>
                </a:cubicBezTo>
                <a:cubicBezTo>
                  <a:pt x="2206388" y="4735773"/>
                  <a:pt x="2214108" y="4653722"/>
                  <a:pt x="2224585" y="4572000"/>
                </a:cubicBezTo>
                <a:cubicBezTo>
                  <a:pt x="2236857" y="4476279"/>
                  <a:pt x="2255788" y="4381408"/>
                  <a:pt x="2265528" y="4285397"/>
                </a:cubicBezTo>
                <a:cubicBezTo>
                  <a:pt x="2287644" y="4067395"/>
                  <a:pt x="2282347" y="3846146"/>
                  <a:pt x="2320119" y="3630305"/>
                </a:cubicBezTo>
                <a:cubicBezTo>
                  <a:pt x="2346410" y="3480069"/>
                  <a:pt x="2405975" y="3337449"/>
                  <a:pt x="2456597" y="3193576"/>
                </a:cubicBezTo>
                <a:cubicBezTo>
                  <a:pt x="2492488" y="3091572"/>
                  <a:pt x="2529162" y="2989068"/>
                  <a:pt x="2579427" y="2893326"/>
                </a:cubicBezTo>
                <a:cubicBezTo>
                  <a:pt x="2625174" y="2806189"/>
                  <a:pt x="2678030" y="2721412"/>
                  <a:pt x="2743200" y="2647666"/>
                </a:cubicBezTo>
                <a:cubicBezTo>
                  <a:pt x="2902637" y="2467251"/>
                  <a:pt x="3075362" y="2296803"/>
                  <a:pt x="3289110" y="2183642"/>
                </a:cubicBezTo>
                <a:cubicBezTo>
                  <a:pt x="3597547" y="2020352"/>
                  <a:pt x="3601618" y="2053157"/>
                  <a:pt x="3985146" y="1978926"/>
                </a:cubicBezTo>
                <a:cubicBezTo>
                  <a:pt x="4435522" y="2015320"/>
                  <a:pt x="4884581" y="2076441"/>
                  <a:pt x="5336275" y="2088108"/>
                </a:cubicBezTo>
                <a:cubicBezTo>
                  <a:pt x="6118499" y="2108313"/>
                  <a:pt x="6901363" y="2090185"/>
                  <a:pt x="7683690" y="2074460"/>
                </a:cubicBezTo>
                <a:cubicBezTo>
                  <a:pt x="7807251" y="2071976"/>
                  <a:pt x="7929058" y="2044223"/>
                  <a:pt x="8052179" y="2033517"/>
                </a:cubicBezTo>
                <a:cubicBezTo>
                  <a:pt x="8138409" y="2026019"/>
                  <a:pt x="8225051" y="2024418"/>
                  <a:pt x="8311487" y="2019869"/>
                </a:cubicBezTo>
                <a:cubicBezTo>
                  <a:pt x="8410856" y="1988816"/>
                  <a:pt x="8670098" y="1910711"/>
                  <a:pt x="8761863" y="1869744"/>
                </a:cubicBezTo>
                <a:cubicBezTo>
                  <a:pt x="8942076" y="1789292"/>
                  <a:pt x="9133530" y="1725147"/>
                  <a:pt x="9294125" y="1610436"/>
                </a:cubicBezTo>
                <a:lnTo>
                  <a:pt x="9580728" y="1405720"/>
                </a:lnTo>
                <a:cubicBezTo>
                  <a:pt x="9598925" y="1360227"/>
                  <a:pt x="9625152" y="1317173"/>
                  <a:pt x="9635319" y="1269242"/>
                </a:cubicBezTo>
                <a:cubicBezTo>
                  <a:pt x="9646553" y="1216284"/>
                  <a:pt x="9693293" y="810588"/>
                  <a:pt x="9703558" y="723332"/>
                </a:cubicBezTo>
                <a:cubicBezTo>
                  <a:pt x="9694460" y="636896"/>
                  <a:pt x="9691155" y="549652"/>
                  <a:pt x="9676263" y="464024"/>
                </a:cubicBezTo>
                <a:cubicBezTo>
                  <a:pt x="9672777" y="443980"/>
                  <a:pt x="9662483" y="424639"/>
                  <a:pt x="9648967" y="409433"/>
                </a:cubicBezTo>
                <a:cubicBezTo>
                  <a:pt x="9514803" y="258499"/>
                  <a:pt x="9218962" y="221755"/>
                  <a:pt x="9075761" y="191069"/>
                </a:cubicBezTo>
                <a:lnTo>
                  <a:pt x="8693624" y="109182"/>
                </a:lnTo>
                <a:cubicBezTo>
                  <a:pt x="8502920" y="65479"/>
                  <a:pt x="8432956" y="33963"/>
                  <a:pt x="8256896" y="13648"/>
                </a:cubicBezTo>
                <a:cubicBezTo>
                  <a:pt x="8193465" y="6329"/>
                  <a:pt x="8129517" y="4549"/>
                  <a:pt x="8065827" y="0"/>
                </a:cubicBezTo>
                <a:cubicBezTo>
                  <a:pt x="7947546" y="4549"/>
                  <a:pt x="7828334" y="-1851"/>
                  <a:pt x="7710985" y="13648"/>
                </a:cubicBezTo>
                <a:cubicBezTo>
                  <a:pt x="7583132" y="30534"/>
                  <a:pt x="7113328" y="151971"/>
                  <a:pt x="6987654" y="191069"/>
                </a:cubicBezTo>
                <a:cubicBezTo>
                  <a:pt x="6899697" y="218433"/>
                  <a:pt x="6817294" y="262655"/>
                  <a:pt x="6728346" y="286603"/>
                </a:cubicBezTo>
                <a:cubicBezTo>
                  <a:pt x="6461972" y="358319"/>
                  <a:pt x="6195561" y="434331"/>
                  <a:pt x="5923128" y="477672"/>
                </a:cubicBezTo>
                <a:cubicBezTo>
                  <a:pt x="5722961" y="509517"/>
                  <a:pt x="5523522" y="546335"/>
                  <a:pt x="5322627" y="573206"/>
                </a:cubicBezTo>
                <a:cubicBezTo>
                  <a:pt x="4809203" y="641881"/>
                  <a:pt x="4292403" y="685510"/>
                  <a:pt x="3780430" y="764275"/>
                </a:cubicBezTo>
                <a:cubicBezTo>
                  <a:pt x="2272428" y="996274"/>
                  <a:pt x="3509814" y="836420"/>
                  <a:pt x="2101755" y="941696"/>
                </a:cubicBezTo>
                <a:cubicBezTo>
                  <a:pt x="787759" y="1039940"/>
                  <a:pt x="2016016" y="994179"/>
                  <a:pt x="928048" y="1023582"/>
                </a:cubicBezTo>
                <a:lnTo>
                  <a:pt x="736979" y="1078173"/>
                </a:lnTo>
                <a:cubicBezTo>
                  <a:pt x="695691" y="1090739"/>
                  <a:pt x="614149" y="1119117"/>
                  <a:pt x="614149" y="1119117"/>
                </a:cubicBezTo>
                <a:cubicBezTo>
                  <a:pt x="564359" y="1218696"/>
                  <a:pt x="542927" y="1205702"/>
                  <a:pt x="573206" y="1296538"/>
                </a:cubicBezTo>
                <a:cubicBezTo>
                  <a:pt x="575240" y="1302641"/>
                  <a:pt x="595952" y="1330657"/>
                  <a:pt x="600501" y="1337481"/>
                </a:cubicBezTo>
                <a:close/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it-IT">
              <a:solidFill>
                <a:schemeClr val="accent6"/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288FA9F-578F-D62E-0DF5-2796CB680444}"/>
              </a:ext>
            </a:extLst>
          </p:cNvPr>
          <p:cNvSpPr txBox="1"/>
          <p:nvPr/>
        </p:nvSpPr>
        <p:spPr>
          <a:xfrm>
            <a:off x="304800" y="2499536"/>
            <a:ext cx="29612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accent6"/>
                </a:solidFill>
              </a:rPr>
              <a:t>Il </a:t>
            </a:r>
            <a:r>
              <a:rPr lang="it-IT" b="1" dirty="0">
                <a:solidFill>
                  <a:schemeClr val="accent6"/>
                </a:solidFill>
              </a:rPr>
              <a:t>rilassamento debole </a:t>
            </a:r>
            <a:r>
              <a:rPr lang="it-IT" dirty="0">
                <a:solidFill>
                  <a:schemeClr val="accent6"/>
                </a:solidFill>
              </a:rPr>
              <a:t>è inaffidabile e non scala. Il suo gap di dualità è sempre molto grande, rendendolo un pessimo strumento per problemi di dimensioni realistiche.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E969682B-6EF5-C7D2-67ED-E9672BF72FDE}"/>
              </a:ext>
            </a:extLst>
          </p:cNvPr>
          <p:cNvCxnSpPr>
            <a:stCxn id="15" idx="6"/>
            <a:endCxn id="16" idx="3"/>
          </p:cNvCxnSpPr>
          <p:nvPr/>
        </p:nvCxnSpPr>
        <p:spPr>
          <a:xfrm flipH="1" flipV="1">
            <a:off x="3266085" y="3515199"/>
            <a:ext cx="937425" cy="38806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Figura a mano libera: forma 18">
            <a:extLst>
              <a:ext uri="{FF2B5EF4-FFF2-40B4-BE49-F238E27FC236}">
                <a16:creationId xmlns:a16="http://schemas.microsoft.com/office/drawing/2014/main" id="{0203D9F6-C54B-F32B-0F7F-7460A8D2CC20}"/>
              </a:ext>
            </a:extLst>
          </p:cNvPr>
          <p:cNvSpPr/>
          <p:nvPr/>
        </p:nvSpPr>
        <p:spPr>
          <a:xfrm>
            <a:off x="4042277" y="6851176"/>
            <a:ext cx="9264290" cy="2402006"/>
          </a:xfrm>
          <a:custGeom>
            <a:avLst/>
            <a:gdLst>
              <a:gd name="connsiteX0" fmla="*/ 4774177 w 9264290"/>
              <a:gd name="connsiteY0" fmla="*/ 68239 h 2402006"/>
              <a:gd name="connsiteX1" fmla="*/ 4774177 w 9264290"/>
              <a:gd name="connsiteY1" fmla="*/ 68239 h 2402006"/>
              <a:gd name="connsiteX2" fmla="*/ 4610404 w 9264290"/>
              <a:gd name="connsiteY2" fmla="*/ 95534 h 2402006"/>
              <a:gd name="connsiteX3" fmla="*/ 4514869 w 9264290"/>
              <a:gd name="connsiteY3" fmla="*/ 150125 h 2402006"/>
              <a:gd name="connsiteX4" fmla="*/ 4364744 w 9264290"/>
              <a:gd name="connsiteY4" fmla="*/ 204717 h 2402006"/>
              <a:gd name="connsiteX5" fmla="*/ 4173675 w 9264290"/>
              <a:gd name="connsiteY5" fmla="*/ 300251 h 2402006"/>
              <a:gd name="connsiteX6" fmla="*/ 4091789 w 9264290"/>
              <a:gd name="connsiteY6" fmla="*/ 354842 h 2402006"/>
              <a:gd name="connsiteX7" fmla="*/ 3641413 w 9264290"/>
              <a:gd name="connsiteY7" fmla="*/ 559558 h 2402006"/>
              <a:gd name="connsiteX8" fmla="*/ 3327514 w 9264290"/>
              <a:gd name="connsiteY8" fmla="*/ 696036 h 2402006"/>
              <a:gd name="connsiteX9" fmla="*/ 2740660 w 9264290"/>
              <a:gd name="connsiteY9" fmla="*/ 873457 h 2402006"/>
              <a:gd name="connsiteX10" fmla="*/ 2167454 w 9264290"/>
              <a:gd name="connsiteY10" fmla="*/ 1009934 h 2402006"/>
              <a:gd name="connsiteX11" fmla="*/ 1730726 w 9264290"/>
              <a:gd name="connsiteY11" fmla="*/ 1119117 h 2402006"/>
              <a:gd name="connsiteX12" fmla="*/ 1334941 w 9264290"/>
              <a:gd name="connsiteY12" fmla="*/ 1255594 h 2402006"/>
              <a:gd name="connsiteX13" fmla="*/ 1007395 w 9264290"/>
              <a:gd name="connsiteY13" fmla="*/ 1392072 h 2402006"/>
              <a:gd name="connsiteX14" fmla="*/ 802678 w 9264290"/>
              <a:gd name="connsiteY14" fmla="*/ 1446663 h 2402006"/>
              <a:gd name="connsiteX15" fmla="*/ 652553 w 9264290"/>
              <a:gd name="connsiteY15" fmla="*/ 1501254 h 2402006"/>
              <a:gd name="connsiteX16" fmla="*/ 338654 w 9264290"/>
              <a:gd name="connsiteY16" fmla="*/ 1583140 h 2402006"/>
              <a:gd name="connsiteX17" fmla="*/ 229472 w 9264290"/>
              <a:gd name="connsiteY17" fmla="*/ 1637731 h 2402006"/>
              <a:gd name="connsiteX18" fmla="*/ 38404 w 9264290"/>
              <a:gd name="connsiteY18" fmla="*/ 1719618 h 2402006"/>
              <a:gd name="connsiteX19" fmla="*/ 52051 w 9264290"/>
              <a:gd name="connsiteY19" fmla="*/ 1937982 h 2402006"/>
              <a:gd name="connsiteX20" fmla="*/ 325007 w 9264290"/>
              <a:gd name="connsiteY20" fmla="*/ 2320120 h 2402006"/>
              <a:gd name="connsiteX21" fmla="*/ 461484 w 9264290"/>
              <a:gd name="connsiteY21" fmla="*/ 2402006 h 2402006"/>
              <a:gd name="connsiteX22" fmla="*/ 1594248 w 9264290"/>
              <a:gd name="connsiteY22" fmla="*/ 2347415 h 2402006"/>
              <a:gd name="connsiteX23" fmla="*/ 1703430 w 9264290"/>
              <a:gd name="connsiteY23" fmla="*/ 2251881 h 2402006"/>
              <a:gd name="connsiteX24" fmla="*/ 1935442 w 9264290"/>
              <a:gd name="connsiteY24" fmla="*/ 2115403 h 2402006"/>
              <a:gd name="connsiteX25" fmla="*/ 2535944 w 9264290"/>
              <a:gd name="connsiteY25" fmla="*/ 1992573 h 2402006"/>
              <a:gd name="connsiteX26" fmla="*/ 3068207 w 9264290"/>
              <a:gd name="connsiteY26" fmla="*/ 1924334 h 2402006"/>
              <a:gd name="connsiteX27" fmla="*/ 3709651 w 9264290"/>
              <a:gd name="connsiteY27" fmla="*/ 1965278 h 2402006"/>
              <a:gd name="connsiteX28" fmla="*/ 4187323 w 9264290"/>
              <a:gd name="connsiteY28" fmla="*/ 2047164 h 2402006"/>
              <a:gd name="connsiteX29" fmla="*/ 4460278 w 9264290"/>
              <a:gd name="connsiteY29" fmla="*/ 2074460 h 2402006"/>
              <a:gd name="connsiteX30" fmla="*/ 8964039 w 9264290"/>
              <a:gd name="connsiteY30" fmla="*/ 1937982 h 2402006"/>
              <a:gd name="connsiteX31" fmla="*/ 9073222 w 9264290"/>
              <a:gd name="connsiteY31" fmla="*/ 1856096 h 2402006"/>
              <a:gd name="connsiteX32" fmla="*/ 9182404 w 9264290"/>
              <a:gd name="connsiteY32" fmla="*/ 1542197 h 2402006"/>
              <a:gd name="connsiteX33" fmla="*/ 9264290 w 9264290"/>
              <a:gd name="connsiteY33" fmla="*/ 1105469 h 2402006"/>
              <a:gd name="connsiteX34" fmla="*/ 9155108 w 9264290"/>
              <a:gd name="connsiteY34" fmla="*/ 887105 h 2402006"/>
              <a:gd name="connsiteX35" fmla="*/ 8390833 w 9264290"/>
              <a:gd name="connsiteY35" fmla="*/ 764275 h 2402006"/>
              <a:gd name="connsiteX36" fmla="*/ 8117878 w 9264290"/>
              <a:gd name="connsiteY36" fmla="*/ 723331 h 2402006"/>
              <a:gd name="connsiteX37" fmla="*/ 7285365 w 9264290"/>
              <a:gd name="connsiteY37" fmla="*/ 668740 h 2402006"/>
              <a:gd name="connsiteX38" fmla="*/ 6875932 w 9264290"/>
              <a:gd name="connsiteY38" fmla="*/ 655093 h 2402006"/>
              <a:gd name="connsiteX39" fmla="*/ 6466499 w 9264290"/>
              <a:gd name="connsiteY39" fmla="*/ 573206 h 2402006"/>
              <a:gd name="connsiteX40" fmla="*/ 6234487 w 9264290"/>
              <a:gd name="connsiteY40" fmla="*/ 532263 h 2402006"/>
              <a:gd name="connsiteX41" fmla="*/ 6098010 w 9264290"/>
              <a:gd name="connsiteY41" fmla="*/ 464024 h 2402006"/>
              <a:gd name="connsiteX42" fmla="*/ 6070714 w 9264290"/>
              <a:gd name="connsiteY42" fmla="*/ 368490 h 2402006"/>
              <a:gd name="connsiteX43" fmla="*/ 5797759 w 9264290"/>
              <a:gd name="connsiteY43" fmla="*/ 95534 h 2402006"/>
              <a:gd name="connsiteX44" fmla="*/ 5088075 w 9264290"/>
              <a:gd name="connsiteY44" fmla="*/ 163773 h 2402006"/>
              <a:gd name="connsiteX45" fmla="*/ 4978893 w 9264290"/>
              <a:gd name="connsiteY45" fmla="*/ 177421 h 2402006"/>
              <a:gd name="connsiteX46" fmla="*/ 4705938 w 9264290"/>
              <a:gd name="connsiteY46" fmla="*/ 0 h 2402006"/>
              <a:gd name="connsiteX47" fmla="*/ 3463992 w 9264290"/>
              <a:gd name="connsiteY47" fmla="*/ 668740 h 2402006"/>
              <a:gd name="connsiteX48" fmla="*/ 3941663 w 9264290"/>
              <a:gd name="connsiteY48" fmla="*/ 818866 h 2402006"/>
              <a:gd name="connsiteX49" fmla="*/ 4160027 w 9264290"/>
              <a:gd name="connsiteY49" fmla="*/ 559558 h 2402006"/>
              <a:gd name="connsiteX50" fmla="*/ 4255562 w 9264290"/>
              <a:gd name="connsiteY50" fmla="*/ 573206 h 2402006"/>
              <a:gd name="connsiteX51" fmla="*/ 3996254 w 9264290"/>
              <a:gd name="connsiteY51" fmla="*/ 518615 h 2402006"/>
              <a:gd name="connsiteX52" fmla="*/ 3095502 w 9264290"/>
              <a:gd name="connsiteY52" fmla="*/ 655093 h 2402006"/>
              <a:gd name="connsiteX53" fmla="*/ 3054559 w 9264290"/>
              <a:gd name="connsiteY53" fmla="*/ 682388 h 2402006"/>
              <a:gd name="connsiteX54" fmla="*/ 2740660 w 9264290"/>
              <a:gd name="connsiteY54" fmla="*/ 1037230 h 2402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9264290" h="2402006">
                <a:moveTo>
                  <a:pt x="4774177" y="68239"/>
                </a:moveTo>
                <a:lnTo>
                  <a:pt x="4774177" y="68239"/>
                </a:lnTo>
                <a:cubicBezTo>
                  <a:pt x="4719586" y="77337"/>
                  <a:pt x="4663179" y="78868"/>
                  <a:pt x="4610404" y="95534"/>
                </a:cubicBezTo>
                <a:cubicBezTo>
                  <a:pt x="4575429" y="106579"/>
                  <a:pt x="4548385" y="135229"/>
                  <a:pt x="4514869" y="150125"/>
                </a:cubicBezTo>
                <a:cubicBezTo>
                  <a:pt x="4466211" y="171751"/>
                  <a:pt x="4413482" y="183272"/>
                  <a:pt x="4364744" y="204717"/>
                </a:cubicBezTo>
                <a:cubicBezTo>
                  <a:pt x="4299567" y="233395"/>
                  <a:pt x="4236068" y="265935"/>
                  <a:pt x="4173675" y="300251"/>
                </a:cubicBezTo>
                <a:cubicBezTo>
                  <a:pt x="4144931" y="316060"/>
                  <a:pt x="4121280" y="340474"/>
                  <a:pt x="4091789" y="354842"/>
                </a:cubicBezTo>
                <a:cubicBezTo>
                  <a:pt x="3943540" y="427066"/>
                  <a:pt x="3791995" y="492334"/>
                  <a:pt x="3641413" y="559558"/>
                </a:cubicBezTo>
                <a:cubicBezTo>
                  <a:pt x="3537229" y="606069"/>
                  <a:pt x="3436727" y="663018"/>
                  <a:pt x="3327514" y="696036"/>
                </a:cubicBezTo>
                <a:cubicBezTo>
                  <a:pt x="3131896" y="755176"/>
                  <a:pt x="2939465" y="826123"/>
                  <a:pt x="2740660" y="873457"/>
                </a:cubicBezTo>
                <a:cubicBezTo>
                  <a:pt x="2549591" y="918949"/>
                  <a:pt x="2360049" y="971414"/>
                  <a:pt x="2167454" y="1009934"/>
                </a:cubicBezTo>
                <a:cubicBezTo>
                  <a:pt x="1949086" y="1053609"/>
                  <a:pt x="1953747" y="1046393"/>
                  <a:pt x="1730726" y="1119117"/>
                </a:cubicBezTo>
                <a:cubicBezTo>
                  <a:pt x="1598050" y="1162381"/>
                  <a:pt x="1463758" y="1201920"/>
                  <a:pt x="1334941" y="1255594"/>
                </a:cubicBezTo>
                <a:cubicBezTo>
                  <a:pt x="1225759" y="1301087"/>
                  <a:pt x="1121682" y="1361596"/>
                  <a:pt x="1007395" y="1392072"/>
                </a:cubicBezTo>
                <a:cubicBezTo>
                  <a:pt x="939156" y="1410269"/>
                  <a:pt x="870179" y="1425894"/>
                  <a:pt x="802678" y="1446663"/>
                </a:cubicBezTo>
                <a:cubicBezTo>
                  <a:pt x="751785" y="1462322"/>
                  <a:pt x="703068" y="1484416"/>
                  <a:pt x="652553" y="1501254"/>
                </a:cubicBezTo>
                <a:cubicBezTo>
                  <a:pt x="473436" y="1560960"/>
                  <a:pt x="503832" y="1550105"/>
                  <a:pt x="338654" y="1583140"/>
                </a:cubicBezTo>
                <a:cubicBezTo>
                  <a:pt x="302260" y="1601337"/>
                  <a:pt x="266655" y="1621205"/>
                  <a:pt x="229472" y="1637731"/>
                </a:cubicBezTo>
                <a:cubicBezTo>
                  <a:pt x="-50209" y="1762035"/>
                  <a:pt x="188438" y="1644602"/>
                  <a:pt x="38404" y="1719618"/>
                </a:cubicBezTo>
                <a:cubicBezTo>
                  <a:pt x="-17273" y="1803131"/>
                  <a:pt x="-12145" y="1773925"/>
                  <a:pt x="52051" y="1937982"/>
                </a:cubicBezTo>
                <a:cubicBezTo>
                  <a:pt x="89012" y="2032439"/>
                  <a:pt x="293579" y="2288692"/>
                  <a:pt x="325007" y="2320120"/>
                </a:cubicBezTo>
                <a:cubicBezTo>
                  <a:pt x="362521" y="2357634"/>
                  <a:pt x="415992" y="2374711"/>
                  <a:pt x="461484" y="2402006"/>
                </a:cubicBezTo>
                <a:cubicBezTo>
                  <a:pt x="839072" y="2383809"/>
                  <a:pt x="1218954" y="2392780"/>
                  <a:pt x="1594248" y="2347415"/>
                </a:cubicBezTo>
                <a:cubicBezTo>
                  <a:pt x="1642258" y="2341612"/>
                  <a:pt x="1663441" y="2279074"/>
                  <a:pt x="1703430" y="2251881"/>
                </a:cubicBezTo>
                <a:cubicBezTo>
                  <a:pt x="1777626" y="2201428"/>
                  <a:pt x="1849776" y="2142086"/>
                  <a:pt x="1935442" y="2115403"/>
                </a:cubicBezTo>
                <a:cubicBezTo>
                  <a:pt x="2130510" y="2054644"/>
                  <a:pt x="2333893" y="2022881"/>
                  <a:pt x="2535944" y="1992573"/>
                </a:cubicBezTo>
                <a:cubicBezTo>
                  <a:pt x="2894851" y="1938737"/>
                  <a:pt x="2717402" y="1961261"/>
                  <a:pt x="3068207" y="1924334"/>
                </a:cubicBezTo>
                <a:lnTo>
                  <a:pt x="3709651" y="1965278"/>
                </a:lnTo>
                <a:cubicBezTo>
                  <a:pt x="3796615" y="1972525"/>
                  <a:pt x="4152908" y="2042248"/>
                  <a:pt x="4187323" y="2047164"/>
                </a:cubicBezTo>
                <a:cubicBezTo>
                  <a:pt x="4277843" y="2060095"/>
                  <a:pt x="4369293" y="2065361"/>
                  <a:pt x="4460278" y="2074460"/>
                </a:cubicBezTo>
                <a:cubicBezTo>
                  <a:pt x="4746291" y="2071753"/>
                  <a:pt x="7708131" y="2715449"/>
                  <a:pt x="8964039" y="1937982"/>
                </a:cubicBezTo>
                <a:cubicBezTo>
                  <a:pt x="9002720" y="1914037"/>
                  <a:pt x="9036828" y="1883391"/>
                  <a:pt x="9073222" y="1856096"/>
                </a:cubicBezTo>
                <a:cubicBezTo>
                  <a:pt x="9109616" y="1751463"/>
                  <a:pt x="9158372" y="1650341"/>
                  <a:pt x="9182404" y="1542197"/>
                </a:cubicBezTo>
                <a:cubicBezTo>
                  <a:pt x="9250951" y="1233733"/>
                  <a:pt x="9225132" y="1379578"/>
                  <a:pt x="9264290" y="1105469"/>
                </a:cubicBezTo>
                <a:cubicBezTo>
                  <a:pt x="9254212" y="984538"/>
                  <a:pt x="9293775" y="915719"/>
                  <a:pt x="9155108" y="887105"/>
                </a:cubicBezTo>
                <a:cubicBezTo>
                  <a:pt x="8902405" y="834960"/>
                  <a:pt x="8645703" y="804518"/>
                  <a:pt x="8390833" y="764275"/>
                </a:cubicBezTo>
                <a:cubicBezTo>
                  <a:pt x="8299956" y="749926"/>
                  <a:pt x="8209684" y="729351"/>
                  <a:pt x="8117878" y="723331"/>
                </a:cubicBezTo>
                <a:lnTo>
                  <a:pt x="7285365" y="668740"/>
                </a:lnTo>
                <a:cubicBezTo>
                  <a:pt x="7149017" y="661248"/>
                  <a:pt x="7012410" y="659642"/>
                  <a:pt x="6875932" y="655093"/>
                </a:cubicBezTo>
                <a:lnTo>
                  <a:pt x="6466499" y="573206"/>
                </a:lnTo>
                <a:cubicBezTo>
                  <a:pt x="6389368" y="558436"/>
                  <a:pt x="6309784" y="554573"/>
                  <a:pt x="6234487" y="532263"/>
                </a:cubicBezTo>
                <a:cubicBezTo>
                  <a:pt x="6185721" y="517814"/>
                  <a:pt x="6143502" y="486770"/>
                  <a:pt x="6098010" y="464024"/>
                </a:cubicBezTo>
                <a:cubicBezTo>
                  <a:pt x="6088911" y="432179"/>
                  <a:pt x="6071896" y="401588"/>
                  <a:pt x="6070714" y="368490"/>
                </a:cubicBezTo>
                <a:cubicBezTo>
                  <a:pt x="6057120" y="-12134"/>
                  <a:pt x="6211688" y="75824"/>
                  <a:pt x="5797759" y="95534"/>
                </a:cubicBezTo>
                <a:cubicBezTo>
                  <a:pt x="5260762" y="185033"/>
                  <a:pt x="5677242" y="130106"/>
                  <a:pt x="5088075" y="163773"/>
                </a:cubicBezTo>
                <a:cubicBezTo>
                  <a:pt x="4837980" y="178064"/>
                  <a:pt x="5045931" y="177421"/>
                  <a:pt x="4978893" y="177421"/>
                </a:cubicBezTo>
                <a:lnTo>
                  <a:pt x="4705938" y="0"/>
                </a:lnTo>
                <a:lnTo>
                  <a:pt x="3463992" y="668740"/>
                </a:lnTo>
                <a:lnTo>
                  <a:pt x="3941663" y="818866"/>
                </a:lnTo>
                <a:lnTo>
                  <a:pt x="4160027" y="559558"/>
                </a:lnTo>
                <a:lnTo>
                  <a:pt x="4255562" y="573206"/>
                </a:lnTo>
                <a:cubicBezTo>
                  <a:pt x="4169126" y="555009"/>
                  <a:pt x="4084555" y="516321"/>
                  <a:pt x="3996254" y="518615"/>
                </a:cubicBezTo>
                <a:cubicBezTo>
                  <a:pt x="3485912" y="531871"/>
                  <a:pt x="3392597" y="493042"/>
                  <a:pt x="3095502" y="655093"/>
                </a:cubicBezTo>
                <a:cubicBezTo>
                  <a:pt x="3081102" y="662947"/>
                  <a:pt x="3068207" y="673290"/>
                  <a:pt x="3054559" y="682388"/>
                </a:cubicBezTo>
                <a:lnTo>
                  <a:pt x="2740660" y="1037230"/>
                </a:lnTo>
              </a:path>
            </a:pathLst>
          </a:custGeom>
          <a:noFill/>
        </p:spPr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Figura a mano libera: forma 19">
            <a:extLst>
              <a:ext uri="{FF2B5EF4-FFF2-40B4-BE49-F238E27FC236}">
                <a16:creationId xmlns:a16="http://schemas.microsoft.com/office/drawing/2014/main" id="{592BA6B7-4139-7F8A-5062-8C563C9D0D8A}"/>
              </a:ext>
            </a:extLst>
          </p:cNvPr>
          <p:cNvSpPr/>
          <p:nvPr/>
        </p:nvSpPr>
        <p:spPr>
          <a:xfrm>
            <a:off x="4191000" y="6667500"/>
            <a:ext cx="8980227" cy="2483892"/>
          </a:xfrm>
          <a:custGeom>
            <a:avLst/>
            <a:gdLst>
              <a:gd name="connsiteX0" fmla="*/ 5131558 w 8980227"/>
              <a:gd name="connsiteY0" fmla="*/ 68239 h 2483892"/>
              <a:gd name="connsiteX1" fmla="*/ 5131558 w 8980227"/>
              <a:gd name="connsiteY1" fmla="*/ 68239 h 2483892"/>
              <a:gd name="connsiteX2" fmla="*/ 4913194 w 8980227"/>
              <a:gd name="connsiteY2" fmla="*/ 95534 h 2483892"/>
              <a:gd name="connsiteX3" fmla="*/ 4558352 w 8980227"/>
              <a:gd name="connsiteY3" fmla="*/ 191068 h 2483892"/>
              <a:gd name="connsiteX4" fmla="*/ 4080681 w 8980227"/>
              <a:gd name="connsiteY4" fmla="*/ 341194 h 2483892"/>
              <a:gd name="connsiteX5" fmla="*/ 3452884 w 8980227"/>
              <a:gd name="connsiteY5" fmla="*/ 532262 h 2483892"/>
              <a:gd name="connsiteX6" fmla="*/ 2729552 w 8980227"/>
              <a:gd name="connsiteY6" fmla="*/ 818865 h 2483892"/>
              <a:gd name="connsiteX7" fmla="*/ 2456597 w 8980227"/>
              <a:gd name="connsiteY7" fmla="*/ 928048 h 2483892"/>
              <a:gd name="connsiteX8" fmla="*/ 1869743 w 8980227"/>
              <a:gd name="connsiteY8" fmla="*/ 1187355 h 2483892"/>
              <a:gd name="connsiteX9" fmla="*/ 1282890 w 8980227"/>
              <a:gd name="connsiteY9" fmla="*/ 1419367 h 2483892"/>
              <a:gd name="connsiteX10" fmla="*/ 859809 w 8980227"/>
              <a:gd name="connsiteY10" fmla="*/ 1528549 h 2483892"/>
              <a:gd name="connsiteX11" fmla="*/ 382137 w 8980227"/>
              <a:gd name="connsiteY11" fmla="*/ 1651379 h 2483892"/>
              <a:gd name="connsiteX12" fmla="*/ 245660 w 8980227"/>
              <a:gd name="connsiteY12" fmla="*/ 1705970 h 2483892"/>
              <a:gd name="connsiteX13" fmla="*/ 122830 w 8980227"/>
              <a:gd name="connsiteY13" fmla="*/ 1801504 h 2483892"/>
              <a:gd name="connsiteX14" fmla="*/ 27296 w 8980227"/>
              <a:gd name="connsiteY14" fmla="*/ 1869743 h 2483892"/>
              <a:gd name="connsiteX15" fmla="*/ 0 w 8980227"/>
              <a:gd name="connsiteY15" fmla="*/ 1910686 h 2483892"/>
              <a:gd name="connsiteX16" fmla="*/ 27296 w 8980227"/>
              <a:gd name="connsiteY16" fmla="*/ 2060812 h 2483892"/>
              <a:gd name="connsiteX17" fmla="*/ 54591 w 8980227"/>
              <a:gd name="connsiteY17" fmla="*/ 2101755 h 2483892"/>
              <a:gd name="connsiteX18" fmla="*/ 109182 w 8980227"/>
              <a:gd name="connsiteY18" fmla="*/ 2197289 h 2483892"/>
              <a:gd name="connsiteX19" fmla="*/ 150125 w 8980227"/>
              <a:gd name="connsiteY19" fmla="*/ 2238233 h 2483892"/>
              <a:gd name="connsiteX20" fmla="*/ 286603 w 8980227"/>
              <a:gd name="connsiteY20" fmla="*/ 2388358 h 2483892"/>
              <a:gd name="connsiteX21" fmla="*/ 354842 w 8980227"/>
              <a:gd name="connsiteY21" fmla="*/ 2415653 h 2483892"/>
              <a:gd name="connsiteX22" fmla="*/ 1596788 w 8980227"/>
              <a:gd name="connsiteY22" fmla="*/ 2374710 h 2483892"/>
              <a:gd name="connsiteX23" fmla="*/ 2265528 w 8980227"/>
              <a:gd name="connsiteY23" fmla="*/ 2292824 h 2483892"/>
              <a:gd name="connsiteX24" fmla="*/ 2715904 w 8980227"/>
              <a:gd name="connsiteY24" fmla="*/ 2224585 h 2483892"/>
              <a:gd name="connsiteX25" fmla="*/ 3343702 w 8980227"/>
              <a:gd name="connsiteY25" fmla="*/ 2238233 h 2483892"/>
              <a:gd name="connsiteX26" fmla="*/ 3671248 w 8980227"/>
              <a:gd name="connsiteY26" fmla="*/ 2306471 h 2483892"/>
              <a:gd name="connsiteX27" fmla="*/ 3971499 w 8980227"/>
              <a:gd name="connsiteY27" fmla="*/ 2347415 h 2483892"/>
              <a:gd name="connsiteX28" fmla="*/ 4107976 w 8980227"/>
              <a:gd name="connsiteY28" fmla="*/ 2374710 h 2483892"/>
              <a:gd name="connsiteX29" fmla="*/ 4462818 w 8980227"/>
              <a:gd name="connsiteY29" fmla="*/ 2415653 h 2483892"/>
              <a:gd name="connsiteX30" fmla="*/ 4640239 w 8980227"/>
              <a:gd name="connsiteY30" fmla="*/ 2456597 h 2483892"/>
              <a:gd name="connsiteX31" fmla="*/ 5036024 w 8980227"/>
              <a:gd name="connsiteY31" fmla="*/ 2483892 h 2483892"/>
              <a:gd name="connsiteX32" fmla="*/ 5691116 w 8980227"/>
              <a:gd name="connsiteY32" fmla="*/ 2442949 h 2483892"/>
              <a:gd name="connsiteX33" fmla="*/ 6455391 w 8980227"/>
              <a:gd name="connsiteY33" fmla="*/ 2374710 h 2483892"/>
              <a:gd name="connsiteX34" fmla="*/ 6701051 w 8980227"/>
              <a:gd name="connsiteY34" fmla="*/ 2347415 h 2483892"/>
              <a:gd name="connsiteX35" fmla="*/ 7710985 w 8980227"/>
              <a:gd name="connsiteY35" fmla="*/ 2320119 h 2483892"/>
              <a:gd name="connsiteX36" fmla="*/ 7929349 w 8980227"/>
              <a:gd name="connsiteY36" fmla="*/ 2265528 h 2483892"/>
              <a:gd name="connsiteX37" fmla="*/ 8093122 w 8980227"/>
              <a:gd name="connsiteY37" fmla="*/ 2238233 h 2483892"/>
              <a:gd name="connsiteX38" fmla="*/ 8134066 w 8980227"/>
              <a:gd name="connsiteY38" fmla="*/ 2210937 h 2483892"/>
              <a:gd name="connsiteX39" fmla="*/ 8352430 w 8980227"/>
              <a:gd name="connsiteY39" fmla="*/ 2129050 h 2483892"/>
              <a:gd name="connsiteX40" fmla="*/ 8516203 w 8980227"/>
              <a:gd name="connsiteY40" fmla="*/ 2006221 h 2483892"/>
              <a:gd name="connsiteX41" fmla="*/ 8584442 w 8980227"/>
              <a:gd name="connsiteY41" fmla="*/ 1937982 h 2483892"/>
              <a:gd name="connsiteX42" fmla="*/ 8720919 w 8980227"/>
              <a:gd name="connsiteY42" fmla="*/ 1733265 h 2483892"/>
              <a:gd name="connsiteX43" fmla="*/ 8843749 w 8980227"/>
              <a:gd name="connsiteY43" fmla="*/ 1583140 h 2483892"/>
              <a:gd name="connsiteX44" fmla="*/ 8925636 w 8980227"/>
              <a:gd name="connsiteY44" fmla="*/ 1473958 h 2483892"/>
              <a:gd name="connsiteX45" fmla="*/ 8939284 w 8980227"/>
              <a:gd name="connsiteY45" fmla="*/ 1433015 h 2483892"/>
              <a:gd name="connsiteX46" fmla="*/ 8966579 w 8980227"/>
              <a:gd name="connsiteY46" fmla="*/ 1378424 h 2483892"/>
              <a:gd name="connsiteX47" fmla="*/ 8980227 w 8980227"/>
              <a:gd name="connsiteY47" fmla="*/ 1323833 h 2483892"/>
              <a:gd name="connsiteX48" fmla="*/ 8966579 w 8980227"/>
              <a:gd name="connsiteY48" fmla="*/ 1132764 h 2483892"/>
              <a:gd name="connsiteX49" fmla="*/ 8816454 w 8980227"/>
              <a:gd name="connsiteY49" fmla="*/ 1037230 h 2483892"/>
              <a:gd name="connsiteX50" fmla="*/ 8679976 w 8980227"/>
              <a:gd name="connsiteY50" fmla="*/ 955343 h 2483892"/>
              <a:gd name="connsiteX51" fmla="*/ 8502555 w 8980227"/>
              <a:gd name="connsiteY51" fmla="*/ 873456 h 2483892"/>
              <a:gd name="connsiteX52" fmla="*/ 7902054 w 8980227"/>
              <a:gd name="connsiteY52" fmla="*/ 655092 h 2483892"/>
              <a:gd name="connsiteX53" fmla="*/ 7902054 w 8980227"/>
              <a:gd name="connsiteY53" fmla="*/ 655092 h 2483892"/>
              <a:gd name="connsiteX54" fmla="*/ 7451678 w 8980227"/>
              <a:gd name="connsiteY54" fmla="*/ 504967 h 2483892"/>
              <a:gd name="connsiteX55" fmla="*/ 7274257 w 8980227"/>
              <a:gd name="connsiteY55" fmla="*/ 436728 h 2483892"/>
              <a:gd name="connsiteX56" fmla="*/ 6987654 w 8980227"/>
              <a:gd name="connsiteY56" fmla="*/ 286603 h 2483892"/>
              <a:gd name="connsiteX57" fmla="*/ 6673755 w 8980227"/>
              <a:gd name="connsiteY57" fmla="*/ 191068 h 2483892"/>
              <a:gd name="connsiteX58" fmla="*/ 6537278 w 8980227"/>
              <a:gd name="connsiteY58" fmla="*/ 150125 h 2483892"/>
              <a:gd name="connsiteX59" fmla="*/ 5936776 w 8980227"/>
              <a:gd name="connsiteY59" fmla="*/ 122830 h 2483892"/>
              <a:gd name="connsiteX60" fmla="*/ 5827594 w 8980227"/>
              <a:gd name="connsiteY60" fmla="*/ 109182 h 2483892"/>
              <a:gd name="connsiteX61" fmla="*/ 5759355 w 8980227"/>
              <a:gd name="connsiteY61" fmla="*/ 81886 h 2483892"/>
              <a:gd name="connsiteX62" fmla="*/ 5718412 w 8980227"/>
              <a:gd name="connsiteY62" fmla="*/ 68239 h 2483892"/>
              <a:gd name="connsiteX63" fmla="*/ 5609230 w 8980227"/>
              <a:gd name="connsiteY63" fmla="*/ 40943 h 2483892"/>
              <a:gd name="connsiteX64" fmla="*/ 5527343 w 8980227"/>
              <a:gd name="connsiteY64" fmla="*/ 27295 h 2483892"/>
              <a:gd name="connsiteX65" fmla="*/ 5445457 w 8980227"/>
              <a:gd name="connsiteY65" fmla="*/ 0 h 2483892"/>
              <a:gd name="connsiteX66" fmla="*/ 5186149 w 8980227"/>
              <a:gd name="connsiteY66" fmla="*/ 40943 h 2483892"/>
              <a:gd name="connsiteX67" fmla="*/ 5131558 w 8980227"/>
              <a:gd name="connsiteY67" fmla="*/ 68239 h 2483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8980227" h="2483892">
                <a:moveTo>
                  <a:pt x="5131558" y="68239"/>
                </a:moveTo>
                <a:lnTo>
                  <a:pt x="5131558" y="68239"/>
                </a:lnTo>
                <a:cubicBezTo>
                  <a:pt x="4908256" y="18616"/>
                  <a:pt x="5101694" y="32701"/>
                  <a:pt x="4913194" y="95534"/>
                </a:cubicBezTo>
                <a:cubicBezTo>
                  <a:pt x="4796987" y="134269"/>
                  <a:pt x="4673861" y="150300"/>
                  <a:pt x="4558352" y="191068"/>
                </a:cubicBezTo>
                <a:cubicBezTo>
                  <a:pt x="4139490" y="338902"/>
                  <a:pt x="4515938" y="211977"/>
                  <a:pt x="4080681" y="341194"/>
                </a:cubicBezTo>
                <a:cubicBezTo>
                  <a:pt x="3870984" y="403448"/>
                  <a:pt x="3657047" y="453738"/>
                  <a:pt x="3452884" y="532262"/>
                </a:cubicBezTo>
                <a:cubicBezTo>
                  <a:pt x="2483266" y="905193"/>
                  <a:pt x="3231193" y="609849"/>
                  <a:pt x="2729552" y="818865"/>
                </a:cubicBezTo>
                <a:cubicBezTo>
                  <a:pt x="2729538" y="818871"/>
                  <a:pt x="2456610" y="928042"/>
                  <a:pt x="2456597" y="928048"/>
                </a:cubicBezTo>
                <a:cubicBezTo>
                  <a:pt x="1633741" y="1323019"/>
                  <a:pt x="2513270" y="911558"/>
                  <a:pt x="1869743" y="1187355"/>
                </a:cubicBezTo>
                <a:cubicBezTo>
                  <a:pt x="1607818" y="1299608"/>
                  <a:pt x="1726322" y="1324347"/>
                  <a:pt x="1282890" y="1419367"/>
                </a:cubicBezTo>
                <a:cubicBezTo>
                  <a:pt x="888293" y="1503923"/>
                  <a:pt x="1308647" y="1408859"/>
                  <a:pt x="859809" y="1528549"/>
                </a:cubicBezTo>
                <a:cubicBezTo>
                  <a:pt x="748190" y="1558314"/>
                  <a:pt x="527578" y="1606628"/>
                  <a:pt x="382137" y="1651379"/>
                </a:cubicBezTo>
                <a:cubicBezTo>
                  <a:pt x="344490" y="1662963"/>
                  <a:pt x="281055" y="1681466"/>
                  <a:pt x="245660" y="1705970"/>
                </a:cubicBezTo>
                <a:cubicBezTo>
                  <a:pt x="203013" y="1735495"/>
                  <a:pt x="165988" y="1772732"/>
                  <a:pt x="122830" y="1801504"/>
                </a:cubicBezTo>
                <a:cubicBezTo>
                  <a:pt x="99585" y="1817001"/>
                  <a:pt x="44221" y="1852818"/>
                  <a:pt x="27296" y="1869743"/>
                </a:cubicBezTo>
                <a:cubicBezTo>
                  <a:pt x="15698" y="1881341"/>
                  <a:pt x="9099" y="1897038"/>
                  <a:pt x="0" y="1910686"/>
                </a:cubicBezTo>
                <a:cubicBezTo>
                  <a:pt x="9099" y="1960728"/>
                  <a:pt x="13323" y="2011907"/>
                  <a:pt x="27296" y="2060812"/>
                </a:cubicBezTo>
                <a:cubicBezTo>
                  <a:pt x="31802" y="2076583"/>
                  <a:pt x="46453" y="2087514"/>
                  <a:pt x="54591" y="2101755"/>
                </a:cubicBezTo>
                <a:cubicBezTo>
                  <a:pt x="78860" y="2144225"/>
                  <a:pt x="78956" y="2161018"/>
                  <a:pt x="109182" y="2197289"/>
                </a:cubicBezTo>
                <a:cubicBezTo>
                  <a:pt x="121538" y="2212117"/>
                  <a:pt x="137302" y="2223807"/>
                  <a:pt x="150125" y="2238233"/>
                </a:cubicBezTo>
                <a:cubicBezTo>
                  <a:pt x="181839" y="2273911"/>
                  <a:pt x="244953" y="2359203"/>
                  <a:pt x="286603" y="2388358"/>
                </a:cubicBezTo>
                <a:cubicBezTo>
                  <a:pt x="306673" y="2402407"/>
                  <a:pt x="332096" y="2406555"/>
                  <a:pt x="354842" y="2415653"/>
                </a:cubicBezTo>
                <a:cubicBezTo>
                  <a:pt x="768824" y="2402005"/>
                  <a:pt x="1183434" y="2401283"/>
                  <a:pt x="1596788" y="2374710"/>
                </a:cubicBezTo>
                <a:cubicBezTo>
                  <a:pt x="1820904" y="2360303"/>
                  <a:pt x="2042783" y="2321463"/>
                  <a:pt x="2265528" y="2292824"/>
                </a:cubicBezTo>
                <a:cubicBezTo>
                  <a:pt x="2478866" y="2265395"/>
                  <a:pt x="2530377" y="2255506"/>
                  <a:pt x="2715904" y="2224585"/>
                </a:cubicBezTo>
                <a:cubicBezTo>
                  <a:pt x="2925170" y="2229134"/>
                  <a:pt x="3135151" y="2220357"/>
                  <a:pt x="3343702" y="2238233"/>
                </a:cubicBezTo>
                <a:cubicBezTo>
                  <a:pt x="3454821" y="2247757"/>
                  <a:pt x="3560583" y="2292638"/>
                  <a:pt x="3671248" y="2306471"/>
                </a:cubicBezTo>
                <a:cubicBezTo>
                  <a:pt x="3770201" y="2318840"/>
                  <a:pt x="3874046" y="2331173"/>
                  <a:pt x="3971499" y="2347415"/>
                </a:cubicBezTo>
                <a:cubicBezTo>
                  <a:pt x="4017261" y="2355042"/>
                  <a:pt x="4062049" y="2368149"/>
                  <a:pt x="4107976" y="2374710"/>
                </a:cubicBezTo>
                <a:cubicBezTo>
                  <a:pt x="4409399" y="2417770"/>
                  <a:pt x="4094940" y="2349960"/>
                  <a:pt x="4462818" y="2415653"/>
                </a:cubicBezTo>
                <a:cubicBezTo>
                  <a:pt x="4522568" y="2426323"/>
                  <a:pt x="4579970" y="2449422"/>
                  <a:pt x="4640239" y="2456597"/>
                </a:cubicBezTo>
                <a:cubicBezTo>
                  <a:pt x="4771553" y="2472230"/>
                  <a:pt x="4904096" y="2474794"/>
                  <a:pt x="5036024" y="2483892"/>
                </a:cubicBezTo>
                <a:cubicBezTo>
                  <a:pt x="5254388" y="2470244"/>
                  <a:pt x="5473138" y="2461787"/>
                  <a:pt x="5691116" y="2442949"/>
                </a:cubicBezTo>
                <a:cubicBezTo>
                  <a:pt x="6694623" y="2356227"/>
                  <a:pt x="5679343" y="2408452"/>
                  <a:pt x="6455391" y="2374710"/>
                </a:cubicBezTo>
                <a:cubicBezTo>
                  <a:pt x="6537278" y="2365612"/>
                  <a:pt x="6618712" y="2350321"/>
                  <a:pt x="6701051" y="2347415"/>
                </a:cubicBezTo>
                <a:cubicBezTo>
                  <a:pt x="7826852" y="2307681"/>
                  <a:pt x="7294767" y="2379580"/>
                  <a:pt x="7710985" y="2320119"/>
                </a:cubicBezTo>
                <a:cubicBezTo>
                  <a:pt x="7834078" y="2270883"/>
                  <a:pt x="7739281" y="2303542"/>
                  <a:pt x="7929349" y="2265528"/>
                </a:cubicBezTo>
                <a:cubicBezTo>
                  <a:pt x="8079630" y="2235471"/>
                  <a:pt x="7847795" y="2268897"/>
                  <a:pt x="8093122" y="2238233"/>
                </a:cubicBezTo>
                <a:cubicBezTo>
                  <a:pt x="8106770" y="2229134"/>
                  <a:pt x="8118925" y="2217246"/>
                  <a:pt x="8134066" y="2210937"/>
                </a:cubicBezTo>
                <a:cubicBezTo>
                  <a:pt x="8191056" y="2187191"/>
                  <a:pt x="8296468" y="2164394"/>
                  <a:pt x="8352430" y="2129050"/>
                </a:cubicBezTo>
                <a:cubicBezTo>
                  <a:pt x="8410125" y="2092611"/>
                  <a:pt x="8467951" y="2054473"/>
                  <a:pt x="8516203" y="2006221"/>
                </a:cubicBezTo>
                <a:cubicBezTo>
                  <a:pt x="8538949" y="1983475"/>
                  <a:pt x="8565141" y="1963717"/>
                  <a:pt x="8584442" y="1937982"/>
                </a:cubicBezTo>
                <a:cubicBezTo>
                  <a:pt x="8633650" y="1872372"/>
                  <a:pt x="8662927" y="1791256"/>
                  <a:pt x="8720919" y="1733265"/>
                </a:cubicBezTo>
                <a:cubicBezTo>
                  <a:pt x="8830113" y="1624072"/>
                  <a:pt x="8753205" y="1709902"/>
                  <a:pt x="8843749" y="1583140"/>
                </a:cubicBezTo>
                <a:cubicBezTo>
                  <a:pt x="8870191" y="1546121"/>
                  <a:pt x="8925636" y="1473958"/>
                  <a:pt x="8925636" y="1473958"/>
                </a:cubicBezTo>
                <a:cubicBezTo>
                  <a:pt x="8930185" y="1460310"/>
                  <a:pt x="8933617" y="1446238"/>
                  <a:pt x="8939284" y="1433015"/>
                </a:cubicBezTo>
                <a:cubicBezTo>
                  <a:pt x="8947298" y="1414315"/>
                  <a:pt x="8959436" y="1397473"/>
                  <a:pt x="8966579" y="1378424"/>
                </a:cubicBezTo>
                <a:cubicBezTo>
                  <a:pt x="8973165" y="1360861"/>
                  <a:pt x="8975678" y="1342030"/>
                  <a:pt x="8980227" y="1323833"/>
                </a:cubicBezTo>
                <a:cubicBezTo>
                  <a:pt x="8975678" y="1260143"/>
                  <a:pt x="8983669" y="1194286"/>
                  <a:pt x="8966579" y="1132764"/>
                </a:cubicBezTo>
                <a:cubicBezTo>
                  <a:pt x="8951551" y="1078662"/>
                  <a:pt x="8849397" y="1054671"/>
                  <a:pt x="8816454" y="1037230"/>
                </a:cubicBezTo>
                <a:cubicBezTo>
                  <a:pt x="8769566" y="1012407"/>
                  <a:pt x="8727012" y="979884"/>
                  <a:pt x="8679976" y="955343"/>
                </a:cubicBezTo>
                <a:cubicBezTo>
                  <a:pt x="8622228" y="925213"/>
                  <a:pt x="8559828" y="904479"/>
                  <a:pt x="8502555" y="873456"/>
                </a:cubicBezTo>
                <a:cubicBezTo>
                  <a:pt x="8122064" y="667357"/>
                  <a:pt x="8669597" y="864422"/>
                  <a:pt x="7902054" y="655092"/>
                </a:cubicBezTo>
                <a:lnTo>
                  <a:pt x="7902054" y="655092"/>
                </a:lnTo>
                <a:cubicBezTo>
                  <a:pt x="7603034" y="514377"/>
                  <a:pt x="7754051" y="561662"/>
                  <a:pt x="7451678" y="504967"/>
                </a:cubicBezTo>
                <a:cubicBezTo>
                  <a:pt x="7392538" y="482221"/>
                  <a:pt x="7331941" y="462948"/>
                  <a:pt x="7274257" y="436728"/>
                </a:cubicBezTo>
                <a:cubicBezTo>
                  <a:pt x="7139050" y="375270"/>
                  <a:pt x="7139922" y="341973"/>
                  <a:pt x="6987654" y="286603"/>
                </a:cubicBezTo>
                <a:cubicBezTo>
                  <a:pt x="6733684" y="194251"/>
                  <a:pt x="6943040" y="264510"/>
                  <a:pt x="6673755" y="191068"/>
                </a:cubicBezTo>
                <a:cubicBezTo>
                  <a:pt x="6627933" y="178571"/>
                  <a:pt x="6584571" y="154504"/>
                  <a:pt x="6537278" y="150125"/>
                </a:cubicBezTo>
                <a:cubicBezTo>
                  <a:pt x="6337757" y="131651"/>
                  <a:pt x="6136943" y="131928"/>
                  <a:pt x="5936776" y="122830"/>
                </a:cubicBezTo>
                <a:cubicBezTo>
                  <a:pt x="5900382" y="118281"/>
                  <a:pt x="5863332" y="117429"/>
                  <a:pt x="5827594" y="109182"/>
                </a:cubicBezTo>
                <a:cubicBezTo>
                  <a:pt x="5803723" y="103673"/>
                  <a:pt x="5782294" y="90488"/>
                  <a:pt x="5759355" y="81886"/>
                </a:cubicBezTo>
                <a:cubicBezTo>
                  <a:pt x="5745885" y="76835"/>
                  <a:pt x="5732291" y="72024"/>
                  <a:pt x="5718412" y="68239"/>
                </a:cubicBezTo>
                <a:cubicBezTo>
                  <a:pt x="5682220" y="58368"/>
                  <a:pt x="5645911" y="48803"/>
                  <a:pt x="5609230" y="40943"/>
                </a:cubicBezTo>
                <a:cubicBezTo>
                  <a:pt x="5582172" y="35145"/>
                  <a:pt x="5554189" y="34006"/>
                  <a:pt x="5527343" y="27295"/>
                </a:cubicBezTo>
                <a:cubicBezTo>
                  <a:pt x="5499430" y="20317"/>
                  <a:pt x="5472752" y="9098"/>
                  <a:pt x="5445457" y="0"/>
                </a:cubicBezTo>
                <a:cubicBezTo>
                  <a:pt x="5193403" y="28005"/>
                  <a:pt x="5258056" y="-30964"/>
                  <a:pt x="5186149" y="40943"/>
                </a:cubicBezTo>
                <a:lnTo>
                  <a:pt x="5131558" y="68239"/>
                </a:lnTo>
                <a:close/>
              </a:path>
            </a:pathLst>
          </a:cu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4CD8356-BEA3-1CE9-0262-B129E454065A}"/>
              </a:ext>
            </a:extLst>
          </p:cNvPr>
          <p:cNvSpPr txBox="1"/>
          <p:nvPr/>
        </p:nvSpPr>
        <p:spPr>
          <a:xfrm>
            <a:off x="14002603" y="5603333"/>
            <a:ext cx="37030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I punti rossi mostrano un chiaro trend crescente. Partono da gap molto bassi (&lt;2%) per le istanze piccole, ma il loro errore aumenta visibilmente con la dimensione del problema, raggiungendo gap del 15-20% e oltre. </a:t>
            </a:r>
          </a:p>
          <a:p>
            <a:pPr algn="ctr"/>
            <a:r>
              <a:rPr lang="it-IT" b="1" dirty="0">
                <a:solidFill>
                  <a:srgbClr val="FF0000"/>
                </a:solidFill>
              </a:rPr>
              <a:t>L’euristica Greedy </a:t>
            </a:r>
            <a:r>
              <a:rPr lang="it-IT" dirty="0">
                <a:solidFill>
                  <a:srgbClr val="FF0000"/>
                </a:solidFill>
              </a:rPr>
              <a:t>diventa sempre più sub-ottimale man mano che la complessità del problema aumenta.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A61BD979-25D7-7FF1-41F4-5A386C0F67B9}"/>
              </a:ext>
            </a:extLst>
          </p:cNvPr>
          <p:cNvCxnSpPr>
            <a:stCxn id="20" idx="51"/>
            <a:endCxn id="21" idx="1"/>
          </p:cNvCxnSpPr>
          <p:nvPr/>
        </p:nvCxnSpPr>
        <p:spPr>
          <a:xfrm flipV="1">
            <a:off x="12693555" y="6895995"/>
            <a:ext cx="1309048" cy="644961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84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15" grpId="0" animBg="1"/>
      <p:bldP spid="16" grpId="0"/>
      <p:bldP spid="20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654C6-2502-14F3-3B66-EF8993D5E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6B8B4610-83A6-9F99-3038-0026F1D72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735B0A0-51CB-0ECA-5E9E-DEE8AD1E5F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2F58233B-5519-44B7-7F6F-DE44FB968A7E}"/>
              </a:ext>
            </a:extLst>
          </p:cNvPr>
          <p:cNvSpPr txBox="1"/>
          <p:nvPr/>
        </p:nvSpPr>
        <p:spPr>
          <a:xfrm>
            <a:off x="1676400" y="3829685"/>
            <a:ext cx="14935199" cy="2317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8800" b="1" u="sng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Analisi su tempo di computazione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BD79CE3A-6FE0-6957-025B-C664E6818B3B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39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4083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D33B6-9EB8-028B-F636-E35004FC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C261EBDE-5947-534B-29DA-1AFC3B96AB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9F8057B-3B32-F7BA-4809-22BCA133D7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7C0A708D-C569-701C-3982-F647BC7A1C05}"/>
              </a:ext>
            </a:extLst>
          </p:cNvPr>
          <p:cNvSpPr txBox="1"/>
          <p:nvPr/>
        </p:nvSpPr>
        <p:spPr>
          <a:xfrm>
            <a:off x="3200400" y="266700"/>
            <a:ext cx="11887200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Comparazione sul tempo di computazione</a:t>
            </a:r>
          </a:p>
          <a:p>
            <a:pPr algn="ctr"/>
            <a:r>
              <a:rPr lang="it-IT" sz="40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S Qamus Bold"/>
                <a:sym typeface="Serithai Bold"/>
              </a:rPr>
              <a:t>(Istanze small)</a:t>
            </a:r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CCEC467C-0B45-4365-4AB0-B9BB4142AFD9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40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8" name="Immagine 7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DEAC1468-9C48-1E7B-3095-CB2083407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36" y="2376300"/>
            <a:ext cx="12028648" cy="7491600"/>
          </a:xfrm>
          <a:prstGeom prst="rect">
            <a:avLst/>
          </a:prstGeom>
        </p:spPr>
      </p:pic>
      <p:sp>
        <p:nvSpPr>
          <p:cNvPr id="9" name="Ovale 8">
            <a:extLst>
              <a:ext uri="{FF2B5EF4-FFF2-40B4-BE49-F238E27FC236}">
                <a16:creationId xmlns:a16="http://schemas.microsoft.com/office/drawing/2014/main" id="{DDF79BF6-57F9-537B-3188-7C3863B324E2}"/>
              </a:ext>
            </a:extLst>
          </p:cNvPr>
          <p:cNvSpPr/>
          <p:nvPr/>
        </p:nvSpPr>
        <p:spPr>
          <a:xfrm>
            <a:off x="153336" y="2483285"/>
            <a:ext cx="782957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11C5AD63-5DA5-65B6-DAF4-CA97FBF80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6423" y="4381500"/>
            <a:ext cx="6811326" cy="1524213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11E9E6FB-A24E-78D4-3A00-886289F7FE52}"/>
              </a:ext>
            </a:extLst>
          </p:cNvPr>
          <p:cNvSpPr/>
          <p:nvPr/>
        </p:nvSpPr>
        <p:spPr>
          <a:xfrm>
            <a:off x="11274648" y="5676900"/>
            <a:ext cx="6784752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94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A60E4-CC45-970A-83D4-2D789660C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B1084FA6-81BF-0481-AD66-8A5F2E952B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195848C-5B3F-ED70-FA1B-EBA60DA598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C14DBF8E-4F40-BD9E-0C43-ED91ECD9C22E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41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D04A698C-8D11-6993-0855-A73859A4DB2F}"/>
              </a:ext>
            </a:extLst>
          </p:cNvPr>
          <p:cNvSpPr/>
          <p:nvPr/>
        </p:nvSpPr>
        <p:spPr>
          <a:xfrm>
            <a:off x="2632117" y="2324100"/>
            <a:ext cx="796883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it-IT"/>
          </a:p>
        </p:txBody>
      </p:sp>
      <p:pic>
        <p:nvPicPr>
          <p:cNvPr id="10" name="Immagine 9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B957F1A4-B0BF-AEBE-8118-FCFECE11E0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00100"/>
            <a:ext cx="12028648" cy="7491600"/>
          </a:xfrm>
          <a:prstGeom prst="rect">
            <a:avLst/>
          </a:prstGeom>
        </p:spPr>
      </p:pic>
      <p:sp>
        <p:nvSpPr>
          <p:cNvPr id="11" name="Ovale 10">
            <a:extLst>
              <a:ext uri="{FF2B5EF4-FFF2-40B4-BE49-F238E27FC236}">
                <a16:creationId xmlns:a16="http://schemas.microsoft.com/office/drawing/2014/main" id="{9E7DFF7B-CBF4-87F2-4AF5-A49D24BB8A13}"/>
              </a:ext>
            </a:extLst>
          </p:cNvPr>
          <p:cNvSpPr/>
          <p:nvPr/>
        </p:nvSpPr>
        <p:spPr>
          <a:xfrm>
            <a:off x="329821" y="2715611"/>
            <a:ext cx="796883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A9179502-C82E-8C26-6204-CA9C7824D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6632" y="4533900"/>
            <a:ext cx="6935168" cy="15242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13D59F-2744-6D73-E7E6-DE3299DC8248}"/>
              </a:ext>
            </a:extLst>
          </p:cNvPr>
          <p:cNvSpPr txBox="1"/>
          <p:nvPr/>
        </p:nvSpPr>
        <p:spPr>
          <a:xfrm>
            <a:off x="3200400" y="266700"/>
            <a:ext cx="11887200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Comparazione sul tempo di computazione</a:t>
            </a:r>
          </a:p>
          <a:p>
            <a:pPr algn="ctr"/>
            <a:r>
              <a:rPr lang="it-IT" sz="40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S Qamus Bold"/>
                <a:sym typeface="Serithai Bold"/>
              </a:rPr>
              <a:t>(Istanze medio)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46929AA-DDC6-6F21-08E5-D8DAF086E415}"/>
              </a:ext>
            </a:extLst>
          </p:cNvPr>
          <p:cNvSpPr/>
          <p:nvPr/>
        </p:nvSpPr>
        <p:spPr>
          <a:xfrm>
            <a:off x="11427048" y="5829300"/>
            <a:ext cx="6784752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255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7A01A-3A76-53A7-2F7C-B17F1B3EE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81BD3C1E-713C-401E-087E-621D22DD32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6E75AE7-C558-916D-7103-D3FE31AD6B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589A5D9F-932F-3736-4121-2CD71FFE0F3F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42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6" name="Immagine 5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2DF794BC-03D3-8284-FA3C-FB3DDE8DDC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300163"/>
            <a:ext cx="12028547" cy="7491537"/>
          </a:xfrm>
          <a:prstGeom prst="rect">
            <a:avLst/>
          </a:prstGeom>
        </p:spPr>
      </p:pic>
      <p:sp>
        <p:nvSpPr>
          <p:cNvPr id="9" name="Ovale 8">
            <a:extLst>
              <a:ext uri="{FF2B5EF4-FFF2-40B4-BE49-F238E27FC236}">
                <a16:creationId xmlns:a16="http://schemas.microsoft.com/office/drawing/2014/main" id="{CFF1BB22-FA0E-007C-EFAC-7D37467F2EC5}"/>
              </a:ext>
            </a:extLst>
          </p:cNvPr>
          <p:cNvSpPr/>
          <p:nvPr/>
        </p:nvSpPr>
        <p:spPr>
          <a:xfrm>
            <a:off x="267547" y="2431427"/>
            <a:ext cx="782957" cy="685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9F029572-2227-60ED-B18E-71306DCD9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7490" y="4686300"/>
            <a:ext cx="6919068" cy="15629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9B3C1F-AA3E-C3E1-5F2E-685F488E993A}"/>
              </a:ext>
            </a:extLst>
          </p:cNvPr>
          <p:cNvSpPr txBox="1"/>
          <p:nvPr/>
        </p:nvSpPr>
        <p:spPr>
          <a:xfrm>
            <a:off x="3200400" y="266700"/>
            <a:ext cx="11887200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48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Comparazione sul tempo di computazione</a:t>
            </a:r>
          </a:p>
          <a:p>
            <a:pPr algn="ctr"/>
            <a:r>
              <a:rPr lang="it-IT" sz="40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S Qamus Bold"/>
                <a:sym typeface="Serithai Bold"/>
              </a:rPr>
              <a:t>(Istanze big)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C87609C-53E5-6452-58E8-CA3871AE9253}"/>
              </a:ext>
            </a:extLst>
          </p:cNvPr>
          <p:cNvSpPr/>
          <p:nvPr/>
        </p:nvSpPr>
        <p:spPr>
          <a:xfrm>
            <a:off x="11274648" y="5143500"/>
            <a:ext cx="6784752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7F65C0F-C6A7-8581-D065-6F663EEDB111}"/>
              </a:ext>
            </a:extLst>
          </p:cNvPr>
          <p:cNvSpPr txBox="1"/>
          <p:nvPr/>
        </p:nvSpPr>
        <p:spPr>
          <a:xfrm>
            <a:off x="12115800" y="6924002"/>
            <a:ext cx="4430653" cy="707886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rgbClr val="0F3FD4"/>
                </a:solidFill>
              </a:rPr>
              <a:t>Su istanze grandi, la formulazione weak diventa praticamente inutilizzabile.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E170BC22-DC3F-AA87-3331-5ABF12FC656B}"/>
              </a:ext>
            </a:extLst>
          </p:cNvPr>
          <p:cNvCxnSpPr>
            <a:cxnSpLocks/>
          </p:cNvCxnSpPr>
          <p:nvPr/>
        </p:nvCxnSpPr>
        <p:spPr>
          <a:xfrm flipH="1">
            <a:off x="1371600" y="3009900"/>
            <a:ext cx="650728" cy="571500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1986072C-24FB-749C-2A92-93D6609554F0}"/>
              </a:ext>
            </a:extLst>
          </p:cNvPr>
          <p:cNvCxnSpPr>
            <a:cxnSpLocks/>
          </p:cNvCxnSpPr>
          <p:nvPr/>
        </p:nvCxnSpPr>
        <p:spPr>
          <a:xfrm flipH="1">
            <a:off x="2875036" y="2766217"/>
            <a:ext cx="650728" cy="571500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7BFC9BD6-9529-8653-EFBA-55A3C378FC16}"/>
              </a:ext>
            </a:extLst>
          </p:cNvPr>
          <p:cNvCxnSpPr>
            <a:cxnSpLocks/>
          </p:cNvCxnSpPr>
          <p:nvPr/>
        </p:nvCxnSpPr>
        <p:spPr>
          <a:xfrm flipH="1">
            <a:off x="4387026" y="3001207"/>
            <a:ext cx="650728" cy="571500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26AB2120-1D32-38DA-15DD-4937B5CB3DC8}"/>
              </a:ext>
            </a:extLst>
          </p:cNvPr>
          <p:cNvCxnSpPr>
            <a:cxnSpLocks/>
          </p:cNvCxnSpPr>
          <p:nvPr/>
        </p:nvCxnSpPr>
        <p:spPr>
          <a:xfrm flipH="1">
            <a:off x="5791200" y="3673928"/>
            <a:ext cx="650728" cy="571500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A6D6C16B-7D4C-174B-2B61-B3F3D1570C2F}"/>
              </a:ext>
            </a:extLst>
          </p:cNvPr>
          <p:cNvCxnSpPr>
            <a:cxnSpLocks/>
          </p:cNvCxnSpPr>
          <p:nvPr/>
        </p:nvCxnSpPr>
        <p:spPr>
          <a:xfrm flipH="1">
            <a:off x="7288152" y="2831477"/>
            <a:ext cx="650728" cy="571500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08595762-D93B-663B-F076-14EDBEE4FCCF}"/>
              </a:ext>
            </a:extLst>
          </p:cNvPr>
          <p:cNvCxnSpPr>
            <a:cxnSpLocks/>
          </p:cNvCxnSpPr>
          <p:nvPr/>
        </p:nvCxnSpPr>
        <p:spPr>
          <a:xfrm flipH="1">
            <a:off x="8730322" y="2594009"/>
            <a:ext cx="650728" cy="571500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173A1681-F8D4-5BD3-A8C1-F415D62BB4B1}"/>
              </a:ext>
            </a:extLst>
          </p:cNvPr>
          <p:cNvCxnSpPr>
            <a:cxnSpLocks/>
          </p:cNvCxnSpPr>
          <p:nvPr/>
        </p:nvCxnSpPr>
        <p:spPr>
          <a:xfrm flipH="1">
            <a:off x="10189278" y="3274244"/>
            <a:ext cx="650728" cy="571500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30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E1416-ECD3-5B44-C430-554D05DDD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AC8F58D6-5904-54E5-4AFC-EB89E1672E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31A34BD-4358-72CF-D316-D235ADAA4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9">
            <a:extLst>
              <a:ext uri="{FF2B5EF4-FFF2-40B4-BE49-F238E27FC236}">
                <a16:creationId xmlns:a16="http://schemas.microsoft.com/office/drawing/2014/main" id="{A4AFFF70-3942-1F77-A8B4-99F6890A3C83}"/>
              </a:ext>
            </a:extLst>
          </p:cNvPr>
          <p:cNvSpPr txBox="1">
            <a:spLocks/>
          </p:cNvSpPr>
          <p:nvPr/>
        </p:nvSpPr>
        <p:spPr>
          <a:xfrm>
            <a:off x="15914149" y="97223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b="1" smtClean="0">
                <a:solidFill>
                  <a:schemeClr val="bg1"/>
                </a:solidFill>
              </a:rPr>
              <a:pPr/>
              <a:t>43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621A7BA4-5F70-FEBA-50C9-C545B02A1F08}"/>
              </a:ext>
            </a:extLst>
          </p:cNvPr>
          <p:cNvSpPr/>
          <p:nvPr/>
        </p:nvSpPr>
        <p:spPr>
          <a:xfrm>
            <a:off x="2412421" y="2854647"/>
            <a:ext cx="13463158" cy="2415535"/>
          </a:xfrm>
          <a:prstGeom prst="roundRect">
            <a:avLst/>
          </a:prstGeom>
          <a:noFill/>
          <a:ln w="28575">
            <a:solidFill>
              <a:srgbClr val="0F3FD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>
              <a:spcBef>
                <a:spcPts val="100"/>
              </a:spcBef>
            </a:pPr>
            <a:r>
              <a:rPr lang="it-IT" sz="2400" b="1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Modelli Esatti (PLI):</a:t>
            </a:r>
          </a:p>
          <a:p>
            <a:pPr marL="8001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La </a:t>
            </a:r>
            <a:r>
              <a:rPr lang="it-IT" sz="2400" b="1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formulazione forte </a:t>
            </a: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si è dimostrata nettamente superiore a quella debole. Non solo fornisce un </a:t>
            </a:r>
            <a:r>
              <a:rPr lang="it-IT" sz="2400" u="sng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limite inferiore teoricamente più stretto </a:t>
            </a: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(spesso perfetto), ma questo si traduce in </a:t>
            </a:r>
            <a:r>
              <a:rPr lang="it-IT" sz="2400" u="sng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tempi di esecuzione drasticamente inferiori</a:t>
            </a: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 e più stabili su istanze di medie e grandi dimensioni.</a:t>
            </a:r>
          </a:p>
          <a:p>
            <a:pPr marL="8001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La </a:t>
            </a:r>
            <a:r>
              <a:rPr lang="it-IT" sz="2400" b="1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formulazione debole</a:t>
            </a: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, a causa del suo </a:t>
            </a:r>
            <a:r>
              <a:rPr lang="it-IT" sz="2400" u="sng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pessimo rilassamento lineare</a:t>
            </a: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, è lenta, instabile e inefficace su problemi complessi.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E9433F39-B536-1609-2C89-95DE7164E50B}"/>
              </a:ext>
            </a:extLst>
          </p:cNvPr>
          <p:cNvSpPr/>
          <p:nvPr/>
        </p:nvSpPr>
        <p:spPr>
          <a:xfrm>
            <a:off x="2412421" y="5521775"/>
            <a:ext cx="13463158" cy="1796096"/>
          </a:xfrm>
          <a:prstGeom prst="roundRect">
            <a:avLst/>
          </a:prstGeom>
          <a:noFill/>
          <a:ln w="28575">
            <a:solidFill>
              <a:srgbClr val="0F3FD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>
              <a:spcBef>
                <a:spcPts val="100"/>
              </a:spcBef>
            </a:pPr>
            <a:r>
              <a:rPr lang="it-IT" sz="2400" b="1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L'Algoritmo di Erlenkotter è il Miglior Compromesso:</a:t>
            </a:r>
          </a:p>
          <a:p>
            <a:pPr marL="8001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L'implementazione dell'ascesa duale di Erlenkotter si è rivelata eccezionale. Calcola un lower bound di qualità quasi ottimale (gap &lt; 2%) con la velocità di un'euristica (pochi millisecondi). Offre il miglior equilibrio tra accuratezza e tempo di calcolo.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2BE2BF8F-6D82-C9F7-58C2-B4D6471670FC}"/>
              </a:ext>
            </a:extLst>
          </p:cNvPr>
          <p:cNvSpPr/>
          <p:nvPr/>
        </p:nvSpPr>
        <p:spPr>
          <a:xfrm>
            <a:off x="2412421" y="7551739"/>
            <a:ext cx="13463158" cy="1249361"/>
          </a:xfrm>
          <a:prstGeom prst="roundRect">
            <a:avLst/>
          </a:prstGeom>
          <a:noFill/>
          <a:ln w="28575">
            <a:solidFill>
              <a:srgbClr val="0F3FD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>
              <a:spcBef>
                <a:spcPts val="100"/>
              </a:spcBef>
            </a:pPr>
            <a:r>
              <a:rPr lang="it-IT" sz="2400" b="1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L'euristica greedy ha dei limiti:</a:t>
            </a:r>
          </a:p>
          <a:p>
            <a:pPr marL="8001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F3FD4"/>
                </a:solidFill>
                <a:cs typeface="เอฟซี ซับเจค คอนเดนซ์​"/>
                <a:sym typeface="เอฟซี ซับเจค คอนเดนซ์​"/>
              </a:rPr>
              <a:t>È l'algoritmo più veloce in assoluto, ma la sua qualità della soluzione (upper bound) si degrada all'aumentare della complessità del problema, con gap che diventano significativi.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1FBDF00A-36B7-F732-CD9A-8CA13BF33CB2}"/>
              </a:ext>
            </a:extLst>
          </p:cNvPr>
          <p:cNvSpPr txBox="1"/>
          <p:nvPr/>
        </p:nvSpPr>
        <p:spPr>
          <a:xfrm>
            <a:off x="2412421" y="960439"/>
            <a:ext cx="13463158" cy="1109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it-IT" sz="7200" b="1" dirty="0">
                <a:solidFill>
                  <a:srgbClr val="0F3F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S Qamus Bold"/>
                <a:sym typeface="Serithai Bold"/>
              </a:rPr>
              <a:t>CONCLUSIONI</a:t>
            </a:r>
          </a:p>
        </p:txBody>
      </p:sp>
    </p:spTree>
    <p:extLst>
      <p:ext uri="{BB962C8B-B14F-4D97-AF65-F5344CB8AC3E}">
        <p14:creationId xmlns:p14="http://schemas.microsoft.com/office/powerpoint/2010/main" val="234205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F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1264" y="0"/>
            <a:ext cx="17216736" cy="10287000"/>
          </a:xfrm>
          <a:custGeom>
            <a:avLst/>
            <a:gdLst/>
            <a:ahLst/>
            <a:cxnLst/>
            <a:rect l="l" t="t" r="r" b="b"/>
            <a:pathLst>
              <a:path w="17216736" h="10287000">
                <a:moveTo>
                  <a:pt x="0" y="0"/>
                </a:moveTo>
                <a:lnTo>
                  <a:pt x="17216736" y="0"/>
                </a:lnTo>
                <a:lnTo>
                  <a:pt x="172167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402822" y="2862352"/>
            <a:ext cx="12008377" cy="1671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6"/>
              </a:lnSpc>
            </a:pPr>
            <a:r>
              <a:rPr lang="en-US" sz="9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TS Qamus Bold"/>
                <a:cs typeface="TS Qamus Bold"/>
                <a:sym typeface="TS Qamus Bold"/>
              </a:rPr>
              <a:t>Grazie per </a:t>
            </a:r>
            <a:r>
              <a:rPr lang="en-US" sz="96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TS Qamus Bold"/>
                <a:cs typeface="TS Qamus Bold"/>
                <a:sym typeface="TS Qamus Bold"/>
              </a:rPr>
              <a:t>l’attenzione</a:t>
            </a:r>
            <a:endParaRPr lang="en-US" sz="9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TS Qamus Bold"/>
              <a:cs typeface="TS Qamus Bold"/>
              <a:sym typeface="TS Qamus Bold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9105F2D-7636-1F23-D466-0DCE004F02C0}"/>
              </a:ext>
            </a:extLst>
          </p:cNvPr>
          <p:cNvSpPr txBox="1"/>
          <p:nvPr/>
        </p:nvSpPr>
        <p:spPr>
          <a:xfrm>
            <a:off x="1402822" y="4991100"/>
            <a:ext cx="11474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chemeClr val="bg1"/>
                </a:solidFill>
              </a:rPr>
              <a:t>LINK GITHUB: </a:t>
            </a:r>
            <a:r>
              <a:rPr lang="it-IT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https://github.com/valejin/Progetto_AMOD</a:t>
            </a:r>
            <a:endParaRPr lang="it-IT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tretch>
            <a:fillRect/>
          </a:stretch>
        </a:blipFill>
      </a:spPr>
      <a:bodyPr/>
      <a:lstStyle>
        <a:defPPr algn="l"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4027</Words>
  <Application>Microsoft Office PowerPoint</Application>
  <PresentationFormat>Personalizzato</PresentationFormat>
  <Paragraphs>383</Paragraphs>
  <Slides>44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44</vt:i4>
      </vt:variant>
    </vt:vector>
  </HeadingPairs>
  <TitlesOfParts>
    <vt:vector size="52" baseType="lpstr">
      <vt:lpstr>Arial</vt:lpstr>
      <vt:lpstr>Aptos</vt:lpstr>
      <vt:lpstr>Cambria Math</vt:lpstr>
      <vt:lpstr>TS Qamus Bold</vt:lpstr>
      <vt:lpstr>เอฟซี ซับเจค คอนเดนซ์​ Bold</vt:lpstr>
      <vt:lpstr>เอฟซี ซับเจค คอนเดนซ์​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Simple Minimalist Group Project Presentation</dc:title>
  <cp:lastModifiedBy>Valentina Jin</cp:lastModifiedBy>
  <cp:revision>32</cp:revision>
  <dcterms:created xsi:type="dcterms:W3CDTF">2006-08-16T00:00:00Z</dcterms:created>
  <dcterms:modified xsi:type="dcterms:W3CDTF">2025-11-17T14:54:51Z</dcterms:modified>
  <dc:identifier>DAG2IDUw3js</dc:identifier>
</cp:coreProperties>
</file>